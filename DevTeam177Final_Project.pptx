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78" r:id="rId15"/>
    <p:sldId id="270" r:id="rId16"/>
    <p:sldId id="271" r:id="rId17"/>
    <p:sldId id="272" r:id="rId18"/>
    <p:sldId id="276" r:id="rId19"/>
    <p:sldId id="274" r:id="rId20"/>
    <p:sldId id="275" r:id="rId21"/>
  </p:sldIdLst>
  <p:sldSz cx="12192000" cy="6858000"/>
  <p:notesSz cx="6858000" cy="9144000"/>
  <p:embeddedFontLst>
    <p:embeddedFont>
      <p:font typeface="Inter" panose="020B0604020202020204" charset="0"/>
      <p:regular r:id="rId23"/>
      <p:bold r:id="rId24"/>
      <p:italic r:id="rId25"/>
      <p:boldItalic r:id="rId26"/>
    </p:embeddedFont>
    <p:embeddedFont>
      <p:font typeface="Inter SemiBold" panose="020B0604020202020204" charset="0"/>
      <p:regular r:id="rId27"/>
      <p:bold r:id="rId28"/>
      <p:italic r:id="rId29"/>
      <p:boldItalic r:id="rId30"/>
    </p:embeddedFont>
    <p:embeddedFont>
      <p:font typeface="Urbanist" panose="020B0604020202020204" charset="-94"/>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F497"/>
    <a:srgbClr val="0F19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B1A7E9-64D5-4333-A944-25FB866D2DCB}" v="18" dt="2025-12-29T20:22:35.484"/>
  </p1510:revLst>
</p1510:revInfo>
</file>

<file path=ppt/tableStyles.xml><?xml version="1.0" encoding="utf-8"?>
<a:tblStyleLst xmlns:a="http://schemas.openxmlformats.org/drawingml/2006/main" def="{D746D6EE-2022-4A0E-B6AC-B034E0F457E2}">
  <a:tblStyle styleId="{D746D6EE-2022-4A0E-B6AC-B034E0F457E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9" autoAdjust="0"/>
    <p:restoredTop sz="93532" autoAdjust="0"/>
  </p:normalViewPr>
  <p:slideViewPr>
    <p:cSldViewPr snapToGrid="0">
      <p:cViewPr varScale="1">
        <p:scale>
          <a:sx n="91" d="100"/>
          <a:sy n="91" d="100"/>
        </p:scale>
        <p:origin x="619"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ömer utku aktemur" userId="b6b4966b1df3bb95" providerId="LiveId" clId="{0BB2F460-52DC-4159-B4DB-CCA1C0EE4F14}"/>
    <pc:docChg chg="undo custSel modSld">
      <pc:chgData name="ömer utku aktemur" userId="b6b4966b1df3bb95" providerId="LiveId" clId="{0BB2F460-52DC-4159-B4DB-CCA1C0EE4F14}" dt="2025-12-29T20:37:47.169" v="923" actId="20577"/>
      <pc:docMkLst>
        <pc:docMk/>
      </pc:docMkLst>
      <pc:sldChg chg="modSp mod">
        <pc:chgData name="ömer utku aktemur" userId="b6b4966b1df3bb95" providerId="LiveId" clId="{0BB2F460-52DC-4159-B4DB-CCA1C0EE4F14}" dt="2025-12-29T20:16:05.803" v="146" actId="20577"/>
        <pc:sldMkLst>
          <pc:docMk/>
          <pc:sldMk cId="0" sldId="263"/>
        </pc:sldMkLst>
        <pc:spChg chg="mod">
          <ac:chgData name="ömer utku aktemur" userId="b6b4966b1df3bb95" providerId="LiveId" clId="{0BB2F460-52DC-4159-B4DB-CCA1C0EE4F14}" dt="2025-12-29T20:16:05.803" v="146" actId="20577"/>
          <ac:spMkLst>
            <pc:docMk/>
            <pc:sldMk cId="0" sldId="263"/>
            <ac:spMk id="225" creationId="{00000000-0000-0000-0000-000000000000}"/>
          </ac:spMkLst>
        </pc:spChg>
        <pc:graphicFrameChg chg="mod modGraphic">
          <ac:chgData name="ömer utku aktemur" userId="b6b4966b1df3bb95" providerId="LiveId" clId="{0BB2F460-52DC-4159-B4DB-CCA1C0EE4F14}" dt="2025-12-29T20:15:33.761" v="117" actId="20577"/>
          <ac:graphicFrameMkLst>
            <pc:docMk/>
            <pc:sldMk cId="0" sldId="263"/>
            <ac:graphicFrameMk id="224" creationId="{00000000-0000-0000-0000-000000000000}"/>
          </ac:graphicFrameMkLst>
        </pc:graphicFrameChg>
      </pc:sldChg>
      <pc:sldChg chg="modSp mod">
        <pc:chgData name="ömer utku aktemur" userId="b6b4966b1df3bb95" providerId="LiveId" clId="{0BB2F460-52DC-4159-B4DB-CCA1C0EE4F14}" dt="2025-12-29T20:29:31.598" v="550" actId="20577"/>
        <pc:sldMkLst>
          <pc:docMk/>
          <pc:sldMk cId="0" sldId="266"/>
        </pc:sldMkLst>
        <pc:spChg chg="mod">
          <ac:chgData name="ömer utku aktemur" userId="b6b4966b1df3bb95" providerId="LiveId" clId="{0BB2F460-52DC-4159-B4DB-CCA1C0EE4F14}" dt="2025-12-29T20:29:31.598" v="550" actId="20577"/>
          <ac:spMkLst>
            <pc:docMk/>
            <pc:sldMk cId="0" sldId="266"/>
            <ac:spMk id="568" creationId="{00000000-0000-0000-0000-000000000000}"/>
          </ac:spMkLst>
        </pc:spChg>
        <pc:graphicFrameChg chg="mod modGraphic">
          <ac:chgData name="ömer utku aktemur" userId="b6b4966b1df3bb95" providerId="LiveId" clId="{0BB2F460-52DC-4159-B4DB-CCA1C0EE4F14}" dt="2025-12-29T20:24:51.255" v="403" actId="20577"/>
          <ac:graphicFrameMkLst>
            <pc:docMk/>
            <pc:sldMk cId="0" sldId="266"/>
            <ac:graphicFrameMk id="466" creationId="{00000000-0000-0000-0000-000000000000}"/>
          </ac:graphicFrameMkLst>
        </pc:graphicFrameChg>
        <pc:graphicFrameChg chg="mod modGraphic">
          <ac:chgData name="ömer utku aktemur" userId="b6b4966b1df3bb95" providerId="LiveId" clId="{0BB2F460-52DC-4159-B4DB-CCA1C0EE4F14}" dt="2025-12-29T20:29:22.124" v="535" actId="20577"/>
          <ac:graphicFrameMkLst>
            <pc:docMk/>
            <pc:sldMk cId="0" sldId="266"/>
            <ac:graphicFrameMk id="467" creationId="{00000000-0000-0000-0000-000000000000}"/>
          </ac:graphicFrameMkLst>
        </pc:graphicFrameChg>
      </pc:sldChg>
      <pc:sldChg chg="modSp mod">
        <pc:chgData name="ömer utku aktemur" userId="b6b4966b1df3bb95" providerId="LiveId" clId="{0BB2F460-52DC-4159-B4DB-CCA1C0EE4F14}" dt="2025-12-29T20:37:47.169" v="923" actId="20577"/>
        <pc:sldMkLst>
          <pc:docMk/>
          <pc:sldMk cId="0" sldId="267"/>
        </pc:sldMkLst>
        <pc:spChg chg="mod">
          <ac:chgData name="ömer utku aktemur" userId="b6b4966b1df3bb95" providerId="LiveId" clId="{0BB2F460-52DC-4159-B4DB-CCA1C0EE4F14}" dt="2025-12-29T20:32:36.359" v="679" actId="1076"/>
          <ac:spMkLst>
            <pc:docMk/>
            <pc:sldMk cId="0" sldId="267"/>
            <ac:spMk id="668" creationId="{00000000-0000-0000-0000-000000000000}"/>
          </ac:spMkLst>
        </pc:spChg>
        <pc:spChg chg="mod">
          <ac:chgData name="ömer utku aktemur" userId="b6b4966b1df3bb95" providerId="LiveId" clId="{0BB2F460-52DC-4159-B4DB-CCA1C0EE4F14}" dt="2025-12-29T20:29:40.663" v="565" actId="20577"/>
          <ac:spMkLst>
            <pc:docMk/>
            <pc:sldMk cId="0" sldId="267"/>
            <ac:spMk id="671" creationId="{00000000-0000-0000-0000-000000000000}"/>
          </ac:spMkLst>
        </pc:spChg>
        <pc:graphicFrameChg chg="modGraphic">
          <ac:chgData name="ömer utku aktemur" userId="b6b4966b1df3bb95" providerId="LiveId" clId="{0BB2F460-52DC-4159-B4DB-CCA1C0EE4F14}" dt="2025-12-29T20:35:26.375" v="795" actId="20577"/>
          <ac:graphicFrameMkLst>
            <pc:docMk/>
            <pc:sldMk cId="0" sldId="267"/>
            <ac:graphicFrameMk id="574" creationId="{00000000-0000-0000-0000-000000000000}"/>
          </ac:graphicFrameMkLst>
        </pc:graphicFrameChg>
        <pc:graphicFrameChg chg="mod modGraphic">
          <ac:chgData name="ömer utku aktemur" userId="b6b4966b1df3bb95" providerId="LiveId" clId="{0BB2F460-52DC-4159-B4DB-CCA1C0EE4F14}" dt="2025-12-29T20:37:47.169" v="923" actId="20577"/>
          <ac:graphicFrameMkLst>
            <pc:docMk/>
            <pc:sldMk cId="0" sldId="267"/>
            <ac:graphicFrameMk id="575"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1" name="Google Shape;5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1" name="Google Shape;5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0271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1" name="Google Shape;5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5476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4" name="Google Shape;75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2" name="Google Shape;8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3" name="Google Shape;92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5" name="Google Shape;59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0" name="Google Shape;95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6" name="Google Shape;96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4066133"/>
            <a:ext cx="11049000" cy="1162050"/>
          </a:xfrm>
          <a:prstGeom prst="rect">
            <a:avLst/>
          </a:prstGeom>
          <a:noFill/>
          <a:ln>
            <a:noFill/>
          </a:ln>
        </p:spPr>
      </p:pic>
      <p:sp>
        <p:nvSpPr>
          <p:cNvPr id="86" name="Google Shape;86;p13"/>
          <p:cNvSpPr txBox="1"/>
          <p:nvPr/>
        </p:nvSpPr>
        <p:spPr>
          <a:xfrm>
            <a:off x="571500" y="1801266"/>
            <a:ext cx="110490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8BDF8"/>
                </a:solidFill>
                <a:latin typeface="Inter"/>
                <a:ea typeface="Inter"/>
                <a:cs typeface="Inter"/>
                <a:sym typeface="Inter"/>
              </a:rPr>
              <a:t>FET312 DERIN ÖĞRENME FINAL </a:t>
            </a:r>
            <a:r>
              <a:rPr lang="tr-TR" sz="1350" b="0" i="0" u="none" strike="noStrike" cap="none">
                <a:solidFill>
                  <a:srgbClr val="38BDF8"/>
                </a:solidFill>
                <a:latin typeface="Inter"/>
                <a:ea typeface="Inter"/>
                <a:cs typeface="Inter"/>
                <a:sym typeface="Inter"/>
              </a:rPr>
              <a:t>SUNUMU</a:t>
            </a:r>
            <a:endParaRPr/>
          </a:p>
        </p:txBody>
      </p:sp>
      <p:sp>
        <p:nvSpPr>
          <p:cNvPr id="87" name="Google Shape;87;p13"/>
          <p:cNvSpPr txBox="1"/>
          <p:nvPr/>
        </p:nvSpPr>
        <p:spPr>
          <a:xfrm>
            <a:off x="295275" y="2248941"/>
            <a:ext cx="11601450" cy="134094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F8FAFC"/>
                </a:solidFill>
                <a:latin typeface="Urbanist"/>
                <a:ea typeface="Urbanist"/>
                <a:cs typeface="Urbanist"/>
                <a:sym typeface="Urbanist"/>
              </a:rPr>
              <a:t>Derin Öğrenme ile Trafik İşareti</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F8FAFC"/>
                </a:solidFill>
                <a:latin typeface="Urbanist"/>
                <a:ea typeface="Urbanist"/>
                <a:cs typeface="Urbanist"/>
                <a:sym typeface="Urbanist"/>
              </a:rPr>
              <a:t> Tanıma Sistemi (GTSRB)</a:t>
            </a:r>
            <a:endParaRPr/>
          </a:p>
        </p:txBody>
      </p:sp>
      <p:sp>
        <p:nvSpPr>
          <p:cNvPr id="88" name="Google Shape;88;p13"/>
          <p:cNvSpPr txBox="1"/>
          <p:nvPr/>
        </p:nvSpPr>
        <p:spPr>
          <a:xfrm>
            <a:off x="809625" y="4304258"/>
            <a:ext cx="1057275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Hazırlayanlar:</a:t>
            </a:r>
            <a:r>
              <a:rPr lang="en-US" sz="1350" b="0" i="0" u="none" strike="noStrike" cap="none">
                <a:solidFill>
                  <a:srgbClr val="94A3B8"/>
                </a:solidFill>
                <a:latin typeface="Inter"/>
                <a:ea typeface="Inter"/>
                <a:cs typeface="Inter"/>
                <a:sym typeface="Inter"/>
              </a:rPr>
              <a:t> Ramazan Bozkurt (22040301027) &amp; Utku</a:t>
            </a:r>
            <a:r>
              <a:rPr lang="tr-TR" sz="1350" b="0" i="0" u="none" strike="noStrike" cap="none">
                <a:solidFill>
                  <a:srgbClr val="94A3B8"/>
                </a:solidFill>
                <a:latin typeface="Inter"/>
                <a:ea typeface="Inter"/>
                <a:cs typeface="Inter"/>
                <a:sym typeface="Inter"/>
              </a:rPr>
              <a:t> (22040301043)</a:t>
            </a:r>
            <a:endParaRPr/>
          </a:p>
        </p:txBody>
      </p:sp>
      <p:sp>
        <p:nvSpPr>
          <p:cNvPr id="89" name="Google Shape;89;p13"/>
          <p:cNvSpPr txBox="1"/>
          <p:nvPr/>
        </p:nvSpPr>
        <p:spPr>
          <a:xfrm>
            <a:off x="809625" y="4656683"/>
            <a:ext cx="10572750" cy="24237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050" b="0" i="0" u="none" strike="noStrike" cap="none">
                <a:solidFill>
                  <a:srgbClr val="94A3B8"/>
                </a:solidFill>
                <a:latin typeface="Inter"/>
                <a:ea typeface="Inter"/>
                <a:cs typeface="Inter"/>
                <a:sym typeface="Inter"/>
              </a:rPr>
              <a:t>https://github.com/RamazanBozkurrtt/DevTeam177_GTSRB-Traffic-Sign-Classification-CNN-Final</a:t>
            </a:r>
            <a:r>
              <a:rPr lang="tr-TR" sz="1050" b="0" i="0" u="none" strike="noStrike" cap="none">
                <a:solidFill>
                  <a:srgbClr val="94A3B8"/>
                </a:solidFill>
                <a:latin typeface="Inter"/>
                <a:ea typeface="Inter"/>
                <a:cs typeface="Inter"/>
                <a:sym typeface="Inter"/>
              </a:rPr>
              <a:t> </a:t>
            </a:r>
            <a:r>
              <a:rPr lang="en-US" sz="1050" b="0" i="0" u="none" strike="noStrike" cap="none">
                <a:solidFill>
                  <a:srgbClr val="94A3B8"/>
                </a:solidFill>
                <a:latin typeface="Inter"/>
                <a:ea typeface="Inter"/>
                <a:cs typeface="Inter"/>
                <a:sym typeface="Inter"/>
              </a:rPr>
              <a:t>| YouTube Showcase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6334125" y="2285702"/>
            <a:ext cx="5286375" cy="2981920"/>
          </a:xfrm>
          <a:prstGeom prst="rect">
            <a:avLst/>
          </a:prstGeom>
          <a:noFill/>
          <a:ln>
            <a:noFill/>
          </a:ln>
        </p:spPr>
      </p:pic>
      <p:pic>
        <p:nvPicPr>
          <p:cNvPr id="96" name="Google Shape;96;p14" descr="image.png"/>
          <p:cNvPicPr preferRelativeResize="0"/>
          <p:nvPr/>
        </p:nvPicPr>
        <p:blipFill rotWithShape="1">
          <a:blip r:embed="rId5">
            <a:alphaModFix/>
          </a:blip>
          <a:srcRect/>
          <a:stretch/>
        </p:blipFill>
        <p:spPr>
          <a:xfrm>
            <a:off x="571500" y="1333500"/>
            <a:ext cx="5286375" cy="2476500"/>
          </a:xfrm>
          <a:prstGeom prst="rect">
            <a:avLst/>
          </a:prstGeom>
          <a:noFill/>
          <a:ln>
            <a:noFill/>
          </a:ln>
        </p:spPr>
      </p:pic>
      <p:pic>
        <p:nvPicPr>
          <p:cNvPr id="97" name="Google Shape;97;p14" descr="image.png"/>
          <p:cNvPicPr preferRelativeResize="0"/>
          <p:nvPr/>
        </p:nvPicPr>
        <p:blipFill rotWithShape="1">
          <a:blip r:embed="rId6">
            <a:alphaModFix/>
          </a:blip>
          <a:srcRect/>
          <a:stretch/>
        </p:blipFill>
        <p:spPr>
          <a:xfrm>
            <a:off x="571500" y="4000500"/>
            <a:ext cx="5286375" cy="2219325"/>
          </a:xfrm>
          <a:prstGeom prst="rect">
            <a:avLst/>
          </a:prstGeom>
          <a:noFill/>
          <a:ln>
            <a:noFill/>
          </a:ln>
        </p:spPr>
      </p:pic>
      <p:pic>
        <p:nvPicPr>
          <p:cNvPr id="98" name="Google Shape;98;p14" descr="image.png"/>
          <p:cNvPicPr preferRelativeResize="0"/>
          <p:nvPr/>
        </p:nvPicPr>
        <p:blipFill rotWithShape="1">
          <a:blip r:embed="rId7">
            <a:alphaModFix/>
          </a:blip>
          <a:srcRect/>
          <a:stretch/>
        </p:blipFill>
        <p:spPr>
          <a:xfrm>
            <a:off x="6343650" y="2295227"/>
            <a:ext cx="5267325" cy="2962870"/>
          </a:xfrm>
          <a:prstGeom prst="rect">
            <a:avLst/>
          </a:prstGeom>
          <a:noFill/>
          <a:ln>
            <a:noFill/>
          </a:ln>
        </p:spPr>
      </p:pic>
      <p:pic>
        <p:nvPicPr>
          <p:cNvPr id="99" name="Google Shape;99;p14" descr="image.png"/>
          <p:cNvPicPr preferRelativeResize="0"/>
          <p:nvPr/>
        </p:nvPicPr>
        <p:blipFill rotWithShape="1">
          <a:blip r:embed="rId8">
            <a:alphaModFix/>
          </a:blip>
          <a:srcRect/>
          <a:stretch/>
        </p:blipFill>
        <p:spPr>
          <a:xfrm>
            <a:off x="904875" y="1628775"/>
            <a:ext cx="304800" cy="304800"/>
          </a:xfrm>
          <a:prstGeom prst="rect">
            <a:avLst/>
          </a:prstGeom>
          <a:noFill/>
          <a:ln>
            <a:noFill/>
          </a:ln>
        </p:spPr>
      </p:pic>
      <p:sp>
        <p:nvSpPr>
          <p:cNvPr id="100" name="Google Shape;100;p14"/>
          <p:cNvSpPr txBox="1"/>
          <p:nvPr/>
        </p:nvSpPr>
        <p:spPr>
          <a:xfrm>
            <a:off x="904875" y="2124075"/>
            <a:ext cx="489061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Kritik Risk Analizi</a:t>
            </a:r>
            <a:endParaRPr/>
          </a:p>
        </p:txBody>
      </p:sp>
      <p:sp>
        <p:nvSpPr>
          <p:cNvPr id="101" name="Google Shape;101;p14"/>
          <p:cNvSpPr txBox="1"/>
          <p:nvPr/>
        </p:nvSpPr>
        <p:spPr>
          <a:xfrm>
            <a:off x="904875" y="2571750"/>
            <a:ext cx="4657725" cy="93487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Otonom sürüşte tabelaların yanlış tanınması hayati tehlike yaratır. %9</a:t>
            </a:r>
            <a:r>
              <a:rPr lang="tr-TR" sz="1350" b="0" i="0" u="none" strike="noStrike" cap="none">
                <a:solidFill>
                  <a:srgbClr val="94A3B8"/>
                </a:solidFill>
                <a:latin typeface="Inter"/>
                <a:ea typeface="Inter"/>
                <a:cs typeface="Inter"/>
                <a:sym typeface="Inter"/>
              </a:rPr>
              <a:t>8</a:t>
            </a:r>
            <a:r>
              <a:rPr lang="en-US" sz="1350" b="0" i="0" u="none" strike="noStrike" cap="none">
                <a:solidFill>
                  <a:srgbClr val="94A3B8"/>
                </a:solidFill>
                <a:latin typeface="Inter"/>
                <a:ea typeface="Inter"/>
                <a:cs typeface="Inter"/>
                <a:sym typeface="Inter"/>
              </a:rPr>
              <a:t>+ başarımlı bir sınıflandırıcı güvenliğin temelidir.</a:t>
            </a:r>
            <a:endParaRPr/>
          </a:p>
        </p:txBody>
      </p:sp>
      <p:pic>
        <p:nvPicPr>
          <p:cNvPr id="102" name="Google Shape;102;p14" descr="image.png"/>
          <p:cNvPicPr preferRelativeResize="0"/>
          <p:nvPr/>
        </p:nvPicPr>
        <p:blipFill rotWithShape="1">
          <a:blip r:embed="rId9">
            <a:alphaModFix/>
          </a:blip>
          <a:srcRect/>
          <a:stretch/>
        </p:blipFill>
        <p:spPr>
          <a:xfrm>
            <a:off x="866775" y="4295775"/>
            <a:ext cx="381000" cy="304800"/>
          </a:xfrm>
          <a:prstGeom prst="rect">
            <a:avLst/>
          </a:prstGeom>
          <a:noFill/>
          <a:ln>
            <a:noFill/>
          </a:ln>
        </p:spPr>
      </p:pic>
      <p:sp>
        <p:nvSpPr>
          <p:cNvPr id="103" name="Google Shape;103;p14"/>
          <p:cNvSpPr txBox="1"/>
          <p:nvPr/>
        </p:nvSpPr>
        <p:spPr>
          <a:xfrm>
            <a:off x="866775" y="4791075"/>
            <a:ext cx="493061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Dış Faktörler</a:t>
            </a:r>
            <a:endParaRPr/>
          </a:p>
        </p:txBody>
      </p:sp>
      <p:sp>
        <p:nvSpPr>
          <p:cNvPr id="104" name="Google Shape;104;p14"/>
          <p:cNvSpPr txBox="1"/>
          <p:nvPr/>
        </p:nvSpPr>
        <p:spPr>
          <a:xfrm>
            <a:off x="866775" y="5238750"/>
            <a:ext cx="46958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Düşük çözünürlük, yağmur, sis ve hareket bulanıklığı (motion blur) modeller üzerindeki en büyük zorluklardır.</a:t>
            </a:r>
            <a:endParaRPr/>
          </a:p>
        </p:txBody>
      </p:sp>
      <p:sp>
        <p:nvSpPr>
          <p:cNvPr id="105" name="Google Shape;105;p14"/>
          <p:cNvSpPr txBox="1"/>
          <p:nvPr/>
        </p:nvSpPr>
        <p:spPr>
          <a:xfrm>
            <a:off x="571500" y="476250"/>
            <a:ext cx="4360545"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PROBLEMIN AÇIKLAMASI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09"/>
        <p:cNvGrpSpPr/>
        <p:nvPr/>
      </p:nvGrpSpPr>
      <p:grpSpPr>
        <a:xfrm>
          <a:off x="0" y="0"/>
          <a:ext cx="0" cy="0"/>
          <a:chOff x="0" y="0"/>
          <a:chExt cx="0" cy="0"/>
        </a:xfrm>
      </p:grpSpPr>
      <p:pic>
        <p:nvPicPr>
          <p:cNvPr id="110" name="Google Shape;110;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1" name="Google Shape;111;p15" descr="image.png"/>
          <p:cNvPicPr preferRelativeResize="0"/>
          <p:nvPr/>
        </p:nvPicPr>
        <p:blipFill rotWithShape="1">
          <a:blip r:embed="rId4">
            <a:alphaModFix/>
          </a:blip>
          <a:srcRect/>
          <a:stretch/>
        </p:blipFill>
        <p:spPr>
          <a:xfrm>
            <a:off x="530629" y="2502953"/>
            <a:ext cx="5286375" cy="2442643"/>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540153" y="2502953"/>
            <a:ext cx="5267325" cy="3790950"/>
          </a:xfrm>
          <a:prstGeom prst="rect">
            <a:avLst/>
          </a:prstGeom>
          <a:noFill/>
          <a:ln>
            <a:noFill/>
          </a:ln>
        </p:spPr>
      </p:pic>
      <p:sp>
        <p:nvSpPr>
          <p:cNvPr id="113" name="Google Shape;113;p15"/>
          <p:cNvSpPr txBox="1"/>
          <p:nvPr/>
        </p:nvSpPr>
        <p:spPr>
          <a:xfrm>
            <a:off x="6334125" y="2828925"/>
            <a:ext cx="5286375" cy="257175"/>
          </a:xfrm>
          <a:prstGeom prst="rect">
            <a:avLst/>
          </a:prstGeom>
          <a:noFill/>
          <a:ln>
            <a:noFill/>
          </a:ln>
        </p:spPr>
        <p:txBody>
          <a:bodyPr spcFirstLastPara="1" wrap="square" lIns="2952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Kapsam:</a:t>
            </a:r>
            <a:r>
              <a:rPr lang="en-US" sz="1350" b="0" i="0" u="none" strike="noStrike" cap="none">
                <a:solidFill>
                  <a:srgbClr val="94A3B8"/>
                </a:solidFill>
                <a:latin typeface="Inter"/>
                <a:ea typeface="Inter"/>
                <a:cs typeface="Inter"/>
                <a:sym typeface="Inter"/>
              </a:rPr>
              <a:t> 51.839 adet .ppm formatlı görsel.</a:t>
            </a:r>
            <a:endParaRPr/>
          </a:p>
        </p:txBody>
      </p:sp>
      <p:sp>
        <p:nvSpPr>
          <p:cNvPr id="114" name="Google Shape;114;p15"/>
          <p:cNvSpPr txBox="1"/>
          <p:nvPr/>
        </p:nvSpPr>
        <p:spPr>
          <a:xfrm>
            <a:off x="6334125" y="3276600"/>
            <a:ext cx="5286375" cy="257175"/>
          </a:xfrm>
          <a:prstGeom prst="rect">
            <a:avLst/>
          </a:prstGeom>
          <a:noFill/>
          <a:ln>
            <a:noFill/>
          </a:ln>
        </p:spPr>
        <p:txBody>
          <a:bodyPr spcFirstLastPara="1" wrap="square" lIns="27622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Boyut:</a:t>
            </a:r>
            <a:r>
              <a:rPr lang="en-US" sz="1350" b="0" i="0" u="none" strike="noStrike" cap="none">
                <a:solidFill>
                  <a:srgbClr val="94A3B8"/>
                </a:solidFill>
                <a:latin typeface="Inter"/>
                <a:ea typeface="Inter"/>
                <a:cs typeface="Inter"/>
                <a:sym typeface="Inter"/>
              </a:rPr>
              <a:t> 463 MB veri hacmi.</a:t>
            </a:r>
            <a:endParaRPr/>
          </a:p>
        </p:txBody>
      </p:sp>
      <p:sp>
        <p:nvSpPr>
          <p:cNvPr id="115" name="Google Shape;115;p15"/>
          <p:cNvSpPr txBox="1"/>
          <p:nvPr/>
        </p:nvSpPr>
        <p:spPr>
          <a:xfrm>
            <a:off x="6334125" y="3724275"/>
            <a:ext cx="5286375" cy="514350"/>
          </a:xfrm>
          <a:prstGeom prst="rect">
            <a:avLst/>
          </a:prstGeom>
          <a:noFill/>
          <a:ln>
            <a:noFill/>
          </a:ln>
        </p:spPr>
        <p:txBody>
          <a:bodyPr spcFirstLastPara="1" wrap="square" lIns="31432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Boyutlandırma:</a:t>
            </a:r>
            <a:r>
              <a:rPr lang="en-US" sz="1350" b="0" i="0" u="none" strike="noStrike" cap="none">
                <a:solidFill>
                  <a:srgbClr val="94A3B8"/>
                </a:solidFill>
                <a:latin typeface="Inter"/>
                <a:ea typeface="Inter"/>
                <a:cs typeface="Inter"/>
                <a:sym typeface="Inter"/>
              </a:rPr>
              <a:t> Değişken orijinal boyutlar (15x15 - 250x250) tüm modellerde </a:t>
            </a:r>
            <a:r>
              <a:rPr lang="en-US" sz="1350" b="1" i="0" u="none" strike="noStrike" cap="none">
                <a:solidFill>
                  <a:srgbClr val="F8FAFC"/>
                </a:solidFill>
                <a:latin typeface="Inter"/>
                <a:ea typeface="Inter"/>
                <a:cs typeface="Inter"/>
                <a:sym typeface="Inter"/>
              </a:rPr>
              <a:t>64x64</a:t>
            </a:r>
            <a:r>
              <a:rPr lang="en-US" sz="1350" b="0" i="0" u="none" strike="noStrike" cap="none">
                <a:solidFill>
                  <a:srgbClr val="94A3B8"/>
                </a:solidFill>
                <a:latin typeface="Inter"/>
                <a:ea typeface="Inter"/>
                <a:cs typeface="Inter"/>
                <a:sym typeface="Inter"/>
              </a:rPr>
              <a:t> pikselli kare forma normalize edildi.</a:t>
            </a:r>
            <a:endParaRPr/>
          </a:p>
        </p:txBody>
      </p:sp>
      <p:sp>
        <p:nvSpPr>
          <p:cNvPr id="116" name="Google Shape;116;p15"/>
          <p:cNvSpPr txBox="1"/>
          <p:nvPr/>
        </p:nvSpPr>
        <p:spPr>
          <a:xfrm>
            <a:off x="6334125" y="4429125"/>
            <a:ext cx="5286375" cy="257175"/>
          </a:xfrm>
          <a:prstGeom prst="rect">
            <a:avLst/>
          </a:prstGeom>
          <a:noFill/>
          <a:ln>
            <a:noFill/>
          </a:ln>
        </p:spPr>
        <p:txBody>
          <a:bodyPr spcFirstLastPara="1" wrap="square" lIns="31432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Etiketleme:</a:t>
            </a:r>
            <a:r>
              <a:rPr lang="en-US" sz="1350" b="0" i="0" u="none" strike="noStrike" cap="none">
                <a:solidFill>
                  <a:srgbClr val="94A3B8"/>
                </a:solidFill>
                <a:latin typeface="Inter"/>
                <a:ea typeface="Inter"/>
                <a:cs typeface="Inter"/>
                <a:sym typeface="Inter"/>
              </a:rPr>
              <a:t> 43 farklı trafik levhası kategorisi.</a:t>
            </a:r>
            <a:endParaRPr/>
          </a:p>
        </p:txBody>
      </p:sp>
      <p:pic>
        <p:nvPicPr>
          <p:cNvPr id="117" name="Google Shape;117;p15" descr="image.png"/>
          <p:cNvPicPr preferRelativeResize="0"/>
          <p:nvPr/>
        </p:nvPicPr>
        <p:blipFill rotWithShape="1">
          <a:blip r:embed="rId6">
            <a:alphaModFix/>
          </a:blip>
          <a:srcRect/>
          <a:stretch/>
        </p:blipFill>
        <p:spPr>
          <a:xfrm>
            <a:off x="6334125" y="2871787"/>
            <a:ext cx="152400" cy="180975"/>
          </a:xfrm>
          <a:prstGeom prst="rect">
            <a:avLst/>
          </a:prstGeom>
          <a:noFill/>
          <a:ln>
            <a:noFill/>
          </a:ln>
        </p:spPr>
      </p:pic>
      <p:pic>
        <p:nvPicPr>
          <p:cNvPr id="118" name="Google Shape;118;p15" descr="image.png"/>
          <p:cNvPicPr preferRelativeResize="0"/>
          <p:nvPr/>
        </p:nvPicPr>
        <p:blipFill rotWithShape="1">
          <a:blip r:embed="rId7">
            <a:alphaModFix/>
          </a:blip>
          <a:srcRect/>
          <a:stretch/>
        </p:blipFill>
        <p:spPr>
          <a:xfrm>
            <a:off x="6334125" y="3319462"/>
            <a:ext cx="133350" cy="180975"/>
          </a:xfrm>
          <a:prstGeom prst="rect">
            <a:avLst/>
          </a:prstGeom>
          <a:noFill/>
          <a:ln>
            <a:noFill/>
          </a:ln>
        </p:spPr>
      </p:pic>
      <p:pic>
        <p:nvPicPr>
          <p:cNvPr id="119" name="Google Shape;119;p15" descr="image.png"/>
          <p:cNvPicPr preferRelativeResize="0"/>
          <p:nvPr/>
        </p:nvPicPr>
        <p:blipFill rotWithShape="1">
          <a:blip r:embed="rId8">
            <a:alphaModFix/>
          </a:blip>
          <a:srcRect/>
          <a:stretch/>
        </p:blipFill>
        <p:spPr>
          <a:xfrm>
            <a:off x="6334125" y="3767137"/>
            <a:ext cx="171450" cy="180975"/>
          </a:xfrm>
          <a:prstGeom prst="rect">
            <a:avLst/>
          </a:prstGeom>
          <a:noFill/>
          <a:ln>
            <a:noFill/>
          </a:ln>
        </p:spPr>
      </p:pic>
      <p:pic>
        <p:nvPicPr>
          <p:cNvPr id="120" name="Google Shape;120;p15" descr="image.png"/>
          <p:cNvPicPr preferRelativeResize="0"/>
          <p:nvPr/>
        </p:nvPicPr>
        <p:blipFill rotWithShape="1">
          <a:blip r:embed="rId9">
            <a:alphaModFix/>
          </a:blip>
          <a:srcRect/>
          <a:stretch/>
        </p:blipFill>
        <p:spPr>
          <a:xfrm>
            <a:off x="6334125" y="4471987"/>
            <a:ext cx="171450" cy="180975"/>
          </a:xfrm>
          <a:prstGeom prst="rect">
            <a:avLst/>
          </a:prstGeom>
          <a:noFill/>
          <a:ln>
            <a:noFill/>
          </a:ln>
        </p:spPr>
      </p:pic>
      <p:sp>
        <p:nvSpPr>
          <p:cNvPr id="121" name="Google Shape;121;p15"/>
          <p:cNvSpPr txBox="1"/>
          <p:nvPr/>
        </p:nvSpPr>
        <p:spPr>
          <a:xfrm>
            <a:off x="571500" y="476250"/>
            <a:ext cx="6950868"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VERI SETI (GTSRB) SPESIFIKASYONLARI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7" name="Google Shape;127;p16" descr="image.png"/>
          <p:cNvPicPr preferRelativeResize="0"/>
          <p:nvPr/>
        </p:nvPicPr>
        <p:blipFill rotWithShape="1">
          <a:blip r:embed="rId4">
            <a:alphaModFix/>
          </a:blip>
          <a:srcRect/>
          <a:stretch/>
        </p:blipFill>
        <p:spPr>
          <a:xfrm>
            <a:off x="571500" y="4819650"/>
            <a:ext cx="11049000" cy="742950"/>
          </a:xfrm>
          <a:prstGeom prst="rect">
            <a:avLst/>
          </a:prstGeom>
          <a:noFill/>
          <a:ln>
            <a:noFill/>
          </a:ln>
        </p:spPr>
      </p:pic>
      <p:sp>
        <p:nvSpPr>
          <p:cNvPr id="128" name="Google Shape;128;p16"/>
          <p:cNvSpPr txBox="1"/>
          <p:nvPr/>
        </p:nvSpPr>
        <p:spPr>
          <a:xfrm>
            <a:off x="571500" y="4467225"/>
            <a:ext cx="110490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Inter"/>
                <a:ea typeface="Inter"/>
                <a:cs typeface="Inter"/>
                <a:sym typeface="Inter"/>
              </a:rPr>
              <a:t>Sınıf 0Sınıf Dağılım Analizi (support değerleri 45 ile 750 arası değişkenlik gösterir)Sınıf 42</a:t>
            </a:r>
            <a:endParaRPr/>
          </a:p>
        </p:txBody>
      </p:sp>
      <p:sp>
        <p:nvSpPr>
          <p:cNvPr id="129" name="Google Shape;129;p16"/>
          <p:cNvSpPr/>
          <p:nvPr/>
        </p:nvSpPr>
        <p:spPr>
          <a:xfrm>
            <a:off x="571500" y="4073872"/>
            <a:ext cx="219670" cy="231427"/>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6"/>
          <p:cNvSpPr/>
          <p:nvPr/>
        </p:nvSpPr>
        <p:spPr>
          <a:xfrm>
            <a:off x="829270" y="2037159"/>
            <a:ext cx="219670" cy="2268140"/>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6"/>
          <p:cNvSpPr/>
          <p:nvPr/>
        </p:nvSpPr>
        <p:spPr>
          <a:xfrm>
            <a:off x="1087040" y="1990725"/>
            <a:ext cx="219670" cy="2314575"/>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6"/>
          <p:cNvSpPr/>
          <p:nvPr/>
        </p:nvSpPr>
        <p:spPr>
          <a:xfrm>
            <a:off x="1344810" y="2870299"/>
            <a:ext cx="219670" cy="1435000"/>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6"/>
          <p:cNvSpPr/>
          <p:nvPr/>
        </p:nvSpPr>
        <p:spPr>
          <a:xfrm>
            <a:off x="1602581" y="2337941"/>
            <a:ext cx="219670" cy="1967358"/>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6"/>
          <p:cNvSpPr/>
          <p:nvPr/>
        </p:nvSpPr>
        <p:spPr>
          <a:xfrm>
            <a:off x="1860351" y="2453729"/>
            <a:ext cx="219670" cy="1851570"/>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p:nvPr/>
        </p:nvSpPr>
        <p:spPr>
          <a:xfrm>
            <a:off x="2118121" y="3842444"/>
            <a:ext cx="219670" cy="462855"/>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6"/>
          <p:cNvSpPr/>
          <p:nvPr/>
        </p:nvSpPr>
        <p:spPr>
          <a:xfrm>
            <a:off x="2375892" y="2800945"/>
            <a:ext cx="219670" cy="1504354"/>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6"/>
          <p:cNvSpPr/>
          <p:nvPr/>
        </p:nvSpPr>
        <p:spPr>
          <a:xfrm>
            <a:off x="2633662" y="2916584"/>
            <a:ext cx="219670" cy="1388715"/>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6"/>
          <p:cNvSpPr/>
          <p:nvPr/>
        </p:nvSpPr>
        <p:spPr>
          <a:xfrm>
            <a:off x="2891432" y="2847230"/>
            <a:ext cx="219670" cy="145806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6"/>
          <p:cNvSpPr/>
          <p:nvPr/>
        </p:nvSpPr>
        <p:spPr>
          <a:xfrm>
            <a:off x="3149203" y="2361158"/>
            <a:ext cx="219670" cy="1944141"/>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6"/>
          <p:cNvSpPr/>
          <p:nvPr/>
        </p:nvSpPr>
        <p:spPr>
          <a:xfrm>
            <a:off x="3406973" y="2893516"/>
            <a:ext cx="219670" cy="141178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p:nvPr/>
        </p:nvSpPr>
        <p:spPr>
          <a:xfrm>
            <a:off x="3664743" y="2314872"/>
            <a:ext cx="219670" cy="1990427"/>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6"/>
          <p:cNvSpPr/>
          <p:nvPr/>
        </p:nvSpPr>
        <p:spPr>
          <a:xfrm>
            <a:off x="3922514" y="2268587"/>
            <a:ext cx="219670" cy="2036712"/>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6"/>
          <p:cNvSpPr/>
          <p:nvPr/>
        </p:nvSpPr>
        <p:spPr>
          <a:xfrm>
            <a:off x="4180284" y="3703587"/>
            <a:ext cx="219670" cy="601712"/>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6"/>
          <p:cNvSpPr/>
          <p:nvPr/>
        </p:nvSpPr>
        <p:spPr>
          <a:xfrm>
            <a:off x="4438054" y="3680370"/>
            <a:ext cx="219670" cy="62492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6"/>
          <p:cNvSpPr/>
          <p:nvPr/>
        </p:nvSpPr>
        <p:spPr>
          <a:xfrm>
            <a:off x="4695825" y="3888730"/>
            <a:ext cx="219670" cy="41656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6"/>
          <p:cNvSpPr/>
          <p:nvPr/>
        </p:nvSpPr>
        <p:spPr>
          <a:xfrm>
            <a:off x="4953595" y="3263800"/>
            <a:ext cx="219670" cy="104149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6"/>
          <p:cNvSpPr/>
          <p:nvPr/>
        </p:nvSpPr>
        <p:spPr>
          <a:xfrm>
            <a:off x="5211365" y="3101726"/>
            <a:ext cx="219670" cy="120357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6"/>
          <p:cNvSpPr/>
          <p:nvPr/>
        </p:nvSpPr>
        <p:spPr>
          <a:xfrm>
            <a:off x="5469135" y="4073872"/>
            <a:ext cx="219670" cy="231427"/>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16"/>
          <p:cNvSpPr/>
          <p:nvPr/>
        </p:nvSpPr>
        <p:spPr>
          <a:xfrm>
            <a:off x="5726906" y="3958232"/>
            <a:ext cx="219670" cy="347067"/>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16"/>
          <p:cNvSpPr/>
          <p:nvPr/>
        </p:nvSpPr>
        <p:spPr>
          <a:xfrm>
            <a:off x="5984676" y="3935015"/>
            <a:ext cx="219670" cy="370284"/>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6"/>
          <p:cNvSpPr/>
          <p:nvPr/>
        </p:nvSpPr>
        <p:spPr>
          <a:xfrm>
            <a:off x="6242446" y="3888730"/>
            <a:ext cx="219670" cy="41656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p:nvPr/>
        </p:nvSpPr>
        <p:spPr>
          <a:xfrm>
            <a:off x="6500217" y="3726656"/>
            <a:ext cx="219670" cy="57864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6"/>
          <p:cNvSpPr/>
          <p:nvPr/>
        </p:nvSpPr>
        <p:spPr>
          <a:xfrm>
            <a:off x="6757987" y="4027586"/>
            <a:ext cx="219670" cy="27771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6"/>
          <p:cNvSpPr/>
          <p:nvPr/>
        </p:nvSpPr>
        <p:spPr>
          <a:xfrm>
            <a:off x="7015757" y="2824013"/>
            <a:ext cx="219670" cy="1481286"/>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6"/>
          <p:cNvSpPr/>
          <p:nvPr/>
        </p:nvSpPr>
        <p:spPr>
          <a:xfrm>
            <a:off x="7273528" y="3726656"/>
            <a:ext cx="219670" cy="57864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p:nvPr/>
        </p:nvSpPr>
        <p:spPr>
          <a:xfrm>
            <a:off x="7531298" y="4027586"/>
            <a:ext cx="219670" cy="27771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6"/>
          <p:cNvSpPr/>
          <p:nvPr/>
        </p:nvSpPr>
        <p:spPr>
          <a:xfrm>
            <a:off x="7789068" y="3749873"/>
            <a:ext cx="219670" cy="555426"/>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6"/>
          <p:cNvSpPr/>
          <p:nvPr/>
        </p:nvSpPr>
        <p:spPr>
          <a:xfrm>
            <a:off x="8046839" y="4050803"/>
            <a:ext cx="219670" cy="254496"/>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6"/>
          <p:cNvSpPr/>
          <p:nvPr/>
        </p:nvSpPr>
        <p:spPr>
          <a:xfrm>
            <a:off x="8304609" y="3819376"/>
            <a:ext cx="219670" cy="48592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6"/>
          <p:cNvSpPr/>
          <p:nvPr/>
        </p:nvSpPr>
        <p:spPr>
          <a:xfrm>
            <a:off x="8562379" y="3425874"/>
            <a:ext cx="219670" cy="879425"/>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6"/>
          <p:cNvSpPr/>
          <p:nvPr/>
        </p:nvSpPr>
        <p:spPr>
          <a:xfrm>
            <a:off x="8820150" y="4004518"/>
            <a:ext cx="219670" cy="300781"/>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2" name="Google Shape;162;p16"/>
          <p:cNvSpPr/>
          <p:nvPr/>
        </p:nvSpPr>
        <p:spPr>
          <a:xfrm>
            <a:off x="9077920" y="3541514"/>
            <a:ext cx="219670" cy="763785"/>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6"/>
          <p:cNvSpPr/>
          <p:nvPr/>
        </p:nvSpPr>
        <p:spPr>
          <a:xfrm>
            <a:off x="9335690" y="3888730"/>
            <a:ext cx="219670" cy="416569"/>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6"/>
          <p:cNvSpPr/>
          <p:nvPr/>
        </p:nvSpPr>
        <p:spPr>
          <a:xfrm>
            <a:off x="9593460" y="3194446"/>
            <a:ext cx="219670" cy="111085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6"/>
          <p:cNvSpPr/>
          <p:nvPr/>
        </p:nvSpPr>
        <p:spPr>
          <a:xfrm>
            <a:off x="9851231" y="3865661"/>
            <a:ext cx="219670" cy="439638"/>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6" name="Google Shape;166;p16"/>
          <p:cNvSpPr/>
          <p:nvPr/>
        </p:nvSpPr>
        <p:spPr>
          <a:xfrm>
            <a:off x="10109001" y="4050803"/>
            <a:ext cx="219670" cy="254496"/>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6"/>
          <p:cNvSpPr/>
          <p:nvPr/>
        </p:nvSpPr>
        <p:spPr>
          <a:xfrm>
            <a:off x="10366771" y="2337941"/>
            <a:ext cx="219670" cy="1967358"/>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6"/>
          <p:cNvSpPr/>
          <p:nvPr/>
        </p:nvSpPr>
        <p:spPr>
          <a:xfrm>
            <a:off x="10624542" y="3981301"/>
            <a:ext cx="219670" cy="323998"/>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6"/>
          <p:cNvSpPr/>
          <p:nvPr/>
        </p:nvSpPr>
        <p:spPr>
          <a:xfrm>
            <a:off x="10882312" y="4004518"/>
            <a:ext cx="219670" cy="300781"/>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6"/>
          <p:cNvSpPr/>
          <p:nvPr/>
        </p:nvSpPr>
        <p:spPr>
          <a:xfrm>
            <a:off x="11140082" y="4027586"/>
            <a:ext cx="219670" cy="277713"/>
          </a:xfrm>
          <a:prstGeom prst="roundRect">
            <a:avLst>
              <a:gd name="adj" fmla="val 8672"/>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1" name="Google Shape;171;p16"/>
          <p:cNvSpPr/>
          <p:nvPr/>
        </p:nvSpPr>
        <p:spPr>
          <a:xfrm>
            <a:off x="11397853" y="4097089"/>
            <a:ext cx="219670" cy="208210"/>
          </a:xfrm>
          <a:prstGeom prst="roundRect">
            <a:avLst>
              <a:gd name="adj" fmla="val 9149"/>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6"/>
          <p:cNvSpPr txBox="1"/>
          <p:nvPr/>
        </p:nvSpPr>
        <p:spPr>
          <a:xfrm>
            <a:off x="714375" y="4962525"/>
            <a:ext cx="1076325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F8FAFC"/>
                </a:solidFill>
                <a:latin typeface="Inter"/>
                <a:ea typeface="Inter"/>
                <a:cs typeface="Inter"/>
                <a:sym typeface="Inter"/>
              </a:rPr>
              <a:t>Strateji:</a:t>
            </a:r>
            <a:r>
              <a:rPr lang="en-US" sz="1200" b="0" i="0" u="none" strike="noStrike" cap="none">
                <a:solidFill>
                  <a:srgbClr val="94A3B8"/>
                </a:solidFill>
                <a:latin typeface="Inter"/>
                <a:ea typeface="Inter"/>
                <a:cs typeface="Inter"/>
                <a:sym typeface="Inter"/>
              </a:rPr>
              <a:t> Veri setindeki dengesizliği yönetmek için </a:t>
            </a:r>
            <a:r>
              <a:rPr lang="en-US" sz="1200" b="1" i="0" u="none" strike="noStrike" cap="none">
                <a:solidFill>
                  <a:srgbClr val="F8FAFC"/>
                </a:solidFill>
                <a:latin typeface="Inter"/>
                <a:ea typeface="Inter"/>
                <a:cs typeface="Inter"/>
                <a:sym typeface="Inter"/>
              </a:rPr>
              <a:t>Stratified Split</a:t>
            </a:r>
            <a:r>
              <a:rPr lang="en-US" sz="1200" b="0" i="0" u="none" strike="noStrike" cap="none">
                <a:solidFill>
                  <a:srgbClr val="94A3B8"/>
                </a:solidFill>
                <a:latin typeface="Inter"/>
                <a:ea typeface="Inter"/>
                <a:cs typeface="Inter"/>
                <a:sym typeface="Inter"/>
              </a:rPr>
              <a:t> yapıldı ve başarı değerlendirmesinde sadece Accuracy değil, </a:t>
            </a:r>
            <a:r>
              <a:rPr lang="en-US" sz="1200" b="1" i="0" u="none" strike="noStrike" cap="none">
                <a:solidFill>
                  <a:srgbClr val="F8FAFC"/>
                </a:solidFill>
                <a:latin typeface="Inter"/>
                <a:ea typeface="Inter"/>
                <a:cs typeface="Inter"/>
                <a:sym typeface="Inter"/>
              </a:rPr>
              <a:t>Macro-F1 Score</a:t>
            </a:r>
            <a:r>
              <a:rPr lang="en-US" sz="1200" b="0" i="0" u="none" strike="noStrike" cap="none">
                <a:solidFill>
                  <a:srgbClr val="94A3B8"/>
                </a:solidFill>
                <a:latin typeface="Inter"/>
                <a:ea typeface="Inter"/>
                <a:cs typeface="Inter"/>
                <a:sym typeface="Inter"/>
              </a:rPr>
              <a:t> temel alındı.</a:t>
            </a:r>
            <a:endParaRPr/>
          </a:p>
        </p:txBody>
      </p:sp>
      <p:sp>
        <p:nvSpPr>
          <p:cNvPr id="173" name="Google Shape;173;p16"/>
          <p:cNvSpPr txBox="1"/>
          <p:nvPr/>
        </p:nvSpPr>
        <p:spPr>
          <a:xfrm>
            <a:off x="571500" y="476250"/>
            <a:ext cx="5650706"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SINIF DAĞILIMI VE DENGESIZLIK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7"/>
        <p:cNvGrpSpPr/>
        <p:nvPr/>
      </p:nvGrpSpPr>
      <p:grpSpPr>
        <a:xfrm>
          <a:off x="0" y="0"/>
          <a:ext cx="0" cy="0"/>
          <a:chOff x="0" y="0"/>
          <a:chExt cx="0" cy="0"/>
        </a:xfrm>
      </p:grpSpPr>
      <p:pic>
        <p:nvPicPr>
          <p:cNvPr id="178" name="Google Shape;17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17" descr="image.png"/>
          <p:cNvPicPr preferRelativeResize="0"/>
          <p:nvPr/>
        </p:nvPicPr>
        <p:blipFill rotWithShape="1">
          <a:blip r:embed="rId4">
            <a:alphaModFix/>
          </a:blip>
          <a:srcRect/>
          <a:stretch/>
        </p:blipFill>
        <p:spPr>
          <a:xfrm>
            <a:off x="571500" y="837247"/>
            <a:ext cx="3555950" cy="2733675"/>
          </a:xfrm>
          <a:prstGeom prst="rect">
            <a:avLst/>
          </a:prstGeom>
          <a:noFill/>
          <a:ln>
            <a:noFill/>
          </a:ln>
        </p:spPr>
      </p:pic>
      <p:pic>
        <p:nvPicPr>
          <p:cNvPr id="180" name="Google Shape;180;p17" descr="image.png"/>
          <p:cNvPicPr preferRelativeResize="0"/>
          <p:nvPr/>
        </p:nvPicPr>
        <p:blipFill rotWithShape="1">
          <a:blip r:embed="rId5">
            <a:alphaModFix/>
          </a:blip>
          <a:srcRect/>
          <a:stretch/>
        </p:blipFill>
        <p:spPr>
          <a:xfrm>
            <a:off x="4317950" y="837247"/>
            <a:ext cx="3555950" cy="2733675"/>
          </a:xfrm>
          <a:prstGeom prst="rect">
            <a:avLst/>
          </a:prstGeom>
          <a:noFill/>
          <a:ln>
            <a:noFill/>
          </a:ln>
        </p:spPr>
      </p:pic>
      <p:pic>
        <p:nvPicPr>
          <p:cNvPr id="181" name="Google Shape;181;p17" descr="image.png"/>
          <p:cNvPicPr preferRelativeResize="0"/>
          <p:nvPr/>
        </p:nvPicPr>
        <p:blipFill rotWithShape="1">
          <a:blip r:embed="rId6">
            <a:alphaModFix/>
          </a:blip>
          <a:srcRect/>
          <a:stretch/>
        </p:blipFill>
        <p:spPr>
          <a:xfrm>
            <a:off x="8064400" y="837247"/>
            <a:ext cx="3830420" cy="2733675"/>
          </a:xfrm>
          <a:prstGeom prst="rect">
            <a:avLst/>
          </a:prstGeom>
          <a:noFill/>
          <a:ln>
            <a:noFill/>
          </a:ln>
        </p:spPr>
      </p:pic>
      <p:pic>
        <p:nvPicPr>
          <p:cNvPr id="182" name="Google Shape;182;p17" descr="image.png"/>
          <p:cNvPicPr preferRelativeResize="0"/>
          <p:nvPr/>
        </p:nvPicPr>
        <p:blipFill rotWithShape="1">
          <a:blip r:embed="rId7">
            <a:alphaModFix/>
          </a:blip>
          <a:srcRect/>
          <a:stretch/>
        </p:blipFill>
        <p:spPr>
          <a:xfrm>
            <a:off x="866775" y="1097446"/>
            <a:ext cx="304800" cy="304800"/>
          </a:xfrm>
          <a:prstGeom prst="rect">
            <a:avLst/>
          </a:prstGeom>
          <a:noFill/>
          <a:ln>
            <a:noFill/>
          </a:ln>
        </p:spPr>
      </p:pic>
      <p:sp>
        <p:nvSpPr>
          <p:cNvPr id="183" name="Google Shape;183;p17"/>
          <p:cNvSpPr txBox="1"/>
          <p:nvPr/>
        </p:nvSpPr>
        <p:spPr>
          <a:xfrm>
            <a:off x="866775" y="1520833"/>
            <a:ext cx="311367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Data Augmentation</a:t>
            </a:r>
            <a:endParaRPr/>
          </a:p>
        </p:txBody>
      </p:sp>
      <p:sp>
        <p:nvSpPr>
          <p:cNvPr id="184" name="Google Shape;184;p17"/>
          <p:cNvSpPr txBox="1"/>
          <p:nvPr/>
        </p:nvSpPr>
        <p:spPr>
          <a:xfrm>
            <a:off x="866775" y="2009465"/>
            <a:ext cx="2965400"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RandomRotation (15°), ColorJitter (parlaklık) ve perspektif değişimleri ile veri sentetik olarak zenginleştirildi.</a:t>
            </a:r>
            <a:endParaRPr/>
          </a:p>
        </p:txBody>
      </p:sp>
      <p:pic>
        <p:nvPicPr>
          <p:cNvPr id="185" name="Google Shape;185;p17" descr="image.png"/>
          <p:cNvPicPr preferRelativeResize="0"/>
          <p:nvPr/>
        </p:nvPicPr>
        <p:blipFill rotWithShape="1">
          <a:blip r:embed="rId8">
            <a:alphaModFix/>
          </a:blip>
          <a:srcRect/>
          <a:stretch/>
        </p:blipFill>
        <p:spPr>
          <a:xfrm>
            <a:off x="4613225" y="1097446"/>
            <a:ext cx="304800" cy="304800"/>
          </a:xfrm>
          <a:prstGeom prst="rect">
            <a:avLst/>
          </a:prstGeom>
          <a:noFill/>
          <a:ln>
            <a:noFill/>
          </a:ln>
        </p:spPr>
      </p:pic>
      <p:sp>
        <p:nvSpPr>
          <p:cNvPr id="186" name="Google Shape;186;p17"/>
          <p:cNvSpPr txBox="1"/>
          <p:nvPr/>
        </p:nvSpPr>
        <p:spPr>
          <a:xfrm>
            <a:off x="4613225" y="1520833"/>
            <a:ext cx="311367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Batch Normalization</a:t>
            </a:r>
            <a:endParaRPr/>
          </a:p>
        </p:txBody>
      </p:sp>
      <p:sp>
        <p:nvSpPr>
          <p:cNvPr id="187" name="Google Shape;187;p17"/>
          <p:cNvSpPr txBox="1"/>
          <p:nvPr/>
        </p:nvSpPr>
        <p:spPr>
          <a:xfrm>
            <a:off x="4613225" y="2009465"/>
            <a:ext cx="2965400"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Eğitimi stabilize etmek, öğrenme hızını artırmak ve gradyan patlamalarını önlemek için tüm katmanlarda kullanıldı.</a:t>
            </a:r>
            <a:endParaRPr/>
          </a:p>
        </p:txBody>
      </p:sp>
      <p:pic>
        <p:nvPicPr>
          <p:cNvPr id="188" name="Google Shape;188;p17" descr="image.png"/>
          <p:cNvPicPr preferRelativeResize="0"/>
          <p:nvPr/>
        </p:nvPicPr>
        <p:blipFill rotWithShape="1">
          <a:blip r:embed="rId9">
            <a:alphaModFix/>
          </a:blip>
          <a:srcRect/>
          <a:stretch/>
        </p:blipFill>
        <p:spPr>
          <a:xfrm>
            <a:off x="8359675" y="1097446"/>
            <a:ext cx="304800" cy="304800"/>
          </a:xfrm>
          <a:prstGeom prst="rect">
            <a:avLst/>
          </a:prstGeom>
          <a:noFill/>
          <a:ln>
            <a:noFill/>
          </a:ln>
        </p:spPr>
      </p:pic>
      <p:sp>
        <p:nvSpPr>
          <p:cNvPr id="189" name="Google Shape;189;p17"/>
          <p:cNvSpPr txBox="1"/>
          <p:nvPr/>
        </p:nvSpPr>
        <p:spPr>
          <a:xfrm>
            <a:off x="8359675" y="1520833"/>
            <a:ext cx="311382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Regularization</a:t>
            </a:r>
            <a:endParaRPr/>
          </a:p>
        </p:txBody>
      </p:sp>
      <p:sp>
        <p:nvSpPr>
          <p:cNvPr id="190" name="Google Shape;190;p17"/>
          <p:cNvSpPr txBox="1"/>
          <p:nvPr/>
        </p:nvSpPr>
        <p:spPr>
          <a:xfrm>
            <a:off x="8359675" y="2009465"/>
            <a:ext cx="2965549"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Overfitting'i engellemek için %30-%50 oranlarında Dropout uygulandı ve ağırlıklar normalize edildi.</a:t>
            </a:r>
            <a:endParaRPr/>
          </a:p>
        </p:txBody>
      </p:sp>
      <p:sp>
        <p:nvSpPr>
          <p:cNvPr id="191" name="Google Shape;191;p17"/>
          <p:cNvSpPr txBox="1"/>
          <p:nvPr/>
        </p:nvSpPr>
        <p:spPr>
          <a:xfrm>
            <a:off x="571500" y="256222"/>
            <a:ext cx="7360920"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KULLANILAN MODERN EĞITIM TEKNIKLERI</a:t>
            </a:r>
            <a:endParaRPr/>
          </a:p>
        </p:txBody>
      </p:sp>
      <p:pic>
        <p:nvPicPr>
          <p:cNvPr id="2" name="Google Shape;179;p17" descr="image.png">
            <a:extLst>
              <a:ext uri="{FF2B5EF4-FFF2-40B4-BE49-F238E27FC236}">
                <a16:creationId xmlns:a16="http://schemas.microsoft.com/office/drawing/2014/main" id="{B6B1CE40-1F65-D47C-1AAB-F610D2ACDFF1}"/>
              </a:ext>
            </a:extLst>
          </p:cNvPr>
          <p:cNvPicPr preferRelativeResize="0"/>
          <p:nvPr/>
        </p:nvPicPr>
        <p:blipFill rotWithShape="1">
          <a:blip r:embed="rId4">
            <a:alphaModFix/>
          </a:blip>
          <a:srcRect/>
          <a:stretch/>
        </p:blipFill>
        <p:spPr>
          <a:xfrm>
            <a:off x="571500" y="3783329"/>
            <a:ext cx="7302400" cy="2733675"/>
          </a:xfrm>
          <a:prstGeom prst="rect">
            <a:avLst/>
          </a:prstGeom>
          <a:noFill/>
          <a:ln>
            <a:noFill/>
          </a:ln>
        </p:spPr>
      </p:pic>
      <p:pic>
        <p:nvPicPr>
          <p:cNvPr id="4" name="Google Shape;181;p17" descr="image.png">
            <a:extLst>
              <a:ext uri="{FF2B5EF4-FFF2-40B4-BE49-F238E27FC236}">
                <a16:creationId xmlns:a16="http://schemas.microsoft.com/office/drawing/2014/main" id="{1DEB518D-1BFE-0FB6-1CAC-F6821D3F86B6}"/>
              </a:ext>
            </a:extLst>
          </p:cNvPr>
          <p:cNvPicPr preferRelativeResize="0"/>
          <p:nvPr/>
        </p:nvPicPr>
        <p:blipFill rotWithShape="1">
          <a:blip r:embed="rId6">
            <a:alphaModFix/>
          </a:blip>
          <a:srcRect/>
          <a:stretch/>
        </p:blipFill>
        <p:spPr>
          <a:xfrm>
            <a:off x="8064400" y="3783329"/>
            <a:ext cx="3830420" cy="2733675"/>
          </a:xfrm>
          <a:prstGeom prst="rect">
            <a:avLst/>
          </a:prstGeom>
          <a:noFill/>
          <a:ln>
            <a:noFill/>
          </a:ln>
        </p:spPr>
      </p:pic>
      <p:sp>
        <p:nvSpPr>
          <p:cNvPr id="6" name="Google Shape;183;p17">
            <a:extLst>
              <a:ext uri="{FF2B5EF4-FFF2-40B4-BE49-F238E27FC236}">
                <a16:creationId xmlns:a16="http://schemas.microsoft.com/office/drawing/2014/main" id="{CBFC0C23-9710-BF70-6D3C-69CFA9896FB7}"/>
              </a:ext>
            </a:extLst>
          </p:cNvPr>
          <p:cNvSpPr txBox="1"/>
          <p:nvPr/>
        </p:nvSpPr>
        <p:spPr>
          <a:xfrm>
            <a:off x="866774" y="4473105"/>
            <a:ext cx="495490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tr-TR" sz="1800" b="1" i="0" u="none" strike="noStrike" cap="none">
                <a:solidFill>
                  <a:srgbClr val="F1F5F9"/>
                </a:solidFill>
                <a:latin typeface="Urbanist"/>
                <a:ea typeface="Urbanist"/>
                <a:cs typeface="Urbanist"/>
                <a:sym typeface="Urbanist"/>
              </a:rPr>
              <a:t>Veri Sızıntısı Engelleme : GroupSuffleSplit</a:t>
            </a:r>
            <a:endParaRPr/>
          </a:p>
        </p:txBody>
      </p:sp>
      <p:sp>
        <p:nvSpPr>
          <p:cNvPr id="7" name="Google Shape;184;p17">
            <a:extLst>
              <a:ext uri="{FF2B5EF4-FFF2-40B4-BE49-F238E27FC236}">
                <a16:creationId xmlns:a16="http://schemas.microsoft.com/office/drawing/2014/main" id="{9D260296-A865-8C98-7C9D-0001CDBD9C52}"/>
              </a:ext>
            </a:extLst>
          </p:cNvPr>
          <p:cNvSpPr txBox="1"/>
          <p:nvPr/>
        </p:nvSpPr>
        <p:spPr>
          <a:xfrm>
            <a:off x="866775" y="4961737"/>
            <a:ext cx="6711850" cy="12464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tr-TR" sz="1350">
                <a:solidFill>
                  <a:srgbClr val="94A3B8"/>
                </a:solidFill>
                <a:latin typeface="Inter"/>
                <a:ea typeface="Inter"/>
                <a:sym typeface="Inter"/>
              </a:rPr>
              <a:t>Aynı trafik levhasının ardışık video karelerinin biri eğitimde diğeri doğrulamada olursa model ezberleme yapar. Bunu engellemek için track_id üzerinden ayrıştırma yaparak aynı fiziksel levhanın tüm karelerinin ya sadece eğitimde ya da sadece doğrulamada olması sağlanmıştır.</a:t>
            </a:r>
            <a:endParaRPr/>
          </a:p>
        </p:txBody>
      </p:sp>
      <p:sp>
        <p:nvSpPr>
          <p:cNvPr id="12" name="Google Shape;189;p17">
            <a:extLst>
              <a:ext uri="{FF2B5EF4-FFF2-40B4-BE49-F238E27FC236}">
                <a16:creationId xmlns:a16="http://schemas.microsoft.com/office/drawing/2014/main" id="{AD1FD56C-550A-187A-C136-C01BBD4D1700}"/>
              </a:ext>
            </a:extLst>
          </p:cNvPr>
          <p:cNvSpPr txBox="1"/>
          <p:nvPr/>
        </p:nvSpPr>
        <p:spPr>
          <a:xfrm>
            <a:off x="8290560" y="4473105"/>
            <a:ext cx="311382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tr-TR" sz="1800" b="1" i="0" u="none" strike="noStrike" cap="none">
                <a:solidFill>
                  <a:srgbClr val="F1F5F9"/>
                </a:solidFill>
                <a:latin typeface="Urbanist"/>
                <a:ea typeface="Urbanist"/>
                <a:cs typeface="Urbanist"/>
                <a:sym typeface="Urbanist"/>
              </a:rPr>
              <a:t>Veri Seti Sarmalayıcı</a:t>
            </a:r>
            <a:endParaRPr/>
          </a:p>
        </p:txBody>
      </p:sp>
      <p:sp>
        <p:nvSpPr>
          <p:cNvPr id="13" name="Google Shape;190;p17">
            <a:extLst>
              <a:ext uri="{FF2B5EF4-FFF2-40B4-BE49-F238E27FC236}">
                <a16:creationId xmlns:a16="http://schemas.microsoft.com/office/drawing/2014/main" id="{398BA85A-922F-716D-AD42-319D9F8A81CA}"/>
              </a:ext>
            </a:extLst>
          </p:cNvPr>
          <p:cNvSpPr txBox="1"/>
          <p:nvPr/>
        </p:nvSpPr>
        <p:spPr>
          <a:xfrm>
            <a:off x="8290560" y="4871083"/>
            <a:ext cx="3497580" cy="12464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tr-TR" sz="1350" b="0" i="0" u="none" strike="noStrike" cap="none">
                <a:solidFill>
                  <a:srgbClr val="94A3B8"/>
                </a:solidFill>
                <a:latin typeface="Inter"/>
                <a:ea typeface="Inter"/>
                <a:cs typeface="Inter"/>
                <a:sym typeface="Inter"/>
              </a:rPr>
              <a:t>Efficient-B0 ve GoogleNet modelleri eğitilirken Torchvision transformasyonların</a:t>
            </a:r>
            <a:r>
              <a:rPr lang="tr-TR" sz="1350">
                <a:solidFill>
                  <a:srgbClr val="94A3B8"/>
                </a:solidFill>
                <a:latin typeface="Inter"/>
                <a:ea typeface="Inter"/>
                <a:cs typeface="Inter"/>
                <a:sym typeface="Inter"/>
              </a:rPr>
              <a:t> </a:t>
            </a:r>
          </a:p>
          <a:p>
            <a:pPr marL="0" marR="0" lvl="0" indent="0" algn="l" rtl="0">
              <a:lnSpc>
                <a:spcPct val="150000"/>
              </a:lnSpc>
              <a:spcBef>
                <a:spcPts val="0"/>
              </a:spcBef>
              <a:spcAft>
                <a:spcPts val="0"/>
              </a:spcAft>
              <a:buNone/>
            </a:pPr>
            <a:r>
              <a:rPr lang="tr-TR" sz="1350" b="0" i="0" u="none" strike="noStrike" cap="none">
                <a:solidFill>
                  <a:srgbClr val="94A3B8"/>
                </a:solidFill>
                <a:latin typeface="Inter"/>
                <a:ea typeface="Inter"/>
                <a:cs typeface="Inter"/>
                <a:sym typeface="Inter"/>
              </a:rPr>
              <a:t>Hata vermesin engellemek için Custom Dataset Wrapper kullanıldı.</a:t>
            </a:r>
          </a:p>
        </p:txBody>
      </p:sp>
      <p:pic>
        <p:nvPicPr>
          <p:cNvPr id="14" name="Google Shape;188;p17" descr="image.png">
            <a:extLst>
              <a:ext uri="{FF2B5EF4-FFF2-40B4-BE49-F238E27FC236}">
                <a16:creationId xmlns:a16="http://schemas.microsoft.com/office/drawing/2014/main" id="{0C371B5C-8540-CF28-AFD1-AC6997A347D5}"/>
              </a:ext>
            </a:extLst>
          </p:cNvPr>
          <p:cNvPicPr preferRelativeResize="0"/>
          <p:nvPr/>
        </p:nvPicPr>
        <p:blipFill rotWithShape="1">
          <a:blip r:embed="rId9">
            <a:alphaModFix/>
          </a:blip>
          <a:srcRect/>
          <a:stretch/>
        </p:blipFill>
        <p:spPr>
          <a:xfrm>
            <a:off x="866775" y="4043528"/>
            <a:ext cx="304800" cy="304800"/>
          </a:xfrm>
          <a:prstGeom prst="rect">
            <a:avLst/>
          </a:prstGeom>
          <a:noFill/>
          <a:ln>
            <a:noFill/>
          </a:ln>
        </p:spPr>
      </p:pic>
      <p:pic>
        <p:nvPicPr>
          <p:cNvPr id="15" name="Google Shape;182;p17" descr="image.png">
            <a:extLst>
              <a:ext uri="{FF2B5EF4-FFF2-40B4-BE49-F238E27FC236}">
                <a16:creationId xmlns:a16="http://schemas.microsoft.com/office/drawing/2014/main" id="{8F5E3E77-4D19-15C5-EACF-0EE1DCD21E61}"/>
              </a:ext>
            </a:extLst>
          </p:cNvPr>
          <p:cNvPicPr preferRelativeResize="0"/>
          <p:nvPr/>
        </p:nvPicPr>
        <p:blipFill rotWithShape="1">
          <a:blip r:embed="rId7">
            <a:alphaModFix/>
          </a:blip>
          <a:srcRect/>
          <a:stretch/>
        </p:blipFill>
        <p:spPr>
          <a:xfrm>
            <a:off x="8293000" y="4043528"/>
            <a:ext cx="304800" cy="30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2" name="Google Shape;178;p17" descr="image.png">
            <a:extLst>
              <a:ext uri="{FF2B5EF4-FFF2-40B4-BE49-F238E27FC236}">
                <a16:creationId xmlns:a16="http://schemas.microsoft.com/office/drawing/2014/main" id="{217F3A3F-6204-E7EC-35D6-70911C28E6E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18" descr="image.png"/>
          <p:cNvPicPr preferRelativeResize="0"/>
          <p:nvPr/>
        </p:nvPicPr>
        <p:blipFill rotWithShape="1">
          <a:blip r:embed="rId4">
            <a:alphaModFix/>
          </a:blip>
          <a:srcRect/>
          <a:stretch/>
        </p:blipFill>
        <p:spPr>
          <a:xfrm>
            <a:off x="6334125" y="1171575"/>
            <a:ext cx="5286375" cy="5286375"/>
          </a:xfrm>
          <a:prstGeom prst="rect">
            <a:avLst/>
          </a:prstGeom>
          <a:noFill/>
          <a:ln>
            <a:noFill/>
          </a:ln>
        </p:spPr>
      </p:pic>
      <p:sp>
        <p:nvSpPr>
          <p:cNvPr id="198" name="Google Shape;198;p18"/>
          <p:cNvSpPr txBox="1"/>
          <p:nvPr/>
        </p:nvSpPr>
        <p:spPr>
          <a:xfrm>
            <a:off x="571500" y="2614612"/>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Track ID Tabanlı Bölme</a:t>
            </a:r>
            <a:endParaRPr/>
          </a:p>
        </p:txBody>
      </p:sp>
      <p:sp>
        <p:nvSpPr>
          <p:cNvPr id="199" name="Google Shape;199;p18"/>
          <p:cNvSpPr txBox="1"/>
          <p:nvPr/>
        </p:nvSpPr>
        <p:spPr>
          <a:xfrm>
            <a:off x="571500" y="3062287"/>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GTSRB veri setinde aynı tabelanın ardışık 30 karesi bulunur. Rastgele bölme yapılırsa, benzer kareler hem eğitim hem test setine düşerek </a:t>
            </a:r>
            <a:r>
              <a:rPr lang="en-US" sz="1350" b="1" i="0" u="none" strike="noStrike" cap="none">
                <a:solidFill>
                  <a:srgbClr val="F8FAFC"/>
                </a:solidFill>
                <a:latin typeface="Inter"/>
                <a:ea typeface="Inter"/>
                <a:cs typeface="Inter"/>
                <a:sym typeface="Inter"/>
              </a:rPr>
              <a:t>overfitting sızıntısına</a:t>
            </a:r>
            <a:r>
              <a:rPr lang="en-US" sz="1350" b="0" i="0" u="none" strike="noStrike" cap="none">
                <a:solidFill>
                  <a:srgbClr val="94A3B8"/>
                </a:solidFill>
                <a:latin typeface="Inter"/>
                <a:ea typeface="Inter"/>
                <a:cs typeface="Inter"/>
                <a:sym typeface="Inter"/>
              </a:rPr>
              <a:t> neden olur.</a:t>
            </a:r>
            <a:endParaRPr/>
          </a:p>
        </p:txBody>
      </p:sp>
      <p:pic>
        <p:nvPicPr>
          <p:cNvPr id="200" name="Google Shape;200;p18" descr="image.png"/>
          <p:cNvPicPr preferRelativeResize="0"/>
          <p:nvPr/>
        </p:nvPicPr>
        <p:blipFill rotWithShape="1">
          <a:blip r:embed="rId5">
            <a:alphaModFix/>
          </a:blip>
          <a:srcRect/>
          <a:stretch/>
        </p:blipFill>
        <p:spPr>
          <a:xfrm>
            <a:off x="6343650" y="1181100"/>
            <a:ext cx="5267325" cy="5267325"/>
          </a:xfrm>
          <a:prstGeom prst="rect">
            <a:avLst/>
          </a:prstGeom>
          <a:noFill/>
          <a:ln>
            <a:noFill/>
          </a:ln>
        </p:spPr>
      </p:pic>
      <p:sp>
        <p:nvSpPr>
          <p:cNvPr id="201" name="Google Shape;201;p18"/>
          <p:cNvSpPr txBox="1"/>
          <p:nvPr/>
        </p:nvSpPr>
        <p:spPr>
          <a:xfrm>
            <a:off x="571500" y="4071937"/>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Bizim Yöntemimiz:</a:t>
            </a:r>
            <a:r>
              <a:rPr lang="en-US" sz="1350" b="0" i="0" u="none" strike="noStrike" cap="none">
                <a:solidFill>
                  <a:srgbClr val="38BDF8"/>
                </a:solidFill>
                <a:latin typeface="Inter"/>
                <a:ea typeface="Inter"/>
                <a:cs typeface="Inter"/>
                <a:sym typeface="Inter"/>
              </a:rPr>
              <a:t> Her tabela grubunu (Track) bir bütün olarak ayırarak modelin </a:t>
            </a:r>
            <a:r>
              <a:rPr lang="en-US" sz="1350" b="1" i="0" u="none" strike="noStrike" cap="none">
                <a:solidFill>
                  <a:srgbClr val="F8FAFC"/>
                </a:solidFill>
                <a:latin typeface="Inter"/>
                <a:ea typeface="Inter"/>
                <a:cs typeface="Inter"/>
                <a:sym typeface="Inter"/>
              </a:rPr>
              <a:t>hiç görmediği fiziksel tabelalar</a:t>
            </a:r>
            <a:r>
              <a:rPr lang="en-US" sz="1350" b="0" i="0" u="none" strike="noStrike" cap="none">
                <a:solidFill>
                  <a:srgbClr val="38BDF8"/>
                </a:solidFill>
                <a:latin typeface="Inter"/>
                <a:ea typeface="Inter"/>
                <a:cs typeface="Inter"/>
                <a:sym typeface="Inter"/>
              </a:rPr>
              <a:t> üzerinde test edilmesini sağladık.</a:t>
            </a:r>
            <a:endParaRPr/>
          </a:p>
        </p:txBody>
      </p:sp>
      <p:sp>
        <p:nvSpPr>
          <p:cNvPr id="202" name="Google Shape;202;p18"/>
          <p:cNvSpPr txBox="1"/>
          <p:nvPr/>
        </p:nvSpPr>
        <p:spPr>
          <a:xfrm>
            <a:off x="571500" y="476250"/>
            <a:ext cx="8931116"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DÜRÜST BÖLME STRATEJISI (GROUP-BASED SPLIT)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6"/>
        <p:cNvGrpSpPr/>
        <p:nvPr/>
      </p:nvGrpSpPr>
      <p:grpSpPr>
        <a:xfrm>
          <a:off x="0" y="0"/>
          <a:ext cx="0" cy="0"/>
          <a:chOff x="0" y="0"/>
          <a:chExt cx="0" cy="0"/>
        </a:xfrm>
      </p:grpSpPr>
      <p:pic>
        <p:nvPicPr>
          <p:cNvPr id="207" name="Google Shape;20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8" name="Google Shape;208;p19" descr="image.png"/>
          <p:cNvPicPr preferRelativeResize="0"/>
          <p:nvPr/>
        </p:nvPicPr>
        <p:blipFill rotWithShape="1">
          <a:blip r:embed="rId4">
            <a:alphaModFix/>
          </a:blip>
          <a:srcRect/>
          <a:stretch/>
        </p:blipFill>
        <p:spPr>
          <a:xfrm>
            <a:off x="571500" y="2536031"/>
            <a:ext cx="5286375" cy="2481262"/>
          </a:xfrm>
          <a:prstGeom prst="rect">
            <a:avLst/>
          </a:prstGeom>
          <a:noFill/>
          <a:ln>
            <a:noFill/>
          </a:ln>
        </p:spPr>
      </p:pic>
      <p:pic>
        <p:nvPicPr>
          <p:cNvPr id="209" name="Google Shape;209;p19" descr="image.png"/>
          <p:cNvPicPr preferRelativeResize="0"/>
          <p:nvPr/>
        </p:nvPicPr>
        <p:blipFill rotWithShape="1">
          <a:blip r:embed="rId5">
            <a:alphaModFix/>
          </a:blip>
          <a:srcRect/>
          <a:stretch/>
        </p:blipFill>
        <p:spPr>
          <a:xfrm>
            <a:off x="581025" y="2545556"/>
            <a:ext cx="5267325" cy="2462212"/>
          </a:xfrm>
          <a:prstGeom prst="rect">
            <a:avLst/>
          </a:prstGeom>
          <a:noFill/>
          <a:ln>
            <a:noFill/>
          </a:ln>
        </p:spPr>
      </p:pic>
      <p:sp>
        <p:nvSpPr>
          <p:cNvPr id="210" name="Google Shape;210;p19"/>
          <p:cNvSpPr txBox="1"/>
          <p:nvPr/>
        </p:nvSpPr>
        <p:spPr>
          <a:xfrm>
            <a:off x="6334125" y="2738437"/>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Compound Scaling Avantajı</a:t>
            </a:r>
            <a:endParaRPr/>
          </a:p>
        </p:txBody>
      </p:sp>
      <p:sp>
        <p:nvSpPr>
          <p:cNvPr id="211" name="Google Shape;211;p19"/>
          <p:cNvSpPr txBox="1"/>
          <p:nvPr/>
        </p:nvSpPr>
        <p:spPr>
          <a:xfrm>
            <a:off x="6334125" y="3186112"/>
            <a:ext cx="5286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EfficientNet, ağın derinliğini, genişliğini ve çözünürlüğünü dengeli bir şekilde ölçeklendirerek maksimum verimlilik sağlar.</a:t>
            </a:r>
            <a:endParaRPr/>
          </a:p>
        </p:txBody>
      </p:sp>
      <p:sp>
        <p:nvSpPr>
          <p:cNvPr id="212" name="Google Shape;212;p19"/>
          <p:cNvSpPr txBox="1"/>
          <p:nvPr/>
        </p:nvSpPr>
        <p:spPr>
          <a:xfrm>
            <a:off x="6619875" y="389096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Inter"/>
                <a:ea typeface="Inter"/>
                <a:cs typeface="Inter"/>
                <a:sym typeface="Inter"/>
              </a:rPr>
              <a:t>•</a:t>
            </a:r>
            <a:endParaRPr/>
          </a:p>
        </p:txBody>
      </p:sp>
      <p:sp>
        <p:nvSpPr>
          <p:cNvPr id="213" name="Google Shape;213;p19"/>
          <p:cNvSpPr txBox="1"/>
          <p:nvPr/>
        </p:nvSpPr>
        <p:spPr>
          <a:xfrm>
            <a:off x="6715125" y="3890962"/>
            <a:ext cx="49053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Parametre Sayısı:</a:t>
            </a:r>
            <a:r>
              <a:rPr lang="en-US" sz="1350" b="0" i="0" u="none" strike="noStrike" cap="none">
                <a:solidFill>
                  <a:srgbClr val="94A3B8"/>
                </a:solidFill>
                <a:latin typeface="Inter"/>
                <a:ea typeface="Inter"/>
                <a:cs typeface="Inter"/>
                <a:sym typeface="Inter"/>
              </a:rPr>
              <a:t> ~5.3 Milyon (Hafif ve Hızlı)</a:t>
            </a:r>
            <a:endParaRPr/>
          </a:p>
        </p:txBody>
      </p:sp>
      <p:sp>
        <p:nvSpPr>
          <p:cNvPr id="214" name="Google Shape;214;p19"/>
          <p:cNvSpPr txBox="1"/>
          <p:nvPr/>
        </p:nvSpPr>
        <p:spPr>
          <a:xfrm>
            <a:off x="6619875" y="414813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Inter"/>
                <a:ea typeface="Inter"/>
                <a:cs typeface="Inter"/>
                <a:sym typeface="Inter"/>
              </a:rPr>
              <a:t>•</a:t>
            </a:r>
            <a:endParaRPr/>
          </a:p>
        </p:txBody>
      </p:sp>
      <p:sp>
        <p:nvSpPr>
          <p:cNvPr id="215" name="Google Shape;215;p19"/>
          <p:cNvSpPr txBox="1"/>
          <p:nvPr/>
        </p:nvSpPr>
        <p:spPr>
          <a:xfrm>
            <a:off x="6715125" y="4148137"/>
            <a:ext cx="49053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Optimizasyon:</a:t>
            </a:r>
            <a:r>
              <a:rPr lang="en-US" sz="1350" b="0" i="0" u="none" strike="noStrike" cap="none">
                <a:solidFill>
                  <a:srgbClr val="94A3B8"/>
                </a:solidFill>
                <a:latin typeface="Inter"/>
                <a:ea typeface="Inter"/>
                <a:cs typeface="Inter"/>
                <a:sym typeface="Inter"/>
              </a:rPr>
              <a:t> Batch Normalization Entegrasyonu</a:t>
            </a:r>
            <a:endParaRPr/>
          </a:p>
        </p:txBody>
      </p:sp>
      <p:sp>
        <p:nvSpPr>
          <p:cNvPr id="216" name="Google Shape;216;p19"/>
          <p:cNvSpPr txBox="1"/>
          <p:nvPr/>
        </p:nvSpPr>
        <p:spPr>
          <a:xfrm>
            <a:off x="6619875" y="440531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94A3B8"/>
                </a:solidFill>
                <a:latin typeface="Inter"/>
                <a:ea typeface="Inter"/>
                <a:cs typeface="Inter"/>
                <a:sym typeface="Inter"/>
              </a:rPr>
              <a:t>•</a:t>
            </a:r>
            <a:endParaRPr/>
          </a:p>
        </p:txBody>
      </p:sp>
      <p:sp>
        <p:nvSpPr>
          <p:cNvPr id="217" name="Google Shape;217;p19"/>
          <p:cNvSpPr txBox="1"/>
          <p:nvPr/>
        </p:nvSpPr>
        <p:spPr>
          <a:xfrm>
            <a:off x="6715125" y="4405312"/>
            <a:ext cx="49053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Inter"/>
                <a:ea typeface="Inter"/>
                <a:cs typeface="Inter"/>
                <a:sym typeface="Inter"/>
              </a:rPr>
              <a:t>Öne Çıkan Özellik:</a:t>
            </a:r>
            <a:r>
              <a:rPr lang="en-US" sz="1350" b="0" i="0" u="none" strike="noStrike" cap="none">
                <a:solidFill>
                  <a:srgbClr val="94A3B8"/>
                </a:solidFill>
                <a:latin typeface="Inter"/>
                <a:ea typeface="Inter"/>
                <a:cs typeface="Inter"/>
                <a:sym typeface="Inter"/>
              </a:rPr>
              <a:t> Compound Scaling verimliliği</a:t>
            </a:r>
            <a:endParaRPr/>
          </a:p>
        </p:txBody>
      </p:sp>
      <p:sp>
        <p:nvSpPr>
          <p:cNvPr id="218" name="Google Shape;218;p19"/>
          <p:cNvSpPr txBox="1"/>
          <p:nvPr/>
        </p:nvSpPr>
        <p:spPr>
          <a:xfrm>
            <a:off x="571500" y="476250"/>
            <a:ext cx="658082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EFFICIENTNET-B0 MIMARI DETAYLARI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2"/>
        <p:cNvGrpSpPr/>
        <p:nvPr/>
      </p:nvGrpSpPr>
      <p:grpSpPr>
        <a:xfrm>
          <a:off x="0" y="0"/>
          <a:ext cx="0" cy="0"/>
          <a:chOff x="0" y="0"/>
          <a:chExt cx="0" cy="0"/>
        </a:xfrm>
      </p:grpSpPr>
      <p:pic>
        <p:nvPicPr>
          <p:cNvPr id="223" name="Google Shape;22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24" name="Google Shape;224;p20"/>
          <p:cNvGraphicFramePr/>
          <p:nvPr>
            <p:extLst>
              <p:ext uri="{D42A27DB-BD31-4B8C-83A1-F6EECF244321}">
                <p14:modId xmlns:p14="http://schemas.microsoft.com/office/powerpoint/2010/main" val="1716989738"/>
              </p:ext>
            </p:extLst>
          </p:nvPr>
        </p:nvGraphicFramePr>
        <p:xfrm>
          <a:off x="571500" y="2647950"/>
          <a:ext cx="11048975" cy="1638250"/>
        </p:xfrm>
        <a:graphic>
          <a:graphicData uri="http://schemas.openxmlformats.org/drawingml/2006/table">
            <a:tbl>
              <a:tblPr firstRow="1" bandRow="1">
                <a:noFill/>
                <a:tableStyleId>{D746D6EE-2022-4A0E-B6AC-B034E0F457E2}</a:tableStyleId>
              </a:tblPr>
              <a:tblGrid>
                <a:gridCol w="1754375">
                  <a:extLst>
                    <a:ext uri="{9D8B030D-6E8A-4147-A177-3AD203B41FA5}">
                      <a16:colId xmlns:a16="http://schemas.microsoft.com/office/drawing/2014/main" val="20000"/>
                    </a:ext>
                  </a:extLst>
                </a:gridCol>
                <a:gridCol w="2169925">
                  <a:extLst>
                    <a:ext uri="{9D8B030D-6E8A-4147-A177-3AD203B41FA5}">
                      <a16:colId xmlns:a16="http://schemas.microsoft.com/office/drawing/2014/main" val="20001"/>
                    </a:ext>
                  </a:extLst>
                </a:gridCol>
                <a:gridCol w="1593325">
                  <a:extLst>
                    <a:ext uri="{9D8B030D-6E8A-4147-A177-3AD203B41FA5}">
                      <a16:colId xmlns:a16="http://schemas.microsoft.com/office/drawing/2014/main" val="20002"/>
                    </a:ext>
                  </a:extLst>
                </a:gridCol>
                <a:gridCol w="1408955">
                  <a:extLst>
                    <a:ext uri="{9D8B030D-6E8A-4147-A177-3AD203B41FA5}">
                      <a16:colId xmlns:a16="http://schemas.microsoft.com/office/drawing/2014/main" val="20003"/>
                    </a:ext>
                  </a:extLst>
                </a:gridCol>
                <a:gridCol w="1569720">
                  <a:extLst>
                    <a:ext uri="{9D8B030D-6E8A-4147-A177-3AD203B41FA5}">
                      <a16:colId xmlns:a16="http://schemas.microsoft.com/office/drawing/2014/main" val="20004"/>
                    </a:ext>
                  </a:extLst>
                </a:gridCol>
                <a:gridCol w="2552675">
                  <a:extLst>
                    <a:ext uri="{9D8B030D-6E8A-4147-A177-3AD203B41FA5}">
                      <a16:colId xmlns:a16="http://schemas.microsoft.com/office/drawing/2014/main" val="20005"/>
                    </a:ext>
                  </a:extLst>
                </a:gridCol>
              </a:tblGrid>
              <a:tr h="327650">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Model Mimarisi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Mimari Türü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Parametre Sayısı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Test Accuracy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F1-Score (Macro)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Öne Çıkan Özellik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27650">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DenseNet-121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Dense (Yoğun)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~8M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tc>
                  <a:txBody>
                    <a:bodyPr/>
                    <a:lstStyle/>
                    <a:p>
                      <a:pPr marL="0" marR="0" lvl="0" indent="0" algn="l" rtl="0">
                        <a:spcBef>
                          <a:spcPts val="0"/>
                        </a:spcBef>
                        <a:spcAft>
                          <a:spcPts val="0"/>
                        </a:spcAft>
                        <a:buNone/>
                      </a:pPr>
                      <a:r>
                        <a:rPr lang="en-US" sz="975" b="1" i="0" u="none" strike="noStrike" cap="none">
                          <a:solidFill>
                            <a:srgbClr val="4ADE80"/>
                          </a:solidFill>
                          <a:latin typeface="Inter"/>
                          <a:ea typeface="Inter"/>
                          <a:cs typeface="Inter"/>
                          <a:sym typeface="Inter"/>
                        </a:rPr>
                        <a:t>%9</a:t>
                      </a:r>
                      <a:r>
                        <a:rPr lang="tr-TR" sz="975" b="1" i="0" u="none" strike="noStrike" cap="none">
                          <a:solidFill>
                            <a:srgbClr val="4ADE80"/>
                          </a:solidFill>
                          <a:latin typeface="Inter"/>
                          <a:ea typeface="Inter"/>
                          <a:cs typeface="Inter"/>
                          <a:sym typeface="Inter"/>
                        </a:rPr>
                        <a:t>8.58</a:t>
                      </a:r>
                      <a:endParaRPr lang="en-US" sz="1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0.9885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Feature Reuse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84F497">
                        <a:alpha val="21176"/>
                      </a:srgbClr>
                    </a:solidFill>
                  </a:tcPr>
                </a:tc>
                <a:extLst>
                  <a:ext uri="{0D108BD9-81ED-4DB2-BD59-A6C34878D82A}">
                    <a16:rowId xmlns:a16="http://schemas.microsoft.com/office/drawing/2014/main" val="10001"/>
                  </a:ext>
                </a:extLst>
              </a:tr>
              <a:tr h="327650">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ResNet-18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Residual (Artık)</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~11.7M</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a:t>
                      </a:r>
                      <a:r>
                        <a:rPr lang="tr-TR" sz="975" b="0" i="0" u="none" strike="noStrike" cap="none">
                          <a:solidFill>
                            <a:srgbClr val="CBD5E1"/>
                          </a:solidFill>
                          <a:latin typeface="Inter"/>
                          <a:ea typeface="Inter"/>
                          <a:cs typeface="Inter"/>
                          <a:sym typeface="Inter"/>
                        </a:rPr>
                        <a:t>7.70</a:t>
                      </a:r>
                      <a:endParaRPr lang="en-US" sz="1000"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0.9</a:t>
                      </a:r>
                      <a:r>
                        <a:rPr lang="tr-TR" sz="975" b="0" i="0" u="none" strike="noStrike" cap="none">
                          <a:solidFill>
                            <a:srgbClr val="CBD5E1"/>
                          </a:solidFill>
                          <a:latin typeface="Inter SemiBold"/>
                          <a:ea typeface="Inter SemiBold"/>
                          <a:cs typeface="Inter SemiBold"/>
                          <a:sym typeface="Inter SemiBold"/>
                        </a:rPr>
                        <a:t>72</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Skip Connections</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3474056113"/>
                  </a:ext>
                </a:extLst>
              </a:tr>
              <a:tr h="327650">
                <a:tc>
                  <a:txBody>
                    <a:bodyPr/>
                    <a:lstStyle/>
                    <a:p>
                      <a:pPr marL="0" marR="0" lvl="0" indent="0" algn="l" rtl="0">
                        <a:spcBef>
                          <a:spcPts val="0"/>
                        </a:spcBef>
                        <a:spcAft>
                          <a:spcPts val="0"/>
                        </a:spcAft>
                        <a:buNone/>
                      </a:pPr>
                      <a:r>
                        <a:rPr lang="tr-TR" sz="975" b="0" i="0" u="none" strike="noStrike" cap="none">
                          <a:solidFill>
                            <a:srgbClr val="CBD5E1"/>
                          </a:solidFill>
                          <a:latin typeface="Inter"/>
                          <a:ea typeface="Inter"/>
                          <a:cs typeface="Inter"/>
                          <a:sym typeface="Inter"/>
                        </a:rPr>
                        <a:t>GoogleNet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strike="noStrike" cap="none">
                          <a:solidFill>
                            <a:srgbClr val="CBD5E1"/>
                          </a:solidFill>
                          <a:latin typeface="Inter"/>
                          <a:ea typeface="Inter"/>
                          <a:cs typeface="Inter"/>
                          <a:sym typeface="Inter"/>
                        </a:rPr>
                        <a:t>Inception(Derin Evrişimli Sinir Ağı)</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dirty="0">
                          <a:solidFill>
                            <a:srgbClr val="CBD5E1"/>
                          </a:solidFill>
                          <a:latin typeface="Inter"/>
                          <a:ea typeface="Inter"/>
                          <a:cs typeface="Inter"/>
                          <a:sym typeface="Inter"/>
                        </a:rPr>
                        <a:t>~</a:t>
                      </a:r>
                      <a:r>
                        <a:rPr lang="tr-TR" sz="975" b="0" i="0" u="none" strike="noStrike" cap="none" dirty="0">
                          <a:solidFill>
                            <a:srgbClr val="CBD5E1"/>
                          </a:solidFill>
                          <a:latin typeface="Inter"/>
                          <a:ea typeface="Inter"/>
                          <a:cs typeface="Inter"/>
                          <a:sym typeface="Inter"/>
                        </a:rPr>
                        <a:t>6.8M</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%96.</a:t>
                      </a:r>
                      <a:r>
                        <a:rPr lang="tr-TR" sz="975" b="0" i="0" u="none" strike="noStrike" cap="none">
                          <a:solidFill>
                            <a:srgbClr val="CBD5E1"/>
                          </a:solidFill>
                          <a:latin typeface="Inter"/>
                          <a:ea typeface="Inter"/>
                          <a:cs typeface="Inter"/>
                          <a:sym typeface="Inter"/>
                        </a:rPr>
                        <a:t>36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a:t>
                      </a:r>
                      <a:r>
                        <a:rPr lang="tr-TR" sz="975" b="0" i="0" u="none" strike="noStrike" cap="none">
                          <a:solidFill>
                            <a:srgbClr val="CBD5E1"/>
                          </a:solidFill>
                          <a:latin typeface="Inter"/>
                          <a:ea typeface="Inter"/>
                          <a:cs typeface="Inter"/>
                          <a:sym typeface="Inter"/>
                        </a:rPr>
                        <a:t>9350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strike="noStrike" cap="none">
                          <a:solidFill>
                            <a:srgbClr val="CBD5E1"/>
                          </a:solidFill>
                          <a:latin typeface="Inter"/>
                          <a:ea typeface="Inter"/>
                          <a:sym typeface="Inter"/>
                        </a:rPr>
                        <a:t>Inception Module(Paralel Evrişim Yapısı)</a:t>
                      </a:r>
                      <a:endParaRPr lang="en-US"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27650">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EfficientNet-B0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Compound Scaling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~5.3M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%95.71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0.88</a:t>
                      </a:r>
                      <a:r>
                        <a:rPr lang="tr-TR" sz="975" b="0" i="0" u="none" strike="noStrike" cap="none">
                          <a:solidFill>
                            <a:srgbClr val="CBD5E1"/>
                          </a:solidFill>
                          <a:latin typeface="Inter"/>
                          <a:ea typeface="Inter"/>
                          <a:cs typeface="Inter"/>
                          <a:sym typeface="Inter"/>
                        </a:rPr>
                        <a:t>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dirty="0" err="1">
                          <a:solidFill>
                            <a:srgbClr val="CBD5E1"/>
                          </a:solidFill>
                          <a:latin typeface="Inter"/>
                          <a:ea typeface="Inter"/>
                          <a:cs typeface="Inter"/>
                          <a:sym typeface="Inter"/>
                        </a:rPr>
                        <a:t>Maksimum</a:t>
                      </a:r>
                      <a:r>
                        <a:rPr lang="en-US" sz="975" b="0" i="0" u="none" strike="noStrike" cap="none" dirty="0">
                          <a:solidFill>
                            <a:srgbClr val="CBD5E1"/>
                          </a:solidFill>
                          <a:latin typeface="Inter"/>
                          <a:ea typeface="Inter"/>
                          <a:cs typeface="Inter"/>
                          <a:sym typeface="Inter"/>
                        </a:rPr>
                        <a:t> </a:t>
                      </a:r>
                      <a:r>
                        <a:rPr lang="en-US" sz="975" b="0" i="0" u="none" strike="noStrike" cap="none" dirty="0" err="1">
                          <a:solidFill>
                            <a:srgbClr val="CBD5E1"/>
                          </a:solidFill>
                          <a:latin typeface="Inter"/>
                          <a:ea typeface="Inter"/>
                          <a:cs typeface="Inter"/>
                          <a:sym typeface="Inter"/>
                        </a:rPr>
                        <a:t>Verimlilik</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225" name="Google Shape;225;p20"/>
          <p:cNvSpPr txBox="1"/>
          <p:nvPr/>
        </p:nvSpPr>
        <p:spPr>
          <a:xfrm>
            <a:off x="571500" y="4476750"/>
            <a:ext cx="110490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tr-TR" sz="1350" i="1" dirty="0">
                <a:solidFill>
                  <a:srgbClr val="94A3B8"/>
                </a:solidFill>
                <a:latin typeface="Inter"/>
                <a:ea typeface="Inter"/>
                <a:cs typeface="Inter"/>
                <a:sym typeface="Inter"/>
              </a:rPr>
              <a:t>EfficientNet-B0</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yüksek</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doğruluk</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sunsa</a:t>
            </a:r>
            <a:r>
              <a:rPr lang="en-US" sz="1350" b="0" i="1" u="none" strike="noStrike" cap="none" dirty="0">
                <a:solidFill>
                  <a:srgbClr val="94A3B8"/>
                </a:solidFill>
                <a:latin typeface="Inter"/>
                <a:ea typeface="Inter"/>
                <a:cs typeface="Inter"/>
                <a:sym typeface="Inter"/>
              </a:rPr>
              <a:t> da, </a:t>
            </a:r>
            <a:r>
              <a:rPr lang="tr-TR" sz="1350" i="1" dirty="0">
                <a:solidFill>
                  <a:srgbClr val="94A3B8"/>
                </a:solidFill>
                <a:latin typeface="Inter"/>
                <a:ea typeface="Inter"/>
                <a:cs typeface="Inter"/>
                <a:sym typeface="Inter"/>
              </a:rPr>
              <a:t>5.3</a:t>
            </a:r>
            <a:r>
              <a:rPr lang="en-US" sz="1350" b="0" i="1" u="none" strike="noStrike" cap="none" dirty="0">
                <a:solidFill>
                  <a:srgbClr val="94A3B8"/>
                </a:solidFill>
                <a:latin typeface="Inter"/>
                <a:ea typeface="Inter"/>
                <a:cs typeface="Inter"/>
                <a:sym typeface="Inter"/>
              </a:rPr>
              <a:t>M </a:t>
            </a:r>
            <a:r>
              <a:rPr lang="en-US" sz="1350" b="0" i="1" u="none" strike="noStrike" cap="none" dirty="0" err="1">
                <a:solidFill>
                  <a:srgbClr val="94A3B8"/>
                </a:solidFill>
                <a:latin typeface="Inter"/>
                <a:ea typeface="Inter"/>
                <a:cs typeface="Inter"/>
                <a:sym typeface="Inter"/>
              </a:rPr>
              <a:t>parametre</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ile</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otonom</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araç</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donanımları</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için</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verimsiz</a:t>
            </a:r>
            <a:r>
              <a:rPr lang="en-US" sz="1350" b="0" i="1" u="none" strike="noStrike" cap="none" dirty="0">
                <a:solidFill>
                  <a:srgbClr val="94A3B8"/>
                </a:solidFill>
                <a:latin typeface="Inter"/>
                <a:ea typeface="Inter"/>
                <a:cs typeface="Inter"/>
                <a:sym typeface="Inter"/>
              </a:rPr>
              <a:t> </a:t>
            </a:r>
            <a:r>
              <a:rPr lang="en-US" sz="1350" b="0" i="1" u="none" strike="noStrike" cap="none" dirty="0" err="1">
                <a:solidFill>
                  <a:srgbClr val="94A3B8"/>
                </a:solidFill>
                <a:latin typeface="Inter"/>
                <a:ea typeface="Inter"/>
                <a:cs typeface="Inter"/>
                <a:sym typeface="Inter"/>
              </a:rPr>
              <a:t>kalmaktadır</a:t>
            </a:r>
            <a:r>
              <a:rPr lang="en-US" sz="1350" b="0" i="1" u="none" strike="noStrike" cap="none" dirty="0">
                <a:solidFill>
                  <a:srgbClr val="94A3B8"/>
                </a:solidFill>
                <a:latin typeface="Inter"/>
                <a:ea typeface="Inter"/>
                <a:cs typeface="Inter"/>
                <a:sym typeface="Inter"/>
              </a:rPr>
              <a:t>.</a:t>
            </a:r>
            <a:endParaRPr dirty="0"/>
          </a:p>
        </p:txBody>
      </p:sp>
      <p:sp>
        <p:nvSpPr>
          <p:cNvPr id="226" name="Google Shape;226;p20"/>
          <p:cNvSpPr/>
          <p:nvPr/>
        </p:nvSpPr>
        <p:spPr>
          <a:xfrm>
            <a:off x="571500" y="3305260"/>
            <a:ext cx="175438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0"/>
          <p:cNvSpPr/>
          <p:nvPr/>
        </p:nvSpPr>
        <p:spPr>
          <a:xfrm>
            <a:off x="2325885" y="3305260"/>
            <a:ext cx="188833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0"/>
          <p:cNvSpPr/>
          <p:nvPr/>
        </p:nvSpPr>
        <p:spPr>
          <a:xfrm>
            <a:off x="4214217" y="3305260"/>
            <a:ext cx="187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0"/>
          <p:cNvSpPr/>
          <p:nvPr/>
        </p:nvSpPr>
        <p:spPr>
          <a:xfrm>
            <a:off x="6089153" y="3305260"/>
            <a:ext cx="163383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0"/>
          <p:cNvSpPr/>
          <p:nvPr/>
        </p:nvSpPr>
        <p:spPr>
          <a:xfrm>
            <a:off x="7722989" y="3305260"/>
            <a:ext cx="191512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0"/>
          <p:cNvSpPr/>
          <p:nvPr/>
        </p:nvSpPr>
        <p:spPr>
          <a:xfrm>
            <a:off x="9638109" y="3305260"/>
            <a:ext cx="198239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2" name="Google Shape;232;p20"/>
          <p:cNvSpPr/>
          <p:nvPr/>
        </p:nvSpPr>
        <p:spPr>
          <a:xfrm>
            <a:off x="571500" y="3652837"/>
            <a:ext cx="175438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0"/>
          <p:cNvSpPr/>
          <p:nvPr/>
        </p:nvSpPr>
        <p:spPr>
          <a:xfrm>
            <a:off x="2325885" y="3652837"/>
            <a:ext cx="188833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20"/>
          <p:cNvSpPr/>
          <p:nvPr/>
        </p:nvSpPr>
        <p:spPr>
          <a:xfrm>
            <a:off x="4214217" y="3652837"/>
            <a:ext cx="187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5" name="Google Shape;235;p20"/>
          <p:cNvSpPr/>
          <p:nvPr/>
        </p:nvSpPr>
        <p:spPr>
          <a:xfrm>
            <a:off x="6089153" y="3652837"/>
            <a:ext cx="163383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6" name="Google Shape;236;p20"/>
          <p:cNvSpPr/>
          <p:nvPr/>
        </p:nvSpPr>
        <p:spPr>
          <a:xfrm>
            <a:off x="7722989" y="3652837"/>
            <a:ext cx="191512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0"/>
          <p:cNvSpPr/>
          <p:nvPr/>
        </p:nvSpPr>
        <p:spPr>
          <a:xfrm>
            <a:off x="9638109" y="3652837"/>
            <a:ext cx="198239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0"/>
          <p:cNvSpPr/>
          <p:nvPr/>
        </p:nvSpPr>
        <p:spPr>
          <a:xfrm>
            <a:off x="571500" y="3967162"/>
            <a:ext cx="175438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0"/>
          <p:cNvSpPr/>
          <p:nvPr/>
        </p:nvSpPr>
        <p:spPr>
          <a:xfrm>
            <a:off x="2325885" y="3967162"/>
            <a:ext cx="188833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0"/>
          <p:cNvSpPr/>
          <p:nvPr/>
        </p:nvSpPr>
        <p:spPr>
          <a:xfrm>
            <a:off x="4214217" y="3967162"/>
            <a:ext cx="187493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0"/>
          <p:cNvSpPr/>
          <p:nvPr/>
        </p:nvSpPr>
        <p:spPr>
          <a:xfrm>
            <a:off x="6089153" y="3967162"/>
            <a:ext cx="163383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0"/>
          <p:cNvSpPr/>
          <p:nvPr/>
        </p:nvSpPr>
        <p:spPr>
          <a:xfrm>
            <a:off x="7722989" y="3967162"/>
            <a:ext cx="191512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0"/>
          <p:cNvSpPr/>
          <p:nvPr/>
        </p:nvSpPr>
        <p:spPr>
          <a:xfrm>
            <a:off x="9638109" y="3967162"/>
            <a:ext cx="198239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4" name="Google Shape;244;p20"/>
          <p:cNvSpPr txBox="1"/>
          <p:nvPr/>
        </p:nvSpPr>
        <p:spPr>
          <a:xfrm>
            <a:off x="571500" y="476250"/>
            <a:ext cx="7130891"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GENEL MODEL KARŞILAŞTIRMA RAPORU</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8"/>
        <p:cNvGrpSpPr/>
        <p:nvPr/>
      </p:nvGrpSpPr>
      <p:grpSpPr>
        <a:xfrm>
          <a:off x="0" y="0"/>
          <a:ext cx="0" cy="0"/>
          <a:chOff x="0" y="0"/>
          <a:chExt cx="0" cy="0"/>
        </a:xfrm>
      </p:grpSpPr>
      <p:pic>
        <p:nvPicPr>
          <p:cNvPr id="249" name="Google Shape;249;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50" name="Google Shape;250;p21"/>
          <p:cNvGraphicFramePr/>
          <p:nvPr>
            <p:extLst>
              <p:ext uri="{D42A27DB-BD31-4B8C-83A1-F6EECF244321}">
                <p14:modId xmlns:p14="http://schemas.microsoft.com/office/powerpoint/2010/main" val="1410887375"/>
              </p:ext>
            </p:extLst>
          </p:nvPr>
        </p:nvGraphicFramePr>
        <p:xfrm>
          <a:off x="571500" y="1857375"/>
          <a:ext cx="5429250" cy="3838500"/>
        </p:xfrm>
        <a:graphic>
          <a:graphicData uri="http://schemas.openxmlformats.org/drawingml/2006/table">
            <a:tbl>
              <a:tblPr firstRow="1" bandRow="1">
                <a:noFill/>
                <a:tableStyleId>{D746D6EE-2022-4A0E-B6AC-B034E0F457E2}</a:tableStyleId>
              </a:tblPr>
              <a:tblGrid>
                <a:gridCol w="604975">
                  <a:extLst>
                    <a:ext uri="{9D8B030D-6E8A-4147-A177-3AD203B41FA5}">
                      <a16:colId xmlns:a16="http://schemas.microsoft.com/office/drawing/2014/main" val="20000"/>
                    </a:ext>
                  </a:extLst>
                </a:gridCol>
                <a:gridCol w="1417000">
                  <a:extLst>
                    <a:ext uri="{9D8B030D-6E8A-4147-A177-3AD203B41FA5}">
                      <a16:colId xmlns:a16="http://schemas.microsoft.com/office/drawing/2014/main" val="20001"/>
                    </a:ext>
                  </a:extLst>
                </a:gridCol>
                <a:gridCol w="1034800">
                  <a:extLst>
                    <a:ext uri="{9D8B030D-6E8A-4147-A177-3AD203B41FA5}">
                      <a16:colId xmlns:a16="http://schemas.microsoft.com/office/drawing/2014/main" val="20002"/>
                    </a:ext>
                  </a:extLst>
                </a:gridCol>
                <a:gridCol w="1353300">
                  <a:extLst>
                    <a:ext uri="{9D8B030D-6E8A-4147-A177-3AD203B41FA5}">
                      <a16:colId xmlns:a16="http://schemas.microsoft.com/office/drawing/2014/main" val="20003"/>
                    </a:ext>
                  </a:extLst>
                </a:gridCol>
                <a:gridCol w="101917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dirty="0">
                          <a:solidFill>
                            <a:srgbClr val="EF4444"/>
                          </a:solidFill>
                          <a:latin typeface="Inter"/>
                          <a:ea typeface="Inter"/>
                          <a:cs typeface="Inter"/>
                          <a:sym typeface="Inter"/>
                        </a:rPr>
                        <a:t>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420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480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dirty="0">
                          <a:solidFill>
                            <a:srgbClr val="CBD5E1"/>
                          </a:solidFill>
                          <a:latin typeface="Inter"/>
                          <a:ea typeface="Inter"/>
                          <a:cs typeface="Inter"/>
                          <a:sym typeface="Inter"/>
                        </a:rPr>
                        <a:t>450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graphicFrame>
        <p:nvGraphicFramePr>
          <p:cNvPr id="251" name="Google Shape;251;p21"/>
          <p:cNvGraphicFramePr/>
          <p:nvPr>
            <p:extLst>
              <p:ext uri="{D42A27DB-BD31-4B8C-83A1-F6EECF244321}">
                <p14:modId xmlns:p14="http://schemas.microsoft.com/office/powerpoint/2010/main" val="3500459964"/>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33125">
                  <a:extLst>
                    <a:ext uri="{9D8B030D-6E8A-4147-A177-3AD203B41FA5}">
                      <a16:colId xmlns:a16="http://schemas.microsoft.com/office/drawing/2014/main" val="20000"/>
                    </a:ext>
                  </a:extLst>
                </a:gridCol>
                <a:gridCol w="1408650">
                  <a:extLst>
                    <a:ext uri="{9D8B030D-6E8A-4147-A177-3AD203B41FA5}">
                      <a16:colId xmlns:a16="http://schemas.microsoft.com/office/drawing/2014/main" val="20001"/>
                    </a:ext>
                  </a:extLst>
                </a:gridCol>
                <a:gridCol w="1028850">
                  <a:extLst>
                    <a:ext uri="{9D8B030D-6E8A-4147-A177-3AD203B41FA5}">
                      <a16:colId xmlns:a16="http://schemas.microsoft.com/office/drawing/2014/main" val="20002"/>
                    </a:ext>
                  </a:extLst>
                </a:gridCol>
                <a:gridCol w="1345400">
                  <a:extLst>
                    <a:ext uri="{9D8B030D-6E8A-4147-A177-3AD203B41FA5}">
                      <a16:colId xmlns:a16="http://schemas.microsoft.com/office/drawing/2014/main" val="20003"/>
                    </a:ext>
                  </a:extLst>
                </a:gridCol>
                <a:gridCol w="101322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0.947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0.972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0.944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0.971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570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0.976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0.974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0.625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0.761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0.697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0.821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252" name="Google Shape;252;p21"/>
          <p:cNvSpPr/>
          <p:nvPr/>
        </p:nvSpPr>
        <p:spPr>
          <a:xfrm>
            <a:off x="571500" y="25479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1"/>
          <p:cNvSpPr/>
          <p:nvPr/>
        </p:nvSpPr>
        <p:spPr>
          <a:xfrm>
            <a:off x="1176486" y="25479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1"/>
          <p:cNvSpPr/>
          <p:nvPr/>
        </p:nvSpPr>
        <p:spPr>
          <a:xfrm>
            <a:off x="2593478" y="25479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1"/>
          <p:cNvSpPr/>
          <p:nvPr/>
        </p:nvSpPr>
        <p:spPr>
          <a:xfrm>
            <a:off x="3628280" y="25479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1"/>
          <p:cNvSpPr/>
          <p:nvPr/>
        </p:nvSpPr>
        <p:spPr>
          <a:xfrm>
            <a:off x="4981575" y="25479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1"/>
          <p:cNvSpPr/>
          <p:nvPr/>
        </p:nvSpPr>
        <p:spPr>
          <a:xfrm>
            <a:off x="571500" y="28622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1"/>
          <p:cNvSpPr/>
          <p:nvPr/>
        </p:nvSpPr>
        <p:spPr>
          <a:xfrm>
            <a:off x="1176486" y="28622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1"/>
          <p:cNvSpPr/>
          <p:nvPr/>
        </p:nvSpPr>
        <p:spPr>
          <a:xfrm>
            <a:off x="2593478" y="28622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1"/>
          <p:cNvSpPr/>
          <p:nvPr/>
        </p:nvSpPr>
        <p:spPr>
          <a:xfrm>
            <a:off x="3628280" y="28622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1"/>
          <p:cNvSpPr/>
          <p:nvPr/>
        </p:nvSpPr>
        <p:spPr>
          <a:xfrm>
            <a:off x="4981575" y="28622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1"/>
          <p:cNvSpPr/>
          <p:nvPr/>
        </p:nvSpPr>
        <p:spPr>
          <a:xfrm>
            <a:off x="571500" y="317658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1"/>
          <p:cNvSpPr/>
          <p:nvPr/>
        </p:nvSpPr>
        <p:spPr>
          <a:xfrm>
            <a:off x="1176486" y="317658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1"/>
          <p:cNvSpPr/>
          <p:nvPr/>
        </p:nvSpPr>
        <p:spPr>
          <a:xfrm>
            <a:off x="2593478" y="317658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1"/>
          <p:cNvSpPr/>
          <p:nvPr/>
        </p:nvSpPr>
        <p:spPr>
          <a:xfrm>
            <a:off x="3628280" y="317658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1"/>
          <p:cNvSpPr/>
          <p:nvPr/>
        </p:nvSpPr>
        <p:spPr>
          <a:xfrm>
            <a:off x="4981575" y="317658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1"/>
          <p:cNvSpPr/>
          <p:nvPr/>
        </p:nvSpPr>
        <p:spPr>
          <a:xfrm>
            <a:off x="571500" y="349091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21"/>
          <p:cNvSpPr/>
          <p:nvPr/>
        </p:nvSpPr>
        <p:spPr>
          <a:xfrm>
            <a:off x="1176486" y="349091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1"/>
          <p:cNvSpPr/>
          <p:nvPr/>
        </p:nvSpPr>
        <p:spPr>
          <a:xfrm>
            <a:off x="2593478" y="349091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21"/>
          <p:cNvSpPr/>
          <p:nvPr/>
        </p:nvSpPr>
        <p:spPr>
          <a:xfrm>
            <a:off x="3628280" y="349091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1"/>
          <p:cNvSpPr/>
          <p:nvPr/>
        </p:nvSpPr>
        <p:spPr>
          <a:xfrm>
            <a:off x="4981575" y="349091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1"/>
          <p:cNvSpPr/>
          <p:nvPr/>
        </p:nvSpPr>
        <p:spPr>
          <a:xfrm>
            <a:off x="571500" y="38052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1"/>
          <p:cNvSpPr/>
          <p:nvPr/>
        </p:nvSpPr>
        <p:spPr>
          <a:xfrm>
            <a:off x="1176486" y="38052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1"/>
          <p:cNvSpPr/>
          <p:nvPr/>
        </p:nvSpPr>
        <p:spPr>
          <a:xfrm>
            <a:off x="2593478" y="38052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1"/>
          <p:cNvSpPr/>
          <p:nvPr/>
        </p:nvSpPr>
        <p:spPr>
          <a:xfrm>
            <a:off x="3628280" y="38052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1"/>
          <p:cNvSpPr/>
          <p:nvPr/>
        </p:nvSpPr>
        <p:spPr>
          <a:xfrm>
            <a:off x="4981575" y="38052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1"/>
          <p:cNvSpPr/>
          <p:nvPr/>
        </p:nvSpPr>
        <p:spPr>
          <a:xfrm>
            <a:off x="571500" y="41195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1"/>
          <p:cNvSpPr/>
          <p:nvPr/>
        </p:nvSpPr>
        <p:spPr>
          <a:xfrm>
            <a:off x="1176486" y="41195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1"/>
          <p:cNvSpPr/>
          <p:nvPr/>
        </p:nvSpPr>
        <p:spPr>
          <a:xfrm>
            <a:off x="2593478" y="41195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1"/>
          <p:cNvSpPr/>
          <p:nvPr/>
        </p:nvSpPr>
        <p:spPr>
          <a:xfrm>
            <a:off x="3628280" y="41195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1"/>
          <p:cNvSpPr/>
          <p:nvPr/>
        </p:nvSpPr>
        <p:spPr>
          <a:xfrm>
            <a:off x="4981575" y="41195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1"/>
          <p:cNvSpPr/>
          <p:nvPr/>
        </p:nvSpPr>
        <p:spPr>
          <a:xfrm>
            <a:off x="571500" y="443388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1"/>
          <p:cNvSpPr/>
          <p:nvPr/>
        </p:nvSpPr>
        <p:spPr>
          <a:xfrm>
            <a:off x="1176486" y="443388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1"/>
          <p:cNvSpPr/>
          <p:nvPr/>
        </p:nvSpPr>
        <p:spPr>
          <a:xfrm>
            <a:off x="2593478" y="443388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1"/>
          <p:cNvSpPr/>
          <p:nvPr/>
        </p:nvSpPr>
        <p:spPr>
          <a:xfrm>
            <a:off x="3628280" y="443388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1"/>
          <p:cNvSpPr/>
          <p:nvPr/>
        </p:nvSpPr>
        <p:spPr>
          <a:xfrm>
            <a:off x="4981575" y="443388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1"/>
          <p:cNvSpPr/>
          <p:nvPr/>
        </p:nvSpPr>
        <p:spPr>
          <a:xfrm>
            <a:off x="571500" y="474821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1"/>
          <p:cNvSpPr/>
          <p:nvPr/>
        </p:nvSpPr>
        <p:spPr>
          <a:xfrm>
            <a:off x="1176486" y="474821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1"/>
          <p:cNvSpPr/>
          <p:nvPr/>
        </p:nvSpPr>
        <p:spPr>
          <a:xfrm>
            <a:off x="2593478" y="474821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1"/>
          <p:cNvSpPr/>
          <p:nvPr/>
        </p:nvSpPr>
        <p:spPr>
          <a:xfrm>
            <a:off x="3628280" y="474821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1"/>
          <p:cNvSpPr/>
          <p:nvPr/>
        </p:nvSpPr>
        <p:spPr>
          <a:xfrm>
            <a:off x="4981575" y="474821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2" name="Google Shape;292;p21"/>
          <p:cNvSpPr/>
          <p:nvPr/>
        </p:nvSpPr>
        <p:spPr>
          <a:xfrm>
            <a:off x="571500" y="50625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1"/>
          <p:cNvSpPr/>
          <p:nvPr/>
        </p:nvSpPr>
        <p:spPr>
          <a:xfrm>
            <a:off x="1176486" y="50625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21"/>
          <p:cNvSpPr/>
          <p:nvPr/>
        </p:nvSpPr>
        <p:spPr>
          <a:xfrm>
            <a:off x="2593478" y="50625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1"/>
          <p:cNvSpPr/>
          <p:nvPr/>
        </p:nvSpPr>
        <p:spPr>
          <a:xfrm>
            <a:off x="3628280" y="50625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21"/>
          <p:cNvSpPr/>
          <p:nvPr/>
        </p:nvSpPr>
        <p:spPr>
          <a:xfrm>
            <a:off x="4981575" y="50625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1"/>
          <p:cNvSpPr/>
          <p:nvPr/>
        </p:nvSpPr>
        <p:spPr>
          <a:xfrm>
            <a:off x="571500" y="53768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21"/>
          <p:cNvSpPr/>
          <p:nvPr/>
        </p:nvSpPr>
        <p:spPr>
          <a:xfrm>
            <a:off x="1176486" y="53768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9" name="Google Shape;299;p21"/>
          <p:cNvSpPr/>
          <p:nvPr/>
        </p:nvSpPr>
        <p:spPr>
          <a:xfrm>
            <a:off x="2593478" y="53768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21"/>
          <p:cNvSpPr/>
          <p:nvPr/>
        </p:nvSpPr>
        <p:spPr>
          <a:xfrm>
            <a:off x="3628280" y="53768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1"/>
          <p:cNvSpPr/>
          <p:nvPr/>
        </p:nvSpPr>
        <p:spPr>
          <a:xfrm>
            <a:off x="4981575" y="53768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21"/>
          <p:cNvSpPr/>
          <p:nvPr/>
        </p:nvSpPr>
        <p:spPr>
          <a:xfrm>
            <a:off x="6191250" y="25479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21"/>
          <p:cNvSpPr/>
          <p:nvPr/>
        </p:nvSpPr>
        <p:spPr>
          <a:xfrm>
            <a:off x="6824364" y="25479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21"/>
          <p:cNvSpPr/>
          <p:nvPr/>
        </p:nvSpPr>
        <p:spPr>
          <a:xfrm>
            <a:off x="8233023" y="25479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21"/>
          <p:cNvSpPr/>
          <p:nvPr/>
        </p:nvSpPr>
        <p:spPr>
          <a:xfrm>
            <a:off x="9261871" y="25479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21"/>
          <p:cNvSpPr/>
          <p:nvPr/>
        </p:nvSpPr>
        <p:spPr>
          <a:xfrm>
            <a:off x="10607278" y="25479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1"/>
          <p:cNvSpPr/>
          <p:nvPr/>
        </p:nvSpPr>
        <p:spPr>
          <a:xfrm>
            <a:off x="6191250" y="28622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1"/>
          <p:cNvSpPr/>
          <p:nvPr/>
        </p:nvSpPr>
        <p:spPr>
          <a:xfrm>
            <a:off x="6824364" y="28622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1"/>
          <p:cNvSpPr/>
          <p:nvPr/>
        </p:nvSpPr>
        <p:spPr>
          <a:xfrm>
            <a:off x="8233023" y="28622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21"/>
          <p:cNvSpPr/>
          <p:nvPr/>
        </p:nvSpPr>
        <p:spPr>
          <a:xfrm>
            <a:off x="9261871" y="28622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1"/>
          <p:cNvSpPr/>
          <p:nvPr/>
        </p:nvSpPr>
        <p:spPr>
          <a:xfrm>
            <a:off x="10607278" y="28622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p21"/>
          <p:cNvSpPr/>
          <p:nvPr/>
        </p:nvSpPr>
        <p:spPr>
          <a:xfrm>
            <a:off x="6191250" y="31765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1"/>
          <p:cNvSpPr/>
          <p:nvPr/>
        </p:nvSpPr>
        <p:spPr>
          <a:xfrm>
            <a:off x="6824364" y="31765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4" name="Google Shape;314;p21"/>
          <p:cNvSpPr/>
          <p:nvPr/>
        </p:nvSpPr>
        <p:spPr>
          <a:xfrm>
            <a:off x="8233023" y="31765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1"/>
          <p:cNvSpPr/>
          <p:nvPr/>
        </p:nvSpPr>
        <p:spPr>
          <a:xfrm>
            <a:off x="9261871" y="31765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1"/>
          <p:cNvSpPr/>
          <p:nvPr/>
        </p:nvSpPr>
        <p:spPr>
          <a:xfrm>
            <a:off x="10607278" y="31765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1"/>
          <p:cNvSpPr/>
          <p:nvPr/>
        </p:nvSpPr>
        <p:spPr>
          <a:xfrm>
            <a:off x="6191250" y="34909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8" name="Google Shape;318;p21"/>
          <p:cNvSpPr/>
          <p:nvPr/>
        </p:nvSpPr>
        <p:spPr>
          <a:xfrm>
            <a:off x="6824364" y="34909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9" name="Google Shape;319;p21"/>
          <p:cNvSpPr/>
          <p:nvPr/>
        </p:nvSpPr>
        <p:spPr>
          <a:xfrm>
            <a:off x="8233023" y="34909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0" name="Google Shape;320;p21"/>
          <p:cNvSpPr/>
          <p:nvPr/>
        </p:nvSpPr>
        <p:spPr>
          <a:xfrm>
            <a:off x="9261871" y="34909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1"/>
          <p:cNvSpPr/>
          <p:nvPr/>
        </p:nvSpPr>
        <p:spPr>
          <a:xfrm>
            <a:off x="10607278" y="34909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2" name="Google Shape;322;p21"/>
          <p:cNvSpPr/>
          <p:nvPr/>
        </p:nvSpPr>
        <p:spPr>
          <a:xfrm>
            <a:off x="6191250" y="38052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p21"/>
          <p:cNvSpPr/>
          <p:nvPr/>
        </p:nvSpPr>
        <p:spPr>
          <a:xfrm>
            <a:off x="6824364" y="38052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4" name="Google Shape;324;p21"/>
          <p:cNvSpPr/>
          <p:nvPr/>
        </p:nvSpPr>
        <p:spPr>
          <a:xfrm>
            <a:off x="8233023" y="38052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5" name="Google Shape;325;p21"/>
          <p:cNvSpPr/>
          <p:nvPr/>
        </p:nvSpPr>
        <p:spPr>
          <a:xfrm>
            <a:off x="9261871" y="38052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326;p21"/>
          <p:cNvSpPr/>
          <p:nvPr/>
        </p:nvSpPr>
        <p:spPr>
          <a:xfrm>
            <a:off x="10607278" y="38052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7" name="Google Shape;327;p21"/>
          <p:cNvSpPr/>
          <p:nvPr/>
        </p:nvSpPr>
        <p:spPr>
          <a:xfrm>
            <a:off x="6191250" y="41195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8" name="Google Shape;328;p21"/>
          <p:cNvSpPr/>
          <p:nvPr/>
        </p:nvSpPr>
        <p:spPr>
          <a:xfrm>
            <a:off x="6824364" y="41195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329;p21"/>
          <p:cNvSpPr/>
          <p:nvPr/>
        </p:nvSpPr>
        <p:spPr>
          <a:xfrm>
            <a:off x="8233023" y="41195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0" name="Google Shape;330;p21"/>
          <p:cNvSpPr/>
          <p:nvPr/>
        </p:nvSpPr>
        <p:spPr>
          <a:xfrm>
            <a:off x="9261871" y="41195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1" name="Google Shape;331;p21"/>
          <p:cNvSpPr/>
          <p:nvPr/>
        </p:nvSpPr>
        <p:spPr>
          <a:xfrm>
            <a:off x="10607278" y="41195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2" name="Google Shape;332;p21"/>
          <p:cNvSpPr/>
          <p:nvPr/>
        </p:nvSpPr>
        <p:spPr>
          <a:xfrm>
            <a:off x="6191250" y="44338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3" name="Google Shape;333;p21"/>
          <p:cNvSpPr/>
          <p:nvPr/>
        </p:nvSpPr>
        <p:spPr>
          <a:xfrm>
            <a:off x="6824364" y="44338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p21"/>
          <p:cNvSpPr/>
          <p:nvPr/>
        </p:nvSpPr>
        <p:spPr>
          <a:xfrm>
            <a:off x="8233023" y="44338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5" name="Google Shape;335;p21"/>
          <p:cNvSpPr/>
          <p:nvPr/>
        </p:nvSpPr>
        <p:spPr>
          <a:xfrm>
            <a:off x="9261871" y="44338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Google Shape;336;p21"/>
          <p:cNvSpPr/>
          <p:nvPr/>
        </p:nvSpPr>
        <p:spPr>
          <a:xfrm>
            <a:off x="10607278" y="44338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7" name="Google Shape;337;p21"/>
          <p:cNvSpPr/>
          <p:nvPr/>
        </p:nvSpPr>
        <p:spPr>
          <a:xfrm>
            <a:off x="6191250" y="47482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8" name="Google Shape;338;p21"/>
          <p:cNvSpPr/>
          <p:nvPr/>
        </p:nvSpPr>
        <p:spPr>
          <a:xfrm>
            <a:off x="6824364" y="47482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9" name="Google Shape;339;p21"/>
          <p:cNvSpPr/>
          <p:nvPr/>
        </p:nvSpPr>
        <p:spPr>
          <a:xfrm>
            <a:off x="8233023" y="47482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21"/>
          <p:cNvSpPr/>
          <p:nvPr/>
        </p:nvSpPr>
        <p:spPr>
          <a:xfrm>
            <a:off x="9261871" y="47482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1"/>
          <p:cNvSpPr/>
          <p:nvPr/>
        </p:nvSpPr>
        <p:spPr>
          <a:xfrm>
            <a:off x="10607278" y="47482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1"/>
          <p:cNvSpPr/>
          <p:nvPr/>
        </p:nvSpPr>
        <p:spPr>
          <a:xfrm>
            <a:off x="6191250" y="50625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1"/>
          <p:cNvSpPr/>
          <p:nvPr/>
        </p:nvSpPr>
        <p:spPr>
          <a:xfrm>
            <a:off x="6824364" y="50625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1"/>
          <p:cNvSpPr/>
          <p:nvPr/>
        </p:nvSpPr>
        <p:spPr>
          <a:xfrm>
            <a:off x="8233023" y="50625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1"/>
          <p:cNvSpPr/>
          <p:nvPr/>
        </p:nvSpPr>
        <p:spPr>
          <a:xfrm>
            <a:off x="9261871" y="50625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1"/>
          <p:cNvSpPr/>
          <p:nvPr/>
        </p:nvSpPr>
        <p:spPr>
          <a:xfrm>
            <a:off x="10607278" y="50625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1"/>
          <p:cNvSpPr/>
          <p:nvPr/>
        </p:nvSpPr>
        <p:spPr>
          <a:xfrm>
            <a:off x="6191250" y="53768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1"/>
          <p:cNvSpPr/>
          <p:nvPr/>
        </p:nvSpPr>
        <p:spPr>
          <a:xfrm>
            <a:off x="6824364" y="53768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9" name="Google Shape;349;p21"/>
          <p:cNvSpPr/>
          <p:nvPr/>
        </p:nvSpPr>
        <p:spPr>
          <a:xfrm>
            <a:off x="8233023" y="53768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1"/>
          <p:cNvSpPr/>
          <p:nvPr/>
        </p:nvSpPr>
        <p:spPr>
          <a:xfrm>
            <a:off x="9261871" y="53768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p21"/>
          <p:cNvSpPr/>
          <p:nvPr/>
        </p:nvSpPr>
        <p:spPr>
          <a:xfrm>
            <a:off x="10607278" y="53768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2" name="Google Shape;352;p21"/>
          <p:cNvSpPr txBox="1"/>
          <p:nvPr/>
        </p:nvSpPr>
        <p:spPr>
          <a:xfrm>
            <a:off x="571500" y="476250"/>
            <a:ext cx="8921115"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EFFICIENTNET-B0: SINIF BAZLI PERFORMANS (0-21)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56"/>
        <p:cNvGrpSpPr/>
        <p:nvPr/>
      </p:nvGrpSpPr>
      <p:grpSpPr>
        <a:xfrm>
          <a:off x="0" y="0"/>
          <a:ext cx="0" cy="0"/>
          <a:chOff x="0" y="0"/>
          <a:chExt cx="0" cy="0"/>
        </a:xfrm>
      </p:grpSpPr>
      <p:pic>
        <p:nvPicPr>
          <p:cNvPr id="357" name="Google Shape;357;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358" name="Google Shape;358;p22"/>
          <p:cNvGraphicFramePr/>
          <p:nvPr>
            <p:extLst>
              <p:ext uri="{D42A27DB-BD31-4B8C-83A1-F6EECF244321}">
                <p14:modId xmlns:p14="http://schemas.microsoft.com/office/powerpoint/2010/main" val="2458412188"/>
              </p:ext>
            </p:extLst>
          </p:nvPr>
        </p:nvGraphicFramePr>
        <p:xfrm>
          <a:off x="571500" y="1872564"/>
          <a:ext cx="5429275" cy="3884395"/>
        </p:xfrm>
        <a:graphic>
          <a:graphicData uri="http://schemas.openxmlformats.org/drawingml/2006/table">
            <a:tbl>
              <a:tblPr firstRow="1" bandRow="1">
                <a:noFill/>
                <a:tableStyleId>{D746D6EE-2022-4A0E-B6AC-B034E0F457E2}</a:tableStyleId>
              </a:tblPr>
              <a:tblGrid>
                <a:gridCol w="795200">
                  <a:extLst>
                    <a:ext uri="{9D8B030D-6E8A-4147-A177-3AD203B41FA5}">
                      <a16:colId xmlns:a16="http://schemas.microsoft.com/office/drawing/2014/main" val="20000"/>
                    </a:ext>
                  </a:extLst>
                </a:gridCol>
                <a:gridCol w="1361025">
                  <a:extLst>
                    <a:ext uri="{9D8B030D-6E8A-4147-A177-3AD203B41FA5}">
                      <a16:colId xmlns:a16="http://schemas.microsoft.com/office/drawing/2014/main" val="20001"/>
                    </a:ext>
                  </a:extLst>
                </a:gridCol>
                <a:gridCol w="994025">
                  <a:extLst>
                    <a:ext uri="{9D8B030D-6E8A-4147-A177-3AD203B41FA5}">
                      <a16:colId xmlns:a16="http://schemas.microsoft.com/office/drawing/2014/main" val="20002"/>
                    </a:ext>
                  </a:extLst>
                </a:gridCol>
                <a:gridCol w="1299875">
                  <a:extLst>
                    <a:ext uri="{9D8B030D-6E8A-4147-A177-3AD203B41FA5}">
                      <a16:colId xmlns:a16="http://schemas.microsoft.com/office/drawing/2014/main" val="20003"/>
                    </a:ext>
                  </a:extLst>
                </a:gridCol>
                <a:gridCol w="979150">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0.844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0.953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0.994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0.967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0.983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31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a:ea typeface="Inter"/>
                          <a:cs typeface="Inter"/>
                          <a:sym typeface="Inter"/>
                        </a:rPr>
                        <a:t>270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Sum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strike="noStrike" cap="none">
                          <a:solidFill>
                            <a:srgbClr val="CBD5E1"/>
                          </a:solidFill>
                          <a:latin typeface="Inter SemiBold"/>
                          <a:ea typeface="Inter SemiBold"/>
                          <a:cs typeface="Inter SemiBold"/>
                          <a:sym typeface="Inter SemiBold"/>
                        </a:rPr>
                        <a:t>Micro Avg Accuracy: 0.9571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graphicFrame>
        <p:nvGraphicFramePr>
          <p:cNvPr id="359" name="Google Shape;359;p22"/>
          <p:cNvGraphicFramePr/>
          <p:nvPr>
            <p:extLst>
              <p:ext uri="{D42A27DB-BD31-4B8C-83A1-F6EECF244321}">
                <p14:modId xmlns:p14="http://schemas.microsoft.com/office/powerpoint/2010/main" val="3909514656"/>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33125">
                  <a:extLst>
                    <a:ext uri="{9D8B030D-6E8A-4147-A177-3AD203B41FA5}">
                      <a16:colId xmlns:a16="http://schemas.microsoft.com/office/drawing/2014/main" val="20000"/>
                    </a:ext>
                  </a:extLst>
                </a:gridCol>
                <a:gridCol w="1408650">
                  <a:extLst>
                    <a:ext uri="{9D8B030D-6E8A-4147-A177-3AD203B41FA5}">
                      <a16:colId xmlns:a16="http://schemas.microsoft.com/office/drawing/2014/main" val="20001"/>
                    </a:ext>
                  </a:extLst>
                </a:gridCol>
                <a:gridCol w="1028850">
                  <a:extLst>
                    <a:ext uri="{9D8B030D-6E8A-4147-A177-3AD203B41FA5}">
                      <a16:colId xmlns:a16="http://schemas.microsoft.com/office/drawing/2014/main" val="20002"/>
                    </a:ext>
                  </a:extLst>
                </a:gridCol>
                <a:gridCol w="1345400">
                  <a:extLst>
                    <a:ext uri="{9D8B030D-6E8A-4147-A177-3AD203B41FA5}">
                      <a16:colId xmlns:a16="http://schemas.microsoft.com/office/drawing/2014/main" val="20003"/>
                    </a:ext>
                  </a:extLst>
                </a:gridCol>
                <a:gridCol w="101322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0.866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0.787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0.848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a:solidFill>
                            <a:srgbClr val="EF4444"/>
                          </a:solidFill>
                          <a:latin typeface="Inter"/>
                          <a:ea typeface="Inter"/>
                          <a:cs typeface="Inter"/>
                          <a:sym typeface="Inter"/>
                        </a:rPr>
                        <a:t>0.283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0.441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0.703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a:solidFill>
                            <a:srgbClr val="EF4444"/>
                          </a:solidFill>
                          <a:latin typeface="Inter"/>
                          <a:ea typeface="Inter"/>
                          <a:cs typeface="Inter"/>
                          <a:sym typeface="Inter"/>
                        </a:rPr>
                        <a:t>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0.922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0.959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360" name="Google Shape;360;p22"/>
          <p:cNvSpPr/>
          <p:nvPr/>
        </p:nvSpPr>
        <p:spPr>
          <a:xfrm>
            <a:off x="571500" y="254793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22"/>
          <p:cNvSpPr/>
          <p:nvPr/>
        </p:nvSpPr>
        <p:spPr>
          <a:xfrm>
            <a:off x="1366688" y="254793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2" name="Google Shape;362;p22"/>
          <p:cNvSpPr/>
          <p:nvPr/>
        </p:nvSpPr>
        <p:spPr>
          <a:xfrm>
            <a:off x="2727721" y="254793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3" name="Google Shape;363;p22"/>
          <p:cNvSpPr/>
          <p:nvPr/>
        </p:nvSpPr>
        <p:spPr>
          <a:xfrm>
            <a:off x="3721744" y="254793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2"/>
          <p:cNvSpPr/>
          <p:nvPr/>
        </p:nvSpPr>
        <p:spPr>
          <a:xfrm>
            <a:off x="5021609" y="254793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5" name="Google Shape;365;p22"/>
          <p:cNvSpPr/>
          <p:nvPr/>
        </p:nvSpPr>
        <p:spPr>
          <a:xfrm>
            <a:off x="571500" y="286226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22"/>
          <p:cNvSpPr/>
          <p:nvPr/>
        </p:nvSpPr>
        <p:spPr>
          <a:xfrm>
            <a:off x="1366688" y="286226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7" name="Google Shape;367;p22"/>
          <p:cNvSpPr/>
          <p:nvPr/>
        </p:nvSpPr>
        <p:spPr>
          <a:xfrm>
            <a:off x="2727721" y="286226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2"/>
          <p:cNvSpPr/>
          <p:nvPr/>
        </p:nvSpPr>
        <p:spPr>
          <a:xfrm>
            <a:off x="3721744" y="286226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9" name="Google Shape;369;p22"/>
          <p:cNvSpPr/>
          <p:nvPr/>
        </p:nvSpPr>
        <p:spPr>
          <a:xfrm>
            <a:off x="5021609" y="286226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2"/>
          <p:cNvSpPr/>
          <p:nvPr/>
        </p:nvSpPr>
        <p:spPr>
          <a:xfrm>
            <a:off x="571500" y="317658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1" name="Google Shape;371;p22"/>
          <p:cNvSpPr/>
          <p:nvPr/>
        </p:nvSpPr>
        <p:spPr>
          <a:xfrm>
            <a:off x="1366688" y="317658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2"/>
          <p:cNvSpPr/>
          <p:nvPr/>
        </p:nvSpPr>
        <p:spPr>
          <a:xfrm>
            <a:off x="2727721" y="317658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3" name="Google Shape;373;p22"/>
          <p:cNvSpPr/>
          <p:nvPr/>
        </p:nvSpPr>
        <p:spPr>
          <a:xfrm>
            <a:off x="3721744" y="317658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2"/>
          <p:cNvSpPr/>
          <p:nvPr/>
        </p:nvSpPr>
        <p:spPr>
          <a:xfrm>
            <a:off x="5021609" y="317658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5" name="Google Shape;375;p22"/>
          <p:cNvSpPr/>
          <p:nvPr/>
        </p:nvSpPr>
        <p:spPr>
          <a:xfrm>
            <a:off x="571500" y="349091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2"/>
          <p:cNvSpPr/>
          <p:nvPr/>
        </p:nvSpPr>
        <p:spPr>
          <a:xfrm>
            <a:off x="1366688" y="349091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2"/>
          <p:cNvSpPr/>
          <p:nvPr/>
        </p:nvSpPr>
        <p:spPr>
          <a:xfrm>
            <a:off x="2727721" y="349091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2"/>
          <p:cNvSpPr/>
          <p:nvPr/>
        </p:nvSpPr>
        <p:spPr>
          <a:xfrm>
            <a:off x="3721744" y="349091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9" name="Google Shape;379;p22"/>
          <p:cNvSpPr/>
          <p:nvPr/>
        </p:nvSpPr>
        <p:spPr>
          <a:xfrm>
            <a:off x="5021609" y="349091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0" name="Google Shape;380;p22"/>
          <p:cNvSpPr/>
          <p:nvPr/>
        </p:nvSpPr>
        <p:spPr>
          <a:xfrm>
            <a:off x="571500" y="380523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1" name="Google Shape;381;p22"/>
          <p:cNvSpPr/>
          <p:nvPr/>
        </p:nvSpPr>
        <p:spPr>
          <a:xfrm>
            <a:off x="1366688" y="380523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2" name="Google Shape;382;p22"/>
          <p:cNvSpPr/>
          <p:nvPr/>
        </p:nvSpPr>
        <p:spPr>
          <a:xfrm>
            <a:off x="2727721" y="380523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3" name="Google Shape;383;p22"/>
          <p:cNvSpPr/>
          <p:nvPr/>
        </p:nvSpPr>
        <p:spPr>
          <a:xfrm>
            <a:off x="3721744" y="380523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4" name="Google Shape;384;p22"/>
          <p:cNvSpPr/>
          <p:nvPr/>
        </p:nvSpPr>
        <p:spPr>
          <a:xfrm>
            <a:off x="5021609" y="380523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5" name="Google Shape;385;p22"/>
          <p:cNvSpPr/>
          <p:nvPr/>
        </p:nvSpPr>
        <p:spPr>
          <a:xfrm>
            <a:off x="571500" y="411956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386;p22"/>
          <p:cNvSpPr/>
          <p:nvPr/>
        </p:nvSpPr>
        <p:spPr>
          <a:xfrm>
            <a:off x="1366688" y="411956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7" name="Google Shape;387;p22"/>
          <p:cNvSpPr/>
          <p:nvPr/>
        </p:nvSpPr>
        <p:spPr>
          <a:xfrm>
            <a:off x="2727721" y="411956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8" name="Google Shape;388;p22"/>
          <p:cNvSpPr/>
          <p:nvPr/>
        </p:nvSpPr>
        <p:spPr>
          <a:xfrm>
            <a:off x="3721744" y="411956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9" name="Google Shape;389;p22"/>
          <p:cNvSpPr/>
          <p:nvPr/>
        </p:nvSpPr>
        <p:spPr>
          <a:xfrm>
            <a:off x="5021609" y="411956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0" name="Google Shape;390;p22"/>
          <p:cNvSpPr/>
          <p:nvPr/>
        </p:nvSpPr>
        <p:spPr>
          <a:xfrm>
            <a:off x="571500" y="443388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1" name="Google Shape;391;p22"/>
          <p:cNvSpPr/>
          <p:nvPr/>
        </p:nvSpPr>
        <p:spPr>
          <a:xfrm>
            <a:off x="1366688" y="443388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22"/>
          <p:cNvSpPr/>
          <p:nvPr/>
        </p:nvSpPr>
        <p:spPr>
          <a:xfrm>
            <a:off x="2727721" y="443388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3" name="Google Shape;393;p22"/>
          <p:cNvSpPr/>
          <p:nvPr/>
        </p:nvSpPr>
        <p:spPr>
          <a:xfrm>
            <a:off x="3721744" y="443388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22"/>
          <p:cNvSpPr/>
          <p:nvPr/>
        </p:nvSpPr>
        <p:spPr>
          <a:xfrm>
            <a:off x="5021609" y="443388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5" name="Google Shape;395;p22"/>
          <p:cNvSpPr/>
          <p:nvPr/>
        </p:nvSpPr>
        <p:spPr>
          <a:xfrm>
            <a:off x="571500" y="474821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6" name="Google Shape;396;p22"/>
          <p:cNvSpPr/>
          <p:nvPr/>
        </p:nvSpPr>
        <p:spPr>
          <a:xfrm>
            <a:off x="1366688" y="474821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7" name="Google Shape;397;p22"/>
          <p:cNvSpPr/>
          <p:nvPr/>
        </p:nvSpPr>
        <p:spPr>
          <a:xfrm>
            <a:off x="2727721" y="474821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8" name="Google Shape;398;p22"/>
          <p:cNvSpPr/>
          <p:nvPr/>
        </p:nvSpPr>
        <p:spPr>
          <a:xfrm>
            <a:off x="3721744" y="474821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9" name="Google Shape;399;p22"/>
          <p:cNvSpPr/>
          <p:nvPr/>
        </p:nvSpPr>
        <p:spPr>
          <a:xfrm>
            <a:off x="5021609" y="474821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22"/>
          <p:cNvSpPr/>
          <p:nvPr/>
        </p:nvSpPr>
        <p:spPr>
          <a:xfrm>
            <a:off x="571500" y="506253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1" name="Google Shape;401;p22"/>
          <p:cNvSpPr/>
          <p:nvPr/>
        </p:nvSpPr>
        <p:spPr>
          <a:xfrm>
            <a:off x="1366688" y="506253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2" name="Google Shape;402;p22"/>
          <p:cNvSpPr/>
          <p:nvPr/>
        </p:nvSpPr>
        <p:spPr>
          <a:xfrm>
            <a:off x="2727721" y="506253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3" name="Google Shape;403;p22"/>
          <p:cNvSpPr/>
          <p:nvPr/>
        </p:nvSpPr>
        <p:spPr>
          <a:xfrm>
            <a:off x="3721744" y="506253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4" name="Google Shape;404;p22"/>
          <p:cNvSpPr/>
          <p:nvPr/>
        </p:nvSpPr>
        <p:spPr>
          <a:xfrm>
            <a:off x="5021609" y="506253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5" name="Google Shape;405;p22"/>
          <p:cNvSpPr/>
          <p:nvPr/>
        </p:nvSpPr>
        <p:spPr>
          <a:xfrm>
            <a:off x="571500" y="537686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6" name="Google Shape;406;p22"/>
          <p:cNvSpPr/>
          <p:nvPr/>
        </p:nvSpPr>
        <p:spPr>
          <a:xfrm>
            <a:off x="1366688" y="537686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7" name="Google Shape;407;p22"/>
          <p:cNvSpPr/>
          <p:nvPr/>
        </p:nvSpPr>
        <p:spPr>
          <a:xfrm>
            <a:off x="2727721" y="537686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8" name="Google Shape;408;p22"/>
          <p:cNvSpPr/>
          <p:nvPr/>
        </p:nvSpPr>
        <p:spPr>
          <a:xfrm>
            <a:off x="3721744" y="537686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9" name="Google Shape;409;p22"/>
          <p:cNvSpPr/>
          <p:nvPr/>
        </p:nvSpPr>
        <p:spPr>
          <a:xfrm>
            <a:off x="5021609" y="537686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0" name="Google Shape;410;p22"/>
          <p:cNvSpPr/>
          <p:nvPr/>
        </p:nvSpPr>
        <p:spPr>
          <a:xfrm>
            <a:off x="6191250" y="25479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1" name="Google Shape;411;p22"/>
          <p:cNvSpPr/>
          <p:nvPr/>
        </p:nvSpPr>
        <p:spPr>
          <a:xfrm>
            <a:off x="6824364" y="25479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2" name="Google Shape;412;p22"/>
          <p:cNvSpPr/>
          <p:nvPr/>
        </p:nvSpPr>
        <p:spPr>
          <a:xfrm>
            <a:off x="8233023" y="25479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3" name="Google Shape;413;p22"/>
          <p:cNvSpPr/>
          <p:nvPr/>
        </p:nvSpPr>
        <p:spPr>
          <a:xfrm>
            <a:off x="9261871" y="25479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4" name="Google Shape;414;p22"/>
          <p:cNvSpPr/>
          <p:nvPr/>
        </p:nvSpPr>
        <p:spPr>
          <a:xfrm>
            <a:off x="10607278" y="25479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5" name="Google Shape;415;p22"/>
          <p:cNvSpPr/>
          <p:nvPr/>
        </p:nvSpPr>
        <p:spPr>
          <a:xfrm>
            <a:off x="6191250" y="28622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6" name="Google Shape;416;p22"/>
          <p:cNvSpPr/>
          <p:nvPr/>
        </p:nvSpPr>
        <p:spPr>
          <a:xfrm>
            <a:off x="6824364" y="28622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7" name="Google Shape;417;p22"/>
          <p:cNvSpPr/>
          <p:nvPr/>
        </p:nvSpPr>
        <p:spPr>
          <a:xfrm>
            <a:off x="8233023" y="28622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8" name="Google Shape;418;p22"/>
          <p:cNvSpPr/>
          <p:nvPr/>
        </p:nvSpPr>
        <p:spPr>
          <a:xfrm>
            <a:off x="9261871" y="28622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9" name="Google Shape;419;p22"/>
          <p:cNvSpPr/>
          <p:nvPr/>
        </p:nvSpPr>
        <p:spPr>
          <a:xfrm>
            <a:off x="10607278" y="28622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0" name="Google Shape;420;p22"/>
          <p:cNvSpPr/>
          <p:nvPr/>
        </p:nvSpPr>
        <p:spPr>
          <a:xfrm>
            <a:off x="6191250" y="31765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1" name="Google Shape;421;p22"/>
          <p:cNvSpPr/>
          <p:nvPr/>
        </p:nvSpPr>
        <p:spPr>
          <a:xfrm>
            <a:off x="6824364" y="31765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2" name="Google Shape;422;p22"/>
          <p:cNvSpPr/>
          <p:nvPr/>
        </p:nvSpPr>
        <p:spPr>
          <a:xfrm>
            <a:off x="8233023" y="31765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3" name="Google Shape;423;p22"/>
          <p:cNvSpPr/>
          <p:nvPr/>
        </p:nvSpPr>
        <p:spPr>
          <a:xfrm>
            <a:off x="9261871" y="31765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4" name="Google Shape;424;p22"/>
          <p:cNvSpPr/>
          <p:nvPr/>
        </p:nvSpPr>
        <p:spPr>
          <a:xfrm>
            <a:off x="10607278" y="31765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5" name="Google Shape;425;p22"/>
          <p:cNvSpPr/>
          <p:nvPr/>
        </p:nvSpPr>
        <p:spPr>
          <a:xfrm>
            <a:off x="6191250" y="34909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6" name="Google Shape;426;p22"/>
          <p:cNvSpPr/>
          <p:nvPr/>
        </p:nvSpPr>
        <p:spPr>
          <a:xfrm>
            <a:off x="6824364" y="34909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7" name="Google Shape;427;p22"/>
          <p:cNvSpPr/>
          <p:nvPr/>
        </p:nvSpPr>
        <p:spPr>
          <a:xfrm>
            <a:off x="8233023" y="34909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8" name="Google Shape;428;p22"/>
          <p:cNvSpPr/>
          <p:nvPr/>
        </p:nvSpPr>
        <p:spPr>
          <a:xfrm>
            <a:off x="9261871" y="34909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9" name="Google Shape;429;p22"/>
          <p:cNvSpPr/>
          <p:nvPr/>
        </p:nvSpPr>
        <p:spPr>
          <a:xfrm>
            <a:off x="10607278" y="34909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0" name="Google Shape;430;p22"/>
          <p:cNvSpPr/>
          <p:nvPr/>
        </p:nvSpPr>
        <p:spPr>
          <a:xfrm>
            <a:off x="6191250" y="38052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1" name="Google Shape;431;p22"/>
          <p:cNvSpPr/>
          <p:nvPr/>
        </p:nvSpPr>
        <p:spPr>
          <a:xfrm>
            <a:off x="6824364" y="38052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2" name="Google Shape;432;p22"/>
          <p:cNvSpPr/>
          <p:nvPr/>
        </p:nvSpPr>
        <p:spPr>
          <a:xfrm>
            <a:off x="8233023" y="38052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3" name="Google Shape;433;p22"/>
          <p:cNvSpPr/>
          <p:nvPr/>
        </p:nvSpPr>
        <p:spPr>
          <a:xfrm>
            <a:off x="9261871" y="38052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4" name="Google Shape;434;p22"/>
          <p:cNvSpPr/>
          <p:nvPr/>
        </p:nvSpPr>
        <p:spPr>
          <a:xfrm>
            <a:off x="10607278" y="38052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5" name="Google Shape;435;p22"/>
          <p:cNvSpPr/>
          <p:nvPr/>
        </p:nvSpPr>
        <p:spPr>
          <a:xfrm>
            <a:off x="6191250" y="41195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6" name="Google Shape;436;p22"/>
          <p:cNvSpPr/>
          <p:nvPr/>
        </p:nvSpPr>
        <p:spPr>
          <a:xfrm>
            <a:off x="6824364" y="41195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7" name="Google Shape;437;p22"/>
          <p:cNvSpPr/>
          <p:nvPr/>
        </p:nvSpPr>
        <p:spPr>
          <a:xfrm>
            <a:off x="8233023" y="41195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8" name="Google Shape;438;p22"/>
          <p:cNvSpPr/>
          <p:nvPr/>
        </p:nvSpPr>
        <p:spPr>
          <a:xfrm>
            <a:off x="9261871" y="41195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9" name="Google Shape;439;p22"/>
          <p:cNvSpPr/>
          <p:nvPr/>
        </p:nvSpPr>
        <p:spPr>
          <a:xfrm>
            <a:off x="10607278" y="41195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0" name="Google Shape;440;p22"/>
          <p:cNvSpPr/>
          <p:nvPr/>
        </p:nvSpPr>
        <p:spPr>
          <a:xfrm>
            <a:off x="6191250" y="44338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1" name="Google Shape;441;p22"/>
          <p:cNvSpPr/>
          <p:nvPr/>
        </p:nvSpPr>
        <p:spPr>
          <a:xfrm>
            <a:off x="6824364" y="44338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2" name="Google Shape;442;p22"/>
          <p:cNvSpPr/>
          <p:nvPr/>
        </p:nvSpPr>
        <p:spPr>
          <a:xfrm>
            <a:off x="8233023" y="44338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3" name="Google Shape;443;p22"/>
          <p:cNvSpPr/>
          <p:nvPr/>
        </p:nvSpPr>
        <p:spPr>
          <a:xfrm>
            <a:off x="9261871" y="44338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4" name="Google Shape;444;p22"/>
          <p:cNvSpPr/>
          <p:nvPr/>
        </p:nvSpPr>
        <p:spPr>
          <a:xfrm>
            <a:off x="10607278" y="44338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5" name="Google Shape;445;p22"/>
          <p:cNvSpPr/>
          <p:nvPr/>
        </p:nvSpPr>
        <p:spPr>
          <a:xfrm>
            <a:off x="6191250" y="47482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6" name="Google Shape;446;p22"/>
          <p:cNvSpPr/>
          <p:nvPr/>
        </p:nvSpPr>
        <p:spPr>
          <a:xfrm>
            <a:off x="6824364" y="47482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7" name="Google Shape;447;p22"/>
          <p:cNvSpPr/>
          <p:nvPr/>
        </p:nvSpPr>
        <p:spPr>
          <a:xfrm>
            <a:off x="8233023" y="47482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8" name="Google Shape;448;p22"/>
          <p:cNvSpPr/>
          <p:nvPr/>
        </p:nvSpPr>
        <p:spPr>
          <a:xfrm>
            <a:off x="9261871" y="47482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22"/>
          <p:cNvSpPr/>
          <p:nvPr/>
        </p:nvSpPr>
        <p:spPr>
          <a:xfrm>
            <a:off x="10607278" y="47482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0" name="Google Shape;450;p22"/>
          <p:cNvSpPr/>
          <p:nvPr/>
        </p:nvSpPr>
        <p:spPr>
          <a:xfrm>
            <a:off x="6191250" y="50625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1" name="Google Shape;451;p22"/>
          <p:cNvSpPr/>
          <p:nvPr/>
        </p:nvSpPr>
        <p:spPr>
          <a:xfrm>
            <a:off x="6824364" y="50625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22"/>
          <p:cNvSpPr/>
          <p:nvPr/>
        </p:nvSpPr>
        <p:spPr>
          <a:xfrm>
            <a:off x="8233023" y="50625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3" name="Google Shape;453;p22"/>
          <p:cNvSpPr/>
          <p:nvPr/>
        </p:nvSpPr>
        <p:spPr>
          <a:xfrm>
            <a:off x="9261871" y="50625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4" name="Google Shape;454;p22"/>
          <p:cNvSpPr/>
          <p:nvPr/>
        </p:nvSpPr>
        <p:spPr>
          <a:xfrm>
            <a:off x="10607278" y="50625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5" name="Google Shape;455;p22"/>
          <p:cNvSpPr/>
          <p:nvPr/>
        </p:nvSpPr>
        <p:spPr>
          <a:xfrm>
            <a:off x="6191250" y="53768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6" name="Google Shape;456;p22"/>
          <p:cNvSpPr/>
          <p:nvPr/>
        </p:nvSpPr>
        <p:spPr>
          <a:xfrm>
            <a:off x="6824364" y="53768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7" name="Google Shape;457;p22"/>
          <p:cNvSpPr/>
          <p:nvPr/>
        </p:nvSpPr>
        <p:spPr>
          <a:xfrm>
            <a:off x="8233023" y="53768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8" name="Google Shape;458;p22"/>
          <p:cNvSpPr/>
          <p:nvPr/>
        </p:nvSpPr>
        <p:spPr>
          <a:xfrm>
            <a:off x="9261871" y="53768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9" name="Google Shape;459;p22"/>
          <p:cNvSpPr/>
          <p:nvPr/>
        </p:nvSpPr>
        <p:spPr>
          <a:xfrm>
            <a:off x="10607278" y="53768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0" name="Google Shape;460;p22"/>
          <p:cNvSpPr txBox="1"/>
          <p:nvPr/>
        </p:nvSpPr>
        <p:spPr>
          <a:xfrm>
            <a:off x="571500" y="476250"/>
            <a:ext cx="922115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EFFICIENTNET-B0: SINIF BAZLI PERFORMANS (22-42)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64"/>
        <p:cNvGrpSpPr/>
        <p:nvPr/>
      </p:nvGrpSpPr>
      <p:grpSpPr>
        <a:xfrm>
          <a:off x="0" y="0"/>
          <a:ext cx="0" cy="0"/>
          <a:chOff x="0" y="0"/>
          <a:chExt cx="0" cy="0"/>
        </a:xfrm>
      </p:grpSpPr>
      <p:pic>
        <p:nvPicPr>
          <p:cNvPr id="465" name="Google Shape;46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466" name="Google Shape;466;p23"/>
          <p:cNvGraphicFramePr/>
          <p:nvPr>
            <p:extLst>
              <p:ext uri="{D42A27DB-BD31-4B8C-83A1-F6EECF244321}">
                <p14:modId xmlns:p14="http://schemas.microsoft.com/office/powerpoint/2010/main" val="713582101"/>
              </p:ext>
            </p:extLst>
          </p:nvPr>
        </p:nvGraphicFramePr>
        <p:xfrm>
          <a:off x="571500" y="1857375"/>
          <a:ext cx="5429250" cy="3838500"/>
        </p:xfrm>
        <a:graphic>
          <a:graphicData uri="http://schemas.openxmlformats.org/drawingml/2006/table">
            <a:tbl>
              <a:tblPr firstRow="1" bandRow="1">
                <a:noFill/>
                <a:tableStyleId>{D746D6EE-2022-4A0E-B6AC-B034E0F457E2}</a:tableStyleId>
              </a:tblPr>
              <a:tblGrid>
                <a:gridCol w="604975">
                  <a:extLst>
                    <a:ext uri="{9D8B030D-6E8A-4147-A177-3AD203B41FA5}">
                      <a16:colId xmlns:a16="http://schemas.microsoft.com/office/drawing/2014/main" val="20000"/>
                    </a:ext>
                  </a:extLst>
                </a:gridCol>
                <a:gridCol w="1417000">
                  <a:extLst>
                    <a:ext uri="{9D8B030D-6E8A-4147-A177-3AD203B41FA5}">
                      <a16:colId xmlns:a16="http://schemas.microsoft.com/office/drawing/2014/main" val="20001"/>
                    </a:ext>
                  </a:extLst>
                </a:gridCol>
                <a:gridCol w="1034800">
                  <a:extLst>
                    <a:ext uri="{9D8B030D-6E8A-4147-A177-3AD203B41FA5}">
                      <a16:colId xmlns:a16="http://schemas.microsoft.com/office/drawing/2014/main" val="20002"/>
                    </a:ext>
                  </a:extLst>
                </a:gridCol>
                <a:gridCol w="1353300">
                  <a:extLst>
                    <a:ext uri="{9D8B030D-6E8A-4147-A177-3AD203B41FA5}">
                      <a16:colId xmlns:a16="http://schemas.microsoft.com/office/drawing/2014/main" val="20003"/>
                    </a:ext>
                  </a:extLst>
                </a:gridCol>
                <a:gridCol w="101917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1" i="0" u="none" strike="noStrike" cap="none" dirty="0">
                          <a:solidFill>
                            <a:srgbClr val="EF4444"/>
                          </a:solidFill>
                          <a:latin typeface="Inter"/>
                          <a:ea typeface="Inter"/>
                          <a:cs typeface="Inter"/>
                          <a:sym typeface="Inter"/>
                        </a:rPr>
                        <a:t>0.00</a:t>
                      </a:r>
                      <a:endParaRPr lang="en-US" sz="1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75" b="1" i="0" u="none" strike="noStrike" cap="none" dirty="0">
                          <a:solidFill>
                            <a:srgbClr val="EF4444"/>
                          </a:solidFill>
                          <a:latin typeface="Inter"/>
                          <a:ea typeface="Inter"/>
                          <a:cs typeface="Inter"/>
                          <a:sym typeface="Inter"/>
                        </a:rPr>
                        <a:t>0.00</a:t>
                      </a:r>
                      <a:endParaRPr lang="en-US" sz="1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75" b="1" i="0" u="none" strike="noStrike" cap="none" dirty="0">
                          <a:solidFill>
                            <a:srgbClr val="EF4444"/>
                          </a:solidFill>
                          <a:latin typeface="Inter"/>
                          <a:ea typeface="Inter"/>
                          <a:cs typeface="Inter"/>
                          <a:sym typeface="Inter"/>
                        </a:rPr>
                        <a:t>0.00</a:t>
                      </a:r>
                      <a:endParaRPr lang="en-US" sz="1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75" b="1" i="0" u="none" strike="noStrike" kern="0" cap="none" spc="0" normalizeH="0" baseline="0" noProof="0" dirty="0">
                          <a:ln>
                            <a:noFill/>
                          </a:ln>
                          <a:solidFill>
                            <a:srgbClr val="EF4444"/>
                          </a:solidFill>
                          <a:effectLst/>
                          <a:uLnTx/>
                          <a:uFillTx/>
                          <a:latin typeface="Inter"/>
                          <a:ea typeface="Inter"/>
                          <a:cs typeface="Inter"/>
                          <a:sym typeface="Inter"/>
                        </a:rPr>
                        <a:t>0.00</a:t>
                      </a:r>
                      <a:endParaRPr kumimoji="0" lang="en-US" sz="1400" b="0" i="0" u="none" strike="noStrike" kern="0" cap="none" spc="0" normalizeH="0" baseline="0" noProof="0" dirty="0">
                        <a:ln>
                          <a:noFill/>
                        </a:ln>
                        <a:solidFill>
                          <a:srgbClr val="000000"/>
                        </a:solidFill>
                        <a:effectLst/>
                        <a:uLnTx/>
                        <a:uFillTx/>
                        <a:latin typeface="Calibri"/>
                        <a:ea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0.99</a:t>
                      </a:r>
                      <a:r>
                        <a:rPr lang="tr-TR" sz="975" b="0" i="0" u="none" dirty="0">
                          <a:solidFill>
                            <a:srgbClr val="CBD5E1"/>
                          </a:solidFill>
                          <a:latin typeface="Inter"/>
                          <a:ea typeface="Inter"/>
                          <a:cs typeface="Inter"/>
                          <a:sym typeface="Inter"/>
                        </a:rPr>
                        <a:t>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991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360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85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a:t>
                      </a:r>
                      <a:r>
                        <a:rPr lang="en-US" sz="975" b="0" i="0" u="none" dirty="0">
                          <a:solidFill>
                            <a:srgbClr val="CBD5E1"/>
                          </a:solidFill>
                          <a:latin typeface="Inter"/>
                          <a:ea typeface="Inter"/>
                          <a:cs typeface="Inter"/>
                          <a:sym typeface="Inter"/>
                        </a:rPr>
                        <a:t>.</a:t>
                      </a:r>
                      <a:r>
                        <a:rPr lang="tr-TR" sz="975" b="0" i="0" u="none" dirty="0">
                          <a:solidFill>
                            <a:srgbClr val="CBD5E1"/>
                          </a:solidFill>
                          <a:latin typeface="Inter"/>
                          <a:ea typeface="Inter"/>
                          <a:cs typeface="Inter"/>
                          <a:sym typeface="Inter"/>
                        </a:rPr>
                        <a:t>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a:t>
                      </a:r>
                      <a:r>
                        <a:rPr lang="en-US" sz="975" b="0" i="0" u="none" dirty="0">
                          <a:solidFill>
                            <a:srgbClr val="CBD5E1"/>
                          </a:solidFill>
                          <a:latin typeface="Inter"/>
                          <a:ea typeface="Inter"/>
                          <a:cs typeface="Inter"/>
                          <a:sym typeface="Inter"/>
                        </a:rPr>
                        <a:t>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4</a:t>
                      </a:r>
                      <a:r>
                        <a:rPr lang="tr-TR" sz="975" b="0" i="0" u="none" dirty="0">
                          <a:solidFill>
                            <a:srgbClr val="CBD5E1"/>
                          </a:solidFill>
                          <a:latin typeface="Inter"/>
                          <a:ea typeface="Inter"/>
                          <a:cs typeface="Inter"/>
                          <a:sym typeface="Inter"/>
                        </a:rPr>
                        <a:t>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a:t>
                      </a:r>
                      <a:r>
                        <a:rPr lang="en-US" sz="975" b="0" i="0" u="none" dirty="0">
                          <a:solidFill>
                            <a:srgbClr val="CBD5E1"/>
                          </a:solidFill>
                          <a:latin typeface="Inter"/>
                          <a:ea typeface="Inter"/>
                          <a:cs typeface="Inter"/>
                          <a:sym typeface="Inter"/>
                        </a:rPr>
                        <a:t>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2</a:t>
                      </a:r>
                      <a:r>
                        <a:rPr lang="tr-TR" sz="975" b="0" i="0" u="none" dirty="0">
                          <a:solidFill>
                            <a:srgbClr val="CBD5E1"/>
                          </a:solidFill>
                          <a:latin typeface="Inter"/>
                          <a:ea typeface="Inter"/>
                          <a:cs typeface="Inter"/>
                          <a:sym typeface="Inter"/>
                        </a:rPr>
                        <a:t>40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a:t>
                      </a:r>
                      <a:r>
                        <a:rPr lang="en-US" sz="975" b="0" i="0" u="none" dirty="0">
                          <a:solidFill>
                            <a:srgbClr val="CBD5E1"/>
                          </a:solidFill>
                          <a:latin typeface="Inter"/>
                          <a:ea typeface="Inter"/>
                          <a:cs typeface="Inter"/>
                          <a:sym typeface="Inter"/>
                        </a:rPr>
                        <a:t>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480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996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a:t>
                      </a:r>
                      <a:r>
                        <a:rPr lang="en-US" sz="975" b="0" i="0" u="none" dirty="0">
                          <a:solidFill>
                            <a:srgbClr val="CBD5E1"/>
                          </a:solidFill>
                          <a:latin typeface="Inter"/>
                          <a:ea typeface="Inter"/>
                          <a:cs typeface="Inter"/>
                          <a:sym typeface="Inter"/>
                        </a:rPr>
                        <a:t>.</a:t>
                      </a:r>
                      <a:r>
                        <a:rPr lang="tr-TR" sz="975" b="0" i="0" u="none" dirty="0">
                          <a:solidFill>
                            <a:srgbClr val="CBD5E1"/>
                          </a:solidFill>
                          <a:latin typeface="Inter"/>
                          <a:ea typeface="Inter"/>
                          <a:cs typeface="Inter"/>
                          <a:sym typeface="Inter"/>
                        </a:rPr>
                        <a:t>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998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3</a:t>
                      </a:r>
                      <a:r>
                        <a:rPr lang="tr-TR" sz="975" b="0" i="0" u="none" dirty="0">
                          <a:solidFill>
                            <a:srgbClr val="CBD5E1"/>
                          </a:solidFill>
                          <a:latin typeface="Inter"/>
                          <a:ea typeface="Inter"/>
                          <a:cs typeface="Inter"/>
                          <a:sym typeface="Inter"/>
                        </a:rPr>
                        <a:t>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120</a:t>
                      </a:r>
                      <a:endParaRPr lang="en-US"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270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997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2</a:t>
                      </a:r>
                      <a:r>
                        <a:rPr lang="tr-TR" sz="975" b="0" i="0" u="none" dirty="0">
                          <a:solidFill>
                            <a:srgbClr val="CBD5E1"/>
                          </a:solidFill>
                          <a:latin typeface="Inter"/>
                          <a:ea typeface="Inter"/>
                          <a:cs typeface="Inter"/>
                          <a:sym typeface="Inter"/>
                        </a:rPr>
                        <a:t>10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79</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300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0.991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94</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450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graphicFrame>
        <p:nvGraphicFramePr>
          <p:cNvPr id="467" name="Google Shape;467;p23"/>
          <p:cNvGraphicFramePr/>
          <p:nvPr>
            <p:extLst>
              <p:ext uri="{D42A27DB-BD31-4B8C-83A1-F6EECF244321}">
                <p14:modId xmlns:p14="http://schemas.microsoft.com/office/powerpoint/2010/main" val="2950784356"/>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33125">
                  <a:extLst>
                    <a:ext uri="{9D8B030D-6E8A-4147-A177-3AD203B41FA5}">
                      <a16:colId xmlns:a16="http://schemas.microsoft.com/office/drawing/2014/main" val="20000"/>
                    </a:ext>
                  </a:extLst>
                </a:gridCol>
                <a:gridCol w="1408650">
                  <a:extLst>
                    <a:ext uri="{9D8B030D-6E8A-4147-A177-3AD203B41FA5}">
                      <a16:colId xmlns:a16="http://schemas.microsoft.com/office/drawing/2014/main" val="20001"/>
                    </a:ext>
                  </a:extLst>
                </a:gridCol>
                <a:gridCol w="1028850">
                  <a:extLst>
                    <a:ext uri="{9D8B030D-6E8A-4147-A177-3AD203B41FA5}">
                      <a16:colId xmlns:a16="http://schemas.microsoft.com/office/drawing/2014/main" val="20002"/>
                    </a:ext>
                  </a:extLst>
                </a:gridCol>
                <a:gridCol w="1345400">
                  <a:extLst>
                    <a:ext uri="{9D8B030D-6E8A-4147-A177-3AD203B41FA5}">
                      <a16:colId xmlns:a16="http://schemas.microsoft.com/office/drawing/2014/main" val="20003"/>
                    </a:ext>
                  </a:extLst>
                </a:gridCol>
                <a:gridCol w="101322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81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2</a:t>
                      </a:r>
                      <a:r>
                        <a:rPr lang="tr-TR" sz="975" b="0" i="0" u="none" dirty="0">
                          <a:solidFill>
                            <a:srgbClr val="CBD5E1"/>
                          </a:solidFill>
                          <a:latin typeface="Inter"/>
                          <a:ea typeface="Inter"/>
                          <a:cs typeface="Inter"/>
                          <a:sym typeface="Inter"/>
                        </a:rPr>
                        <a:t>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0.985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0.992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270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570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SemiBold"/>
                          <a:ea typeface="Inter SemiBold"/>
                          <a:cs typeface="Inter SemiBold"/>
                          <a:sym typeface="Inter SemiBold"/>
                        </a:rPr>
                        <a:t>1</a:t>
                      </a:r>
                      <a:r>
                        <a:rPr lang="tr-TR" sz="975" b="0" i="0" u="none" dirty="0">
                          <a:solidFill>
                            <a:srgbClr val="CBD5E1"/>
                          </a:solidFill>
                          <a:latin typeface="Inter SemiBold"/>
                          <a:ea typeface="Inter SemiBold"/>
                          <a:cs typeface="Inter SemiBold"/>
                          <a:sym typeface="Inter SemiBold"/>
                        </a:rPr>
                        <a:t>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SemiBold"/>
                          <a:ea typeface="Inter SemiBold"/>
                          <a:cs typeface="Inter SemiBold"/>
                          <a:sym typeface="Inter SemiBold"/>
                        </a:rPr>
                        <a:t>12</a:t>
                      </a:r>
                      <a:r>
                        <a:rPr lang="tr-TR" sz="975" b="0" i="0" u="none" dirty="0">
                          <a:solidFill>
                            <a:srgbClr val="CBD5E1"/>
                          </a:solidFill>
                          <a:latin typeface="Inter SemiBold"/>
                          <a:ea typeface="Inter SemiBold"/>
                          <a:cs typeface="Inter SemiBold"/>
                          <a:sym typeface="Inter SemiBold"/>
                        </a:rPr>
                        <a:t>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0.987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180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330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75" b="1" i="0" u="none" strike="noStrike" kern="0" cap="none" spc="0" normalizeH="0" baseline="0" noProof="0" dirty="0">
                          <a:ln>
                            <a:noFill/>
                          </a:ln>
                          <a:solidFill>
                            <a:srgbClr val="EF4444"/>
                          </a:solidFill>
                          <a:effectLst/>
                          <a:uLnTx/>
                          <a:uFillTx/>
                          <a:latin typeface="Inter"/>
                          <a:ea typeface="Inter"/>
                          <a:cs typeface="Inter"/>
                          <a:sym typeface="Inter"/>
                        </a:rPr>
                        <a:t>0.00</a:t>
                      </a:r>
                      <a:endParaRPr kumimoji="0" lang="en-US" sz="1400" b="0" i="0" u="none" strike="noStrike" kern="0" cap="none" spc="0" normalizeH="0" baseline="0" noProof="0" dirty="0">
                        <a:ln>
                          <a:noFill/>
                        </a:ln>
                        <a:solidFill>
                          <a:srgbClr val="000000"/>
                        </a:solidFill>
                        <a:effectLst/>
                        <a:uLnTx/>
                        <a:uFillTx/>
                        <a:latin typeface="Calibri"/>
                        <a:ea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75" b="1" i="0" u="none" strike="noStrike" kern="0" cap="none" spc="0" normalizeH="0" baseline="0" noProof="0" dirty="0">
                          <a:ln>
                            <a:noFill/>
                          </a:ln>
                          <a:solidFill>
                            <a:srgbClr val="EF4444"/>
                          </a:solidFill>
                          <a:effectLst/>
                          <a:uLnTx/>
                          <a:uFillTx/>
                          <a:latin typeface="Inter"/>
                          <a:ea typeface="Inter"/>
                          <a:cs typeface="Inter"/>
                          <a:sym typeface="Inter"/>
                        </a:rPr>
                        <a:t>0.00</a:t>
                      </a:r>
                      <a:endParaRPr kumimoji="0" lang="en-US" sz="1400" b="0" i="0" u="none" strike="noStrike" kern="0" cap="none" spc="0" normalizeH="0" baseline="0" noProof="0" dirty="0">
                        <a:ln>
                          <a:noFill/>
                        </a:ln>
                        <a:solidFill>
                          <a:srgbClr val="000000"/>
                        </a:solidFill>
                        <a:effectLst/>
                        <a:uLnTx/>
                        <a:uFillTx/>
                        <a:latin typeface="Calibri"/>
                        <a:ea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75" b="1" i="0" u="none" strike="noStrike" kern="0" cap="none" spc="0" normalizeH="0" baseline="0" noProof="0" dirty="0">
                          <a:ln>
                            <a:noFill/>
                          </a:ln>
                          <a:solidFill>
                            <a:srgbClr val="EF4444"/>
                          </a:solidFill>
                          <a:effectLst/>
                          <a:uLnTx/>
                          <a:uFillTx/>
                          <a:latin typeface="Inter"/>
                          <a:ea typeface="Inter"/>
                          <a:cs typeface="Inter"/>
                          <a:sym typeface="Inter"/>
                        </a:rPr>
                        <a:t>0.00</a:t>
                      </a:r>
                      <a:endParaRPr kumimoji="0" lang="en-US" sz="1400" b="0" i="0" u="none" strike="noStrike" kern="0" cap="none" spc="0" normalizeH="0" baseline="0" noProof="0" dirty="0">
                        <a:ln>
                          <a:noFill/>
                        </a:ln>
                        <a:solidFill>
                          <a:srgbClr val="000000"/>
                        </a:solidFill>
                        <a:effectLst/>
                        <a:uLnTx/>
                        <a:uFillTx/>
                        <a:latin typeface="Calibri"/>
                        <a:ea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75" b="1" i="0" u="none" strike="noStrike" kern="0" cap="none" spc="0" normalizeH="0" baseline="0" noProof="0" dirty="0">
                          <a:ln>
                            <a:noFill/>
                          </a:ln>
                          <a:solidFill>
                            <a:srgbClr val="EF4444"/>
                          </a:solidFill>
                          <a:effectLst/>
                          <a:uLnTx/>
                          <a:uFillTx/>
                          <a:latin typeface="Inter"/>
                          <a:ea typeface="Inter"/>
                          <a:cs typeface="Inter"/>
                          <a:sym typeface="Inter"/>
                        </a:rPr>
                        <a:t>0.00</a:t>
                      </a:r>
                      <a:endParaRPr kumimoji="0" lang="en-US" sz="1400" b="0" i="0" u="none" strike="noStrike" kern="0" cap="none" spc="0" normalizeH="0" baseline="0" noProof="0" dirty="0">
                        <a:ln>
                          <a:noFill/>
                        </a:ln>
                        <a:solidFill>
                          <a:srgbClr val="000000"/>
                        </a:solidFill>
                        <a:effectLst/>
                        <a:uLnTx/>
                        <a:uFillTx/>
                        <a:latin typeface="Calibri"/>
                        <a:ea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78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766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859</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30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468" name="Google Shape;468;p23"/>
          <p:cNvSpPr/>
          <p:nvPr/>
        </p:nvSpPr>
        <p:spPr>
          <a:xfrm>
            <a:off x="571500" y="25479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9" name="Google Shape;469;p23"/>
          <p:cNvSpPr/>
          <p:nvPr/>
        </p:nvSpPr>
        <p:spPr>
          <a:xfrm>
            <a:off x="1176486" y="25479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0" name="Google Shape;470;p23"/>
          <p:cNvSpPr/>
          <p:nvPr/>
        </p:nvSpPr>
        <p:spPr>
          <a:xfrm>
            <a:off x="2593478" y="25479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1" name="Google Shape;471;p23"/>
          <p:cNvSpPr/>
          <p:nvPr/>
        </p:nvSpPr>
        <p:spPr>
          <a:xfrm>
            <a:off x="3628280" y="25479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2" name="Google Shape;472;p23"/>
          <p:cNvSpPr/>
          <p:nvPr/>
        </p:nvSpPr>
        <p:spPr>
          <a:xfrm>
            <a:off x="4981575" y="25479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p23"/>
          <p:cNvSpPr/>
          <p:nvPr/>
        </p:nvSpPr>
        <p:spPr>
          <a:xfrm>
            <a:off x="571500" y="28622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4" name="Google Shape;474;p23"/>
          <p:cNvSpPr/>
          <p:nvPr/>
        </p:nvSpPr>
        <p:spPr>
          <a:xfrm>
            <a:off x="1176486" y="28622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5" name="Google Shape;475;p23"/>
          <p:cNvSpPr/>
          <p:nvPr/>
        </p:nvSpPr>
        <p:spPr>
          <a:xfrm>
            <a:off x="2593478" y="28622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6" name="Google Shape;476;p23"/>
          <p:cNvSpPr/>
          <p:nvPr/>
        </p:nvSpPr>
        <p:spPr>
          <a:xfrm>
            <a:off x="3628280" y="28622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7" name="Google Shape;477;p23"/>
          <p:cNvSpPr/>
          <p:nvPr/>
        </p:nvSpPr>
        <p:spPr>
          <a:xfrm>
            <a:off x="4981575" y="28622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8" name="Google Shape;478;p23"/>
          <p:cNvSpPr/>
          <p:nvPr/>
        </p:nvSpPr>
        <p:spPr>
          <a:xfrm>
            <a:off x="571500" y="317658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9" name="Google Shape;479;p23"/>
          <p:cNvSpPr/>
          <p:nvPr/>
        </p:nvSpPr>
        <p:spPr>
          <a:xfrm>
            <a:off x="1176486" y="317658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0" name="Google Shape;480;p23"/>
          <p:cNvSpPr/>
          <p:nvPr/>
        </p:nvSpPr>
        <p:spPr>
          <a:xfrm>
            <a:off x="2593478" y="317658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1" name="Google Shape;481;p23"/>
          <p:cNvSpPr/>
          <p:nvPr/>
        </p:nvSpPr>
        <p:spPr>
          <a:xfrm>
            <a:off x="3628280" y="317658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2" name="Google Shape;482;p23"/>
          <p:cNvSpPr/>
          <p:nvPr/>
        </p:nvSpPr>
        <p:spPr>
          <a:xfrm>
            <a:off x="4981575" y="317658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3" name="Google Shape;483;p23"/>
          <p:cNvSpPr/>
          <p:nvPr/>
        </p:nvSpPr>
        <p:spPr>
          <a:xfrm>
            <a:off x="571500" y="349091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4" name="Google Shape;484;p23"/>
          <p:cNvSpPr/>
          <p:nvPr/>
        </p:nvSpPr>
        <p:spPr>
          <a:xfrm>
            <a:off x="1176486" y="349091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5" name="Google Shape;485;p23"/>
          <p:cNvSpPr/>
          <p:nvPr/>
        </p:nvSpPr>
        <p:spPr>
          <a:xfrm>
            <a:off x="2593478" y="349091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6" name="Google Shape;486;p23"/>
          <p:cNvSpPr/>
          <p:nvPr/>
        </p:nvSpPr>
        <p:spPr>
          <a:xfrm>
            <a:off x="3628280" y="349091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23"/>
          <p:cNvSpPr/>
          <p:nvPr/>
        </p:nvSpPr>
        <p:spPr>
          <a:xfrm>
            <a:off x="4981575" y="349091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8" name="Google Shape;488;p23"/>
          <p:cNvSpPr/>
          <p:nvPr/>
        </p:nvSpPr>
        <p:spPr>
          <a:xfrm>
            <a:off x="571500" y="38052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9" name="Google Shape;489;p23"/>
          <p:cNvSpPr/>
          <p:nvPr/>
        </p:nvSpPr>
        <p:spPr>
          <a:xfrm>
            <a:off x="1176486" y="38052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23"/>
          <p:cNvSpPr/>
          <p:nvPr/>
        </p:nvSpPr>
        <p:spPr>
          <a:xfrm>
            <a:off x="2593478" y="38052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1" name="Google Shape;491;p23"/>
          <p:cNvSpPr/>
          <p:nvPr/>
        </p:nvSpPr>
        <p:spPr>
          <a:xfrm>
            <a:off x="3628280" y="38052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2" name="Google Shape;492;p23"/>
          <p:cNvSpPr/>
          <p:nvPr/>
        </p:nvSpPr>
        <p:spPr>
          <a:xfrm>
            <a:off x="4981575" y="38052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3" name="Google Shape;493;p23"/>
          <p:cNvSpPr/>
          <p:nvPr/>
        </p:nvSpPr>
        <p:spPr>
          <a:xfrm>
            <a:off x="571500" y="41195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4" name="Google Shape;494;p23"/>
          <p:cNvSpPr/>
          <p:nvPr/>
        </p:nvSpPr>
        <p:spPr>
          <a:xfrm>
            <a:off x="1176486" y="41195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5" name="Google Shape;495;p23"/>
          <p:cNvSpPr/>
          <p:nvPr/>
        </p:nvSpPr>
        <p:spPr>
          <a:xfrm>
            <a:off x="2593478" y="41195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6" name="Google Shape;496;p23"/>
          <p:cNvSpPr/>
          <p:nvPr/>
        </p:nvSpPr>
        <p:spPr>
          <a:xfrm>
            <a:off x="3628280" y="41195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7" name="Google Shape;497;p23"/>
          <p:cNvSpPr/>
          <p:nvPr/>
        </p:nvSpPr>
        <p:spPr>
          <a:xfrm>
            <a:off x="4981575" y="41195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8" name="Google Shape;498;p23"/>
          <p:cNvSpPr/>
          <p:nvPr/>
        </p:nvSpPr>
        <p:spPr>
          <a:xfrm>
            <a:off x="571500" y="443388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9" name="Google Shape;499;p23"/>
          <p:cNvSpPr/>
          <p:nvPr/>
        </p:nvSpPr>
        <p:spPr>
          <a:xfrm>
            <a:off x="1176486" y="443388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0" name="Google Shape;500;p23"/>
          <p:cNvSpPr/>
          <p:nvPr/>
        </p:nvSpPr>
        <p:spPr>
          <a:xfrm>
            <a:off x="2593478" y="443388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1" name="Google Shape;501;p23"/>
          <p:cNvSpPr/>
          <p:nvPr/>
        </p:nvSpPr>
        <p:spPr>
          <a:xfrm>
            <a:off x="3628280" y="443388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2" name="Google Shape;502;p23"/>
          <p:cNvSpPr/>
          <p:nvPr/>
        </p:nvSpPr>
        <p:spPr>
          <a:xfrm>
            <a:off x="4981575" y="443388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3" name="Google Shape;503;p23"/>
          <p:cNvSpPr/>
          <p:nvPr/>
        </p:nvSpPr>
        <p:spPr>
          <a:xfrm>
            <a:off x="571500" y="474821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4" name="Google Shape;504;p23"/>
          <p:cNvSpPr/>
          <p:nvPr/>
        </p:nvSpPr>
        <p:spPr>
          <a:xfrm>
            <a:off x="1176486" y="474821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5" name="Google Shape;505;p23"/>
          <p:cNvSpPr/>
          <p:nvPr/>
        </p:nvSpPr>
        <p:spPr>
          <a:xfrm>
            <a:off x="2593478" y="474821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6" name="Google Shape;506;p23"/>
          <p:cNvSpPr/>
          <p:nvPr/>
        </p:nvSpPr>
        <p:spPr>
          <a:xfrm>
            <a:off x="3628280" y="474821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7" name="Google Shape;507;p23"/>
          <p:cNvSpPr/>
          <p:nvPr/>
        </p:nvSpPr>
        <p:spPr>
          <a:xfrm>
            <a:off x="4981575" y="474821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8" name="Google Shape;508;p23"/>
          <p:cNvSpPr/>
          <p:nvPr/>
        </p:nvSpPr>
        <p:spPr>
          <a:xfrm>
            <a:off x="571500" y="5062537"/>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9" name="Google Shape;509;p23"/>
          <p:cNvSpPr/>
          <p:nvPr/>
        </p:nvSpPr>
        <p:spPr>
          <a:xfrm>
            <a:off x="1176486" y="5062537"/>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0" name="Google Shape;510;p23"/>
          <p:cNvSpPr/>
          <p:nvPr/>
        </p:nvSpPr>
        <p:spPr>
          <a:xfrm>
            <a:off x="2593478" y="5062537"/>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1" name="Google Shape;511;p23"/>
          <p:cNvSpPr/>
          <p:nvPr/>
        </p:nvSpPr>
        <p:spPr>
          <a:xfrm>
            <a:off x="3628280" y="5062537"/>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2" name="Google Shape;512;p23"/>
          <p:cNvSpPr/>
          <p:nvPr/>
        </p:nvSpPr>
        <p:spPr>
          <a:xfrm>
            <a:off x="4981575" y="5062537"/>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3" name="Google Shape;513;p23"/>
          <p:cNvSpPr/>
          <p:nvPr/>
        </p:nvSpPr>
        <p:spPr>
          <a:xfrm>
            <a:off x="571500" y="5376862"/>
            <a:ext cx="6049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4" name="Google Shape;514;p23"/>
          <p:cNvSpPr/>
          <p:nvPr/>
        </p:nvSpPr>
        <p:spPr>
          <a:xfrm>
            <a:off x="1176486" y="5376862"/>
            <a:ext cx="141699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5" name="Google Shape;515;p23"/>
          <p:cNvSpPr/>
          <p:nvPr/>
        </p:nvSpPr>
        <p:spPr>
          <a:xfrm>
            <a:off x="2593478" y="5376862"/>
            <a:ext cx="103480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6" name="Google Shape;516;p23"/>
          <p:cNvSpPr/>
          <p:nvPr/>
        </p:nvSpPr>
        <p:spPr>
          <a:xfrm>
            <a:off x="3628280" y="5376862"/>
            <a:ext cx="13532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7" name="Google Shape;517;p23"/>
          <p:cNvSpPr/>
          <p:nvPr/>
        </p:nvSpPr>
        <p:spPr>
          <a:xfrm>
            <a:off x="4981575" y="5376862"/>
            <a:ext cx="10191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8" name="Google Shape;518;p23"/>
          <p:cNvSpPr/>
          <p:nvPr/>
        </p:nvSpPr>
        <p:spPr>
          <a:xfrm>
            <a:off x="6191250" y="25479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9" name="Google Shape;519;p23"/>
          <p:cNvSpPr/>
          <p:nvPr/>
        </p:nvSpPr>
        <p:spPr>
          <a:xfrm>
            <a:off x="6824364" y="25479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0" name="Google Shape;520;p23"/>
          <p:cNvSpPr/>
          <p:nvPr/>
        </p:nvSpPr>
        <p:spPr>
          <a:xfrm>
            <a:off x="8233023" y="25479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1" name="Google Shape;521;p23"/>
          <p:cNvSpPr/>
          <p:nvPr/>
        </p:nvSpPr>
        <p:spPr>
          <a:xfrm>
            <a:off x="9261871" y="25479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2" name="Google Shape;522;p23"/>
          <p:cNvSpPr/>
          <p:nvPr/>
        </p:nvSpPr>
        <p:spPr>
          <a:xfrm>
            <a:off x="10607278" y="25479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3" name="Google Shape;523;p23"/>
          <p:cNvSpPr/>
          <p:nvPr/>
        </p:nvSpPr>
        <p:spPr>
          <a:xfrm>
            <a:off x="6191250" y="28622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4" name="Google Shape;524;p23"/>
          <p:cNvSpPr/>
          <p:nvPr/>
        </p:nvSpPr>
        <p:spPr>
          <a:xfrm>
            <a:off x="6824364" y="28622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5" name="Google Shape;525;p23"/>
          <p:cNvSpPr/>
          <p:nvPr/>
        </p:nvSpPr>
        <p:spPr>
          <a:xfrm>
            <a:off x="8233023" y="28622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6" name="Google Shape;526;p23"/>
          <p:cNvSpPr/>
          <p:nvPr/>
        </p:nvSpPr>
        <p:spPr>
          <a:xfrm>
            <a:off x="9261871" y="28622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7" name="Google Shape;527;p23"/>
          <p:cNvSpPr/>
          <p:nvPr/>
        </p:nvSpPr>
        <p:spPr>
          <a:xfrm>
            <a:off x="10607278" y="28622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8" name="Google Shape;528;p23"/>
          <p:cNvSpPr/>
          <p:nvPr/>
        </p:nvSpPr>
        <p:spPr>
          <a:xfrm>
            <a:off x="6191250" y="31765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9" name="Google Shape;529;p23"/>
          <p:cNvSpPr/>
          <p:nvPr/>
        </p:nvSpPr>
        <p:spPr>
          <a:xfrm>
            <a:off x="6824364" y="31765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0" name="Google Shape;530;p23"/>
          <p:cNvSpPr/>
          <p:nvPr/>
        </p:nvSpPr>
        <p:spPr>
          <a:xfrm>
            <a:off x="8233023" y="31765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1" name="Google Shape;531;p23"/>
          <p:cNvSpPr/>
          <p:nvPr/>
        </p:nvSpPr>
        <p:spPr>
          <a:xfrm>
            <a:off x="9261871" y="31765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2" name="Google Shape;532;p23"/>
          <p:cNvSpPr/>
          <p:nvPr/>
        </p:nvSpPr>
        <p:spPr>
          <a:xfrm>
            <a:off x="10607278" y="31765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3" name="Google Shape;533;p23"/>
          <p:cNvSpPr/>
          <p:nvPr/>
        </p:nvSpPr>
        <p:spPr>
          <a:xfrm>
            <a:off x="6191250" y="34909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4" name="Google Shape;534;p23"/>
          <p:cNvSpPr/>
          <p:nvPr/>
        </p:nvSpPr>
        <p:spPr>
          <a:xfrm>
            <a:off x="6824364" y="34909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5" name="Google Shape;535;p23"/>
          <p:cNvSpPr/>
          <p:nvPr/>
        </p:nvSpPr>
        <p:spPr>
          <a:xfrm>
            <a:off x="8233023" y="34909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6" name="Google Shape;536;p23"/>
          <p:cNvSpPr/>
          <p:nvPr/>
        </p:nvSpPr>
        <p:spPr>
          <a:xfrm>
            <a:off x="9261871" y="34909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7" name="Google Shape;537;p23"/>
          <p:cNvSpPr/>
          <p:nvPr/>
        </p:nvSpPr>
        <p:spPr>
          <a:xfrm>
            <a:off x="10607278" y="34909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8" name="Google Shape;538;p23"/>
          <p:cNvSpPr/>
          <p:nvPr/>
        </p:nvSpPr>
        <p:spPr>
          <a:xfrm>
            <a:off x="6191250" y="38052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9" name="Google Shape;539;p23"/>
          <p:cNvSpPr/>
          <p:nvPr/>
        </p:nvSpPr>
        <p:spPr>
          <a:xfrm>
            <a:off x="6824364" y="38052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0" name="Google Shape;540;p23"/>
          <p:cNvSpPr/>
          <p:nvPr/>
        </p:nvSpPr>
        <p:spPr>
          <a:xfrm>
            <a:off x="8233023" y="38052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1" name="Google Shape;541;p23"/>
          <p:cNvSpPr/>
          <p:nvPr/>
        </p:nvSpPr>
        <p:spPr>
          <a:xfrm>
            <a:off x="9261871" y="38052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2" name="Google Shape;542;p23"/>
          <p:cNvSpPr/>
          <p:nvPr/>
        </p:nvSpPr>
        <p:spPr>
          <a:xfrm>
            <a:off x="10607278" y="38052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3" name="Google Shape;543;p23"/>
          <p:cNvSpPr/>
          <p:nvPr/>
        </p:nvSpPr>
        <p:spPr>
          <a:xfrm>
            <a:off x="6191250" y="41195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4" name="Google Shape;544;p23"/>
          <p:cNvSpPr/>
          <p:nvPr/>
        </p:nvSpPr>
        <p:spPr>
          <a:xfrm>
            <a:off x="6824364" y="41195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5" name="Google Shape;545;p23"/>
          <p:cNvSpPr/>
          <p:nvPr/>
        </p:nvSpPr>
        <p:spPr>
          <a:xfrm>
            <a:off x="8233023" y="41195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6" name="Google Shape;546;p23"/>
          <p:cNvSpPr/>
          <p:nvPr/>
        </p:nvSpPr>
        <p:spPr>
          <a:xfrm>
            <a:off x="9261871" y="41195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7" name="Google Shape;547;p23"/>
          <p:cNvSpPr/>
          <p:nvPr/>
        </p:nvSpPr>
        <p:spPr>
          <a:xfrm>
            <a:off x="10607278" y="41195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8" name="Google Shape;548;p23"/>
          <p:cNvSpPr/>
          <p:nvPr/>
        </p:nvSpPr>
        <p:spPr>
          <a:xfrm>
            <a:off x="6191250" y="44338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9" name="Google Shape;549;p23"/>
          <p:cNvSpPr/>
          <p:nvPr/>
        </p:nvSpPr>
        <p:spPr>
          <a:xfrm>
            <a:off x="6824364" y="44338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0" name="Google Shape;550;p23"/>
          <p:cNvSpPr/>
          <p:nvPr/>
        </p:nvSpPr>
        <p:spPr>
          <a:xfrm>
            <a:off x="8233023" y="44338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1" name="Google Shape;551;p23"/>
          <p:cNvSpPr/>
          <p:nvPr/>
        </p:nvSpPr>
        <p:spPr>
          <a:xfrm>
            <a:off x="9261871" y="44338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2" name="Google Shape;552;p23"/>
          <p:cNvSpPr/>
          <p:nvPr/>
        </p:nvSpPr>
        <p:spPr>
          <a:xfrm>
            <a:off x="10607278" y="44338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3" name="Google Shape;553;p23"/>
          <p:cNvSpPr/>
          <p:nvPr/>
        </p:nvSpPr>
        <p:spPr>
          <a:xfrm>
            <a:off x="6191250" y="47482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4" name="Google Shape;554;p23"/>
          <p:cNvSpPr/>
          <p:nvPr/>
        </p:nvSpPr>
        <p:spPr>
          <a:xfrm>
            <a:off x="6824364" y="47482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5" name="Google Shape;555;p23"/>
          <p:cNvSpPr/>
          <p:nvPr/>
        </p:nvSpPr>
        <p:spPr>
          <a:xfrm>
            <a:off x="8233023" y="47482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6" name="Google Shape;556;p23"/>
          <p:cNvSpPr/>
          <p:nvPr/>
        </p:nvSpPr>
        <p:spPr>
          <a:xfrm>
            <a:off x="9261871" y="47482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7" name="Google Shape;557;p23"/>
          <p:cNvSpPr/>
          <p:nvPr/>
        </p:nvSpPr>
        <p:spPr>
          <a:xfrm>
            <a:off x="10607278" y="47482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8" name="Google Shape;558;p23"/>
          <p:cNvSpPr/>
          <p:nvPr/>
        </p:nvSpPr>
        <p:spPr>
          <a:xfrm>
            <a:off x="6191250" y="50625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9" name="Google Shape;559;p23"/>
          <p:cNvSpPr/>
          <p:nvPr/>
        </p:nvSpPr>
        <p:spPr>
          <a:xfrm>
            <a:off x="6824364" y="50625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0" name="Google Shape;560;p23"/>
          <p:cNvSpPr/>
          <p:nvPr/>
        </p:nvSpPr>
        <p:spPr>
          <a:xfrm>
            <a:off x="8233023" y="50625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1" name="Google Shape;561;p23"/>
          <p:cNvSpPr/>
          <p:nvPr/>
        </p:nvSpPr>
        <p:spPr>
          <a:xfrm>
            <a:off x="9261871" y="50625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2" name="Google Shape;562;p23"/>
          <p:cNvSpPr/>
          <p:nvPr/>
        </p:nvSpPr>
        <p:spPr>
          <a:xfrm>
            <a:off x="10607278" y="50625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3" name="Google Shape;563;p23"/>
          <p:cNvSpPr/>
          <p:nvPr/>
        </p:nvSpPr>
        <p:spPr>
          <a:xfrm>
            <a:off x="6191250" y="53768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4" name="Google Shape;564;p23"/>
          <p:cNvSpPr/>
          <p:nvPr/>
        </p:nvSpPr>
        <p:spPr>
          <a:xfrm>
            <a:off x="6824364" y="53768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5" name="Google Shape;565;p23"/>
          <p:cNvSpPr/>
          <p:nvPr/>
        </p:nvSpPr>
        <p:spPr>
          <a:xfrm>
            <a:off x="8233023" y="53768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6" name="Google Shape;566;p23"/>
          <p:cNvSpPr/>
          <p:nvPr/>
        </p:nvSpPr>
        <p:spPr>
          <a:xfrm>
            <a:off x="9261871" y="53768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7" name="Google Shape;567;p23"/>
          <p:cNvSpPr/>
          <p:nvPr/>
        </p:nvSpPr>
        <p:spPr>
          <a:xfrm>
            <a:off x="10607278" y="53768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8" name="Google Shape;568;p23"/>
          <p:cNvSpPr txBox="1"/>
          <p:nvPr/>
        </p:nvSpPr>
        <p:spPr>
          <a:xfrm>
            <a:off x="571500" y="476250"/>
            <a:ext cx="721090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tr-TR" sz="2700" b="1" dirty="0" err="1">
                <a:solidFill>
                  <a:srgbClr val="38BDF8"/>
                </a:solidFill>
                <a:latin typeface="Urbanist"/>
                <a:ea typeface="Urbanist"/>
                <a:cs typeface="Urbanist"/>
                <a:sym typeface="Urbanist"/>
              </a:rPr>
              <a:t>GoogLeNet</a:t>
            </a:r>
            <a:r>
              <a:rPr lang="en-US" sz="2700" b="1" i="0" u="none" strike="noStrike" cap="none" dirty="0">
                <a:solidFill>
                  <a:srgbClr val="38BDF8"/>
                </a:solidFill>
                <a:latin typeface="Urbanist"/>
                <a:ea typeface="Urbanist"/>
                <a:cs typeface="Urbanist"/>
                <a:sym typeface="Urbanist"/>
              </a:rPr>
              <a:t>: SINIF BAZLI PERFORMANS (0-21)</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72"/>
        <p:cNvGrpSpPr/>
        <p:nvPr/>
      </p:nvGrpSpPr>
      <p:grpSpPr>
        <a:xfrm>
          <a:off x="0" y="0"/>
          <a:ext cx="0" cy="0"/>
          <a:chOff x="0" y="0"/>
          <a:chExt cx="0" cy="0"/>
        </a:xfrm>
      </p:grpSpPr>
      <p:pic>
        <p:nvPicPr>
          <p:cNvPr id="573" name="Google Shape;57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574" name="Google Shape;574;p24"/>
          <p:cNvGraphicFramePr/>
          <p:nvPr>
            <p:extLst>
              <p:ext uri="{D42A27DB-BD31-4B8C-83A1-F6EECF244321}">
                <p14:modId xmlns:p14="http://schemas.microsoft.com/office/powerpoint/2010/main" val="3210617215"/>
              </p:ext>
            </p:extLst>
          </p:nvPr>
        </p:nvGraphicFramePr>
        <p:xfrm>
          <a:off x="571500" y="1857375"/>
          <a:ext cx="5429275" cy="3855270"/>
        </p:xfrm>
        <a:graphic>
          <a:graphicData uri="http://schemas.openxmlformats.org/drawingml/2006/table">
            <a:tbl>
              <a:tblPr firstRow="1" bandRow="1">
                <a:noFill/>
                <a:tableStyleId>{D746D6EE-2022-4A0E-B6AC-B034E0F457E2}</a:tableStyleId>
              </a:tblPr>
              <a:tblGrid>
                <a:gridCol w="795200">
                  <a:extLst>
                    <a:ext uri="{9D8B030D-6E8A-4147-A177-3AD203B41FA5}">
                      <a16:colId xmlns:a16="http://schemas.microsoft.com/office/drawing/2014/main" val="20000"/>
                    </a:ext>
                  </a:extLst>
                </a:gridCol>
                <a:gridCol w="1361025">
                  <a:extLst>
                    <a:ext uri="{9D8B030D-6E8A-4147-A177-3AD203B41FA5}">
                      <a16:colId xmlns:a16="http://schemas.microsoft.com/office/drawing/2014/main" val="20001"/>
                    </a:ext>
                  </a:extLst>
                </a:gridCol>
                <a:gridCol w="994025">
                  <a:extLst>
                    <a:ext uri="{9D8B030D-6E8A-4147-A177-3AD203B41FA5}">
                      <a16:colId xmlns:a16="http://schemas.microsoft.com/office/drawing/2014/main" val="20002"/>
                    </a:ext>
                  </a:extLst>
                </a:gridCol>
                <a:gridCol w="1299875">
                  <a:extLst>
                    <a:ext uri="{9D8B030D-6E8A-4147-A177-3AD203B41FA5}">
                      <a16:colId xmlns:a16="http://schemas.microsoft.com/office/drawing/2014/main" val="20003"/>
                    </a:ext>
                  </a:extLst>
                </a:gridCol>
                <a:gridCol w="979150">
                  <a:extLst>
                    <a:ext uri="{9D8B030D-6E8A-4147-A177-3AD203B41FA5}">
                      <a16:colId xmlns:a16="http://schemas.microsoft.com/office/drawing/2014/main" val="20004"/>
                    </a:ext>
                  </a:extLst>
                </a:gridCol>
              </a:tblGrid>
              <a:tr h="348950">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44</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0.97</a:t>
                      </a:r>
                      <a:r>
                        <a:rPr lang="tr-TR" sz="975" b="0" i="0" u="none" dirty="0">
                          <a:solidFill>
                            <a:srgbClr val="CBD5E1"/>
                          </a:solidFill>
                          <a:latin typeface="Inter"/>
                          <a:ea typeface="Inter"/>
                          <a:cs typeface="Inter"/>
                          <a:sym typeface="Inter"/>
                        </a:rPr>
                        <a:t>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0.997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360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0.988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0.99</a:t>
                      </a:r>
                      <a:r>
                        <a:rPr lang="tr-TR" sz="975" b="0" i="0" u="none" dirty="0">
                          <a:solidFill>
                            <a:srgbClr val="CBD5E1"/>
                          </a:solidFill>
                          <a:latin typeface="Inter"/>
                          <a:ea typeface="Inter"/>
                          <a:cs typeface="Inter"/>
                          <a:sym typeface="Inter"/>
                        </a:rPr>
                        <a:t>4</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1" i="0" u="none" dirty="0">
                          <a:solidFill>
                            <a:srgbClr val="EF4444"/>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0.991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1" i="0" u="none" dirty="0">
                          <a:solidFill>
                            <a:srgbClr val="EF4444"/>
                          </a:solidFill>
                          <a:latin typeface="Inter"/>
                          <a:ea typeface="Inter"/>
                          <a:sym typeface="Inter"/>
                        </a:rPr>
                        <a:t>0.995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0.976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33</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54</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0.789</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882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30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93</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96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489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Sum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SemiBold"/>
                          <a:ea typeface="Inter SemiBold"/>
                          <a:cs typeface="Inter SemiBold"/>
                          <a:sym typeface="Inter SemiBold"/>
                        </a:rPr>
                        <a:t>Macro Avg F1: 0.</a:t>
                      </a:r>
                      <a:r>
                        <a:rPr lang="tr-TR" sz="975" b="0" i="0" u="none" dirty="0">
                          <a:solidFill>
                            <a:srgbClr val="CBD5E1"/>
                          </a:solidFill>
                          <a:latin typeface="Inter SemiBold"/>
                          <a:ea typeface="Inter SemiBold"/>
                          <a:cs typeface="Inter SemiBold"/>
                          <a:sym typeface="Inter SemiBold"/>
                        </a:rPr>
                        <a:t>8836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bl>
          </a:graphicData>
        </a:graphic>
      </p:graphicFrame>
      <p:graphicFrame>
        <p:nvGraphicFramePr>
          <p:cNvPr id="575" name="Google Shape;575;p24"/>
          <p:cNvGraphicFramePr/>
          <p:nvPr>
            <p:extLst>
              <p:ext uri="{D42A27DB-BD31-4B8C-83A1-F6EECF244321}">
                <p14:modId xmlns:p14="http://schemas.microsoft.com/office/powerpoint/2010/main" val="2387058254"/>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46950">
                  <a:extLst>
                    <a:ext uri="{9D8B030D-6E8A-4147-A177-3AD203B41FA5}">
                      <a16:colId xmlns:a16="http://schemas.microsoft.com/office/drawing/2014/main" val="20000"/>
                    </a:ext>
                  </a:extLst>
                </a:gridCol>
                <a:gridCol w="1404650">
                  <a:extLst>
                    <a:ext uri="{9D8B030D-6E8A-4147-A177-3AD203B41FA5}">
                      <a16:colId xmlns:a16="http://schemas.microsoft.com/office/drawing/2014/main" val="20001"/>
                    </a:ext>
                  </a:extLst>
                </a:gridCol>
                <a:gridCol w="1025875">
                  <a:extLst>
                    <a:ext uri="{9D8B030D-6E8A-4147-A177-3AD203B41FA5}">
                      <a16:colId xmlns:a16="http://schemas.microsoft.com/office/drawing/2014/main" val="20002"/>
                    </a:ext>
                  </a:extLst>
                </a:gridCol>
                <a:gridCol w="1341375">
                  <a:extLst>
                    <a:ext uri="{9D8B030D-6E8A-4147-A177-3AD203B41FA5}">
                      <a16:colId xmlns:a16="http://schemas.microsoft.com/office/drawing/2014/main" val="20003"/>
                    </a:ext>
                  </a:extLst>
                </a:gridCol>
                <a:gridCol w="1010400">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270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30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0.671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0.9</a:t>
                      </a:r>
                      <a:r>
                        <a:rPr lang="tr-TR" sz="975" b="0" i="0" u="none" dirty="0">
                          <a:solidFill>
                            <a:srgbClr val="CBD5E1"/>
                          </a:solidFill>
                          <a:latin typeface="Inter"/>
                          <a:ea typeface="Inter"/>
                          <a:cs typeface="Inter"/>
                          <a:sym typeface="Inter"/>
                        </a:rPr>
                        <a:t>77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dirty="0">
                          <a:solidFill>
                            <a:srgbClr val="CBD5E1"/>
                          </a:solidFill>
                          <a:latin typeface="Inter"/>
                          <a:ea typeface="Inter"/>
                          <a:cs typeface="Inter"/>
                          <a:sym typeface="Inter"/>
                        </a:rPr>
                        <a:t>0.</a:t>
                      </a:r>
                      <a:r>
                        <a:rPr lang="tr-TR" sz="975" b="0" i="0" u="none" dirty="0">
                          <a:solidFill>
                            <a:srgbClr val="CBD5E1"/>
                          </a:solidFill>
                          <a:latin typeface="Inter"/>
                          <a:ea typeface="Inter"/>
                          <a:cs typeface="Inter"/>
                          <a:sym typeface="Inter"/>
                        </a:rPr>
                        <a:t>796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0.959</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sym typeface="Inter SemiBold"/>
                        </a:rPr>
                        <a:t>0.522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0.676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0.705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0.827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0.166</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0.285</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0.707</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0.828</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360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150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30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576" name="Google Shape;576;p24"/>
          <p:cNvSpPr/>
          <p:nvPr/>
        </p:nvSpPr>
        <p:spPr>
          <a:xfrm>
            <a:off x="571500" y="2578893"/>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7" name="Google Shape;577;p24"/>
          <p:cNvSpPr/>
          <p:nvPr/>
        </p:nvSpPr>
        <p:spPr>
          <a:xfrm>
            <a:off x="1366688" y="2578893"/>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8" name="Google Shape;578;p24"/>
          <p:cNvSpPr/>
          <p:nvPr/>
        </p:nvSpPr>
        <p:spPr>
          <a:xfrm>
            <a:off x="2727721" y="2578893"/>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9" name="Google Shape;579;p24"/>
          <p:cNvSpPr/>
          <p:nvPr/>
        </p:nvSpPr>
        <p:spPr>
          <a:xfrm>
            <a:off x="3721744" y="2578893"/>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0" name="Google Shape;580;p24"/>
          <p:cNvSpPr/>
          <p:nvPr/>
        </p:nvSpPr>
        <p:spPr>
          <a:xfrm>
            <a:off x="5021609" y="2578893"/>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1" name="Google Shape;581;p24"/>
          <p:cNvSpPr/>
          <p:nvPr/>
        </p:nvSpPr>
        <p:spPr>
          <a:xfrm>
            <a:off x="571500" y="2924621"/>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p24"/>
          <p:cNvSpPr/>
          <p:nvPr/>
        </p:nvSpPr>
        <p:spPr>
          <a:xfrm>
            <a:off x="1366688" y="2924621"/>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3" name="Google Shape;583;p24"/>
          <p:cNvSpPr/>
          <p:nvPr/>
        </p:nvSpPr>
        <p:spPr>
          <a:xfrm>
            <a:off x="2727721" y="2924621"/>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4" name="Google Shape;584;p24"/>
          <p:cNvSpPr/>
          <p:nvPr/>
        </p:nvSpPr>
        <p:spPr>
          <a:xfrm>
            <a:off x="3721744" y="2924621"/>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5" name="Google Shape;585;p24"/>
          <p:cNvSpPr/>
          <p:nvPr/>
        </p:nvSpPr>
        <p:spPr>
          <a:xfrm>
            <a:off x="5021609" y="2924621"/>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6" name="Google Shape;586;p24"/>
          <p:cNvSpPr/>
          <p:nvPr/>
        </p:nvSpPr>
        <p:spPr>
          <a:xfrm>
            <a:off x="571500" y="3270349"/>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24"/>
          <p:cNvSpPr/>
          <p:nvPr/>
        </p:nvSpPr>
        <p:spPr>
          <a:xfrm>
            <a:off x="1366688" y="3270349"/>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8" name="Google Shape;588;p24"/>
          <p:cNvSpPr/>
          <p:nvPr/>
        </p:nvSpPr>
        <p:spPr>
          <a:xfrm>
            <a:off x="2727721" y="3270349"/>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9" name="Google Shape;589;p24"/>
          <p:cNvSpPr/>
          <p:nvPr/>
        </p:nvSpPr>
        <p:spPr>
          <a:xfrm>
            <a:off x="3721744" y="3270349"/>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0" name="Google Shape;590;p24"/>
          <p:cNvSpPr/>
          <p:nvPr/>
        </p:nvSpPr>
        <p:spPr>
          <a:xfrm>
            <a:off x="5021609" y="3270349"/>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1" name="Google Shape;591;p24"/>
          <p:cNvSpPr/>
          <p:nvPr/>
        </p:nvSpPr>
        <p:spPr>
          <a:xfrm>
            <a:off x="571500" y="3616076"/>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2" name="Google Shape;592;p24"/>
          <p:cNvSpPr/>
          <p:nvPr/>
        </p:nvSpPr>
        <p:spPr>
          <a:xfrm>
            <a:off x="1366688" y="3616076"/>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3" name="Google Shape;593;p24"/>
          <p:cNvSpPr/>
          <p:nvPr/>
        </p:nvSpPr>
        <p:spPr>
          <a:xfrm>
            <a:off x="2727721" y="3616076"/>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4" name="Google Shape;594;p24"/>
          <p:cNvSpPr/>
          <p:nvPr/>
        </p:nvSpPr>
        <p:spPr>
          <a:xfrm>
            <a:off x="3721744" y="3616076"/>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5" name="Google Shape;595;p24"/>
          <p:cNvSpPr/>
          <p:nvPr/>
        </p:nvSpPr>
        <p:spPr>
          <a:xfrm>
            <a:off x="5021609" y="3616076"/>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6" name="Google Shape;596;p24"/>
          <p:cNvSpPr/>
          <p:nvPr/>
        </p:nvSpPr>
        <p:spPr>
          <a:xfrm>
            <a:off x="571500" y="3961804"/>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24"/>
          <p:cNvSpPr/>
          <p:nvPr/>
        </p:nvSpPr>
        <p:spPr>
          <a:xfrm>
            <a:off x="1366688" y="3961804"/>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8" name="Google Shape;598;p24"/>
          <p:cNvSpPr/>
          <p:nvPr/>
        </p:nvSpPr>
        <p:spPr>
          <a:xfrm>
            <a:off x="2727721" y="3961804"/>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9" name="Google Shape;599;p24"/>
          <p:cNvSpPr/>
          <p:nvPr/>
        </p:nvSpPr>
        <p:spPr>
          <a:xfrm>
            <a:off x="3721744" y="3961804"/>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24"/>
          <p:cNvSpPr/>
          <p:nvPr/>
        </p:nvSpPr>
        <p:spPr>
          <a:xfrm>
            <a:off x="5021609" y="3961804"/>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24"/>
          <p:cNvSpPr/>
          <p:nvPr/>
        </p:nvSpPr>
        <p:spPr>
          <a:xfrm>
            <a:off x="571500" y="430753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2" name="Google Shape;602;p24"/>
          <p:cNvSpPr/>
          <p:nvPr/>
        </p:nvSpPr>
        <p:spPr>
          <a:xfrm>
            <a:off x="1366688" y="430753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3" name="Google Shape;603;p24"/>
          <p:cNvSpPr/>
          <p:nvPr/>
        </p:nvSpPr>
        <p:spPr>
          <a:xfrm>
            <a:off x="2727721" y="430753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Google Shape;604;p24"/>
          <p:cNvSpPr/>
          <p:nvPr/>
        </p:nvSpPr>
        <p:spPr>
          <a:xfrm>
            <a:off x="3721744" y="430753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5" name="Google Shape;605;p24"/>
          <p:cNvSpPr/>
          <p:nvPr/>
        </p:nvSpPr>
        <p:spPr>
          <a:xfrm>
            <a:off x="5021609" y="430753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6" name="Google Shape;606;p24"/>
          <p:cNvSpPr/>
          <p:nvPr/>
        </p:nvSpPr>
        <p:spPr>
          <a:xfrm>
            <a:off x="571500" y="4653260"/>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7" name="Google Shape;607;p24"/>
          <p:cNvSpPr/>
          <p:nvPr/>
        </p:nvSpPr>
        <p:spPr>
          <a:xfrm>
            <a:off x="1366688" y="4653260"/>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8" name="Google Shape;608;p24"/>
          <p:cNvSpPr/>
          <p:nvPr/>
        </p:nvSpPr>
        <p:spPr>
          <a:xfrm>
            <a:off x="2727721" y="4653260"/>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9" name="Google Shape;609;p24"/>
          <p:cNvSpPr/>
          <p:nvPr/>
        </p:nvSpPr>
        <p:spPr>
          <a:xfrm>
            <a:off x="3721744" y="4653260"/>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0" name="Google Shape;610;p24"/>
          <p:cNvSpPr/>
          <p:nvPr/>
        </p:nvSpPr>
        <p:spPr>
          <a:xfrm>
            <a:off x="5021609" y="4653260"/>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1" name="Google Shape;611;p24"/>
          <p:cNvSpPr/>
          <p:nvPr/>
        </p:nvSpPr>
        <p:spPr>
          <a:xfrm>
            <a:off x="571500" y="499898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2" name="Google Shape;612;p24"/>
          <p:cNvSpPr/>
          <p:nvPr/>
        </p:nvSpPr>
        <p:spPr>
          <a:xfrm>
            <a:off x="1366688" y="499898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3" name="Google Shape;613;p24"/>
          <p:cNvSpPr/>
          <p:nvPr/>
        </p:nvSpPr>
        <p:spPr>
          <a:xfrm>
            <a:off x="2727721" y="499898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4" name="Google Shape;614;p24"/>
          <p:cNvSpPr/>
          <p:nvPr/>
        </p:nvSpPr>
        <p:spPr>
          <a:xfrm>
            <a:off x="3721744" y="499898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24"/>
          <p:cNvSpPr/>
          <p:nvPr/>
        </p:nvSpPr>
        <p:spPr>
          <a:xfrm>
            <a:off x="5021609" y="499898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6" name="Google Shape;616;p24"/>
          <p:cNvSpPr/>
          <p:nvPr/>
        </p:nvSpPr>
        <p:spPr>
          <a:xfrm>
            <a:off x="571500" y="5344715"/>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7" name="Google Shape;617;p24"/>
          <p:cNvSpPr/>
          <p:nvPr/>
        </p:nvSpPr>
        <p:spPr>
          <a:xfrm>
            <a:off x="1366688" y="5344715"/>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8" name="Google Shape;618;p24"/>
          <p:cNvSpPr/>
          <p:nvPr/>
        </p:nvSpPr>
        <p:spPr>
          <a:xfrm>
            <a:off x="2727721" y="5344715"/>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9" name="Google Shape;619;p24"/>
          <p:cNvSpPr/>
          <p:nvPr/>
        </p:nvSpPr>
        <p:spPr>
          <a:xfrm>
            <a:off x="3721744" y="5344715"/>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0" name="Google Shape;620;p24"/>
          <p:cNvSpPr/>
          <p:nvPr/>
        </p:nvSpPr>
        <p:spPr>
          <a:xfrm>
            <a:off x="5021609" y="5344715"/>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1" name="Google Shape;621;p24"/>
          <p:cNvSpPr/>
          <p:nvPr/>
        </p:nvSpPr>
        <p:spPr>
          <a:xfrm>
            <a:off x="6191250" y="25479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24"/>
          <p:cNvSpPr/>
          <p:nvPr/>
        </p:nvSpPr>
        <p:spPr>
          <a:xfrm>
            <a:off x="6838205" y="25479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3" name="Google Shape;623;p24"/>
          <p:cNvSpPr/>
          <p:nvPr/>
        </p:nvSpPr>
        <p:spPr>
          <a:xfrm>
            <a:off x="8242845" y="25479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4" name="Google Shape;624;p24"/>
          <p:cNvSpPr/>
          <p:nvPr/>
        </p:nvSpPr>
        <p:spPr>
          <a:xfrm>
            <a:off x="9268717" y="25479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5" name="Google Shape;625;p24"/>
          <p:cNvSpPr/>
          <p:nvPr/>
        </p:nvSpPr>
        <p:spPr>
          <a:xfrm>
            <a:off x="10610105" y="25479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6" name="Google Shape;626;p24"/>
          <p:cNvSpPr/>
          <p:nvPr/>
        </p:nvSpPr>
        <p:spPr>
          <a:xfrm>
            <a:off x="6191250" y="28622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7" name="Google Shape;627;p24"/>
          <p:cNvSpPr/>
          <p:nvPr/>
        </p:nvSpPr>
        <p:spPr>
          <a:xfrm>
            <a:off x="6838205" y="28622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24"/>
          <p:cNvSpPr/>
          <p:nvPr/>
        </p:nvSpPr>
        <p:spPr>
          <a:xfrm>
            <a:off x="8242845" y="28622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9" name="Google Shape;629;p24"/>
          <p:cNvSpPr/>
          <p:nvPr/>
        </p:nvSpPr>
        <p:spPr>
          <a:xfrm>
            <a:off x="9268717" y="28622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0" name="Google Shape;630;p24"/>
          <p:cNvSpPr/>
          <p:nvPr/>
        </p:nvSpPr>
        <p:spPr>
          <a:xfrm>
            <a:off x="10610105" y="28622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1" name="Google Shape;631;p24"/>
          <p:cNvSpPr/>
          <p:nvPr/>
        </p:nvSpPr>
        <p:spPr>
          <a:xfrm>
            <a:off x="6191250" y="31765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2" name="Google Shape;632;p24"/>
          <p:cNvSpPr/>
          <p:nvPr/>
        </p:nvSpPr>
        <p:spPr>
          <a:xfrm>
            <a:off x="6838205" y="31765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3" name="Google Shape;633;p24"/>
          <p:cNvSpPr/>
          <p:nvPr/>
        </p:nvSpPr>
        <p:spPr>
          <a:xfrm>
            <a:off x="8242845" y="31765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4" name="Google Shape;634;p24"/>
          <p:cNvSpPr/>
          <p:nvPr/>
        </p:nvSpPr>
        <p:spPr>
          <a:xfrm>
            <a:off x="9268717" y="31765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5" name="Google Shape;635;p24"/>
          <p:cNvSpPr/>
          <p:nvPr/>
        </p:nvSpPr>
        <p:spPr>
          <a:xfrm>
            <a:off x="10610105" y="31765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6" name="Google Shape;636;p24"/>
          <p:cNvSpPr/>
          <p:nvPr/>
        </p:nvSpPr>
        <p:spPr>
          <a:xfrm>
            <a:off x="6191250" y="34909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7" name="Google Shape;637;p24"/>
          <p:cNvSpPr/>
          <p:nvPr/>
        </p:nvSpPr>
        <p:spPr>
          <a:xfrm>
            <a:off x="6838205" y="34909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8" name="Google Shape;638;p24"/>
          <p:cNvSpPr/>
          <p:nvPr/>
        </p:nvSpPr>
        <p:spPr>
          <a:xfrm>
            <a:off x="8242845" y="34909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9" name="Google Shape;639;p24"/>
          <p:cNvSpPr/>
          <p:nvPr/>
        </p:nvSpPr>
        <p:spPr>
          <a:xfrm>
            <a:off x="9268717" y="34909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0" name="Google Shape;640;p24"/>
          <p:cNvSpPr/>
          <p:nvPr/>
        </p:nvSpPr>
        <p:spPr>
          <a:xfrm>
            <a:off x="10610105" y="34909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1" name="Google Shape;641;p24"/>
          <p:cNvSpPr/>
          <p:nvPr/>
        </p:nvSpPr>
        <p:spPr>
          <a:xfrm>
            <a:off x="6191250" y="38052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2" name="Google Shape;642;p24"/>
          <p:cNvSpPr/>
          <p:nvPr/>
        </p:nvSpPr>
        <p:spPr>
          <a:xfrm>
            <a:off x="6838205" y="38052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3" name="Google Shape;643;p24"/>
          <p:cNvSpPr/>
          <p:nvPr/>
        </p:nvSpPr>
        <p:spPr>
          <a:xfrm>
            <a:off x="8242845" y="38052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4" name="Google Shape;644;p24"/>
          <p:cNvSpPr/>
          <p:nvPr/>
        </p:nvSpPr>
        <p:spPr>
          <a:xfrm>
            <a:off x="9268717" y="38052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5" name="Google Shape;645;p24"/>
          <p:cNvSpPr/>
          <p:nvPr/>
        </p:nvSpPr>
        <p:spPr>
          <a:xfrm>
            <a:off x="10610105" y="38052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6" name="Google Shape;646;p24"/>
          <p:cNvSpPr/>
          <p:nvPr/>
        </p:nvSpPr>
        <p:spPr>
          <a:xfrm>
            <a:off x="6191250" y="41195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7" name="Google Shape;647;p24"/>
          <p:cNvSpPr/>
          <p:nvPr/>
        </p:nvSpPr>
        <p:spPr>
          <a:xfrm>
            <a:off x="6838205" y="41195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8" name="Google Shape;648;p24"/>
          <p:cNvSpPr/>
          <p:nvPr/>
        </p:nvSpPr>
        <p:spPr>
          <a:xfrm>
            <a:off x="8242845" y="41195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9" name="Google Shape;649;p24"/>
          <p:cNvSpPr/>
          <p:nvPr/>
        </p:nvSpPr>
        <p:spPr>
          <a:xfrm>
            <a:off x="9268717" y="41195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0" name="Google Shape;650;p24"/>
          <p:cNvSpPr/>
          <p:nvPr/>
        </p:nvSpPr>
        <p:spPr>
          <a:xfrm>
            <a:off x="10610105" y="41195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1" name="Google Shape;651;p24"/>
          <p:cNvSpPr/>
          <p:nvPr/>
        </p:nvSpPr>
        <p:spPr>
          <a:xfrm>
            <a:off x="6191250" y="44338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2" name="Google Shape;652;p24"/>
          <p:cNvSpPr/>
          <p:nvPr/>
        </p:nvSpPr>
        <p:spPr>
          <a:xfrm>
            <a:off x="6838205" y="44338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3" name="Google Shape;653;p24"/>
          <p:cNvSpPr/>
          <p:nvPr/>
        </p:nvSpPr>
        <p:spPr>
          <a:xfrm>
            <a:off x="8242845" y="44338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4" name="Google Shape;654;p24"/>
          <p:cNvSpPr/>
          <p:nvPr/>
        </p:nvSpPr>
        <p:spPr>
          <a:xfrm>
            <a:off x="9268717" y="44338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24"/>
          <p:cNvSpPr/>
          <p:nvPr/>
        </p:nvSpPr>
        <p:spPr>
          <a:xfrm>
            <a:off x="10610105" y="44338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24"/>
          <p:cNvSpPr/>
          <p:nvPr/>
        </p:nvSpPr>
        <p:spPr>
          <a:xfrm>
            <a:off x="6191250" y="47482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7" name="Google Shape;657;p24"/>
          <p:cNvSpPr/>
          <p:nvPr/>
        </p:nvSpPr>
        <p:spPr>
          <a:xfrm>
            <a:off x="6838205" y="47482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8" name="Google Shape;658;p24"/>
          <p:cNvSpPr/>
          <p:nvPr/>
        </p:nvSpPr>
        <p:spPr>
          <a:xfrm>
            <a:off x="8242845" y="47482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9" name="Google Shape;659;p24"/>
          <p:cNvSpPr/>
          <p:nvPr/>
        </p:nvSpPr>
        <p:spPr>
          <a:xfrm>
            <a:off x="9268717" y="47482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0" name="Google Shape;660;p24"/>
          <p:cNvSpPr/>
          <p:nvPr/>
        </p:nvSpPr>
        <p:spPr>
          <a:xfrm>
            <a:off x="10610105" y="47482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1" name="Google Shape;661;p24"/>
          <p:cNvSpPr/>
          <p:nvPr/>
        </p:nvSpPr>
        <p:spPr>
          <a:xfrm>
            <a:off x="6191250" y="50625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2" name="Google Shape;662;p24"/>
          <p:cNvSpPr/>
          <p:nvPr/>
        </p:nvSpPr>
        <p:spPr>
          <a:xfrm>
            <a:off x="6838205" y="50625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3" name="Google Shape;663;p24"/>
          <p:cNvSpPr/>
          <p:nvPr/>
        </p:nvSpPr>
        <p:spPr>
          <a:xfrm>
            <a:off x="8242845" y="50625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4" name="Google Shape;664;p24"/>
          <p:cNvSpPr/>
          <p:nvPr/>
        </p:nvSpPr>
        <p:spPr>
          <a:xfrm>
            <a:off x="9268717" y="50625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5" name="Google Shape;665;p24"/>
          <p:cNvSpPr/>
          <p:nvPr/>
        </p:nvSpPr>
        <p:spPr>
          <a:xfrm>
            <a:off x="10610105" y="50625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6" name="Google Shape;666;p24"/>
          <p:cNvSpPr/>
          <p:nvPr/>
        </p:nvSpPr>
        <p:spPr>
          <a:xfrm>
            <a:off x="6191250" y="53768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7" name="Google Shape;667;p24"/>
          <p:cNvSpPr/>
          <p:nvPr/>
        </p:nvSpPr>
        <p:spPr>
          <a:xfrm>
            <a:off x="6838205" y="53768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8" name="Google Shape;668;p24"/>
          <p:cNvSpPr/>
          <p:nvPr/>
        </p:nvSpPr>
        <p:spPr>
          <a:xfrm>
            <a:off x="8242845" y="53768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9" name="Google Shape;669;p24"/>
          <p:cNvSpPr/>
          <p:nvPr/>
        </p:nvSpPr>
        <p:spPr>
          <a:xfrm>
            <a:off x="9268717" y="53768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0" name="Google Shape;670;p24"/>
          <p:cNvSpPr/>
          <p:nvPr/>
        </p:nvSpPr>
        <p:spPr>
          <a:xfrm>
            <a:off x="10610105" y="53768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1" name="Google Shape;671;p24"/>
          <p:cNvSpPr txBox="1"/>
          <p:nvPr/>
        </p:nvSpPr>
        <p:spPr>
          <a:xfrm>
            <a:off x="571500" y="476250"/>
            <a:ext cx="7510938"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tr-TR" sz="2700" b="1" dirty="0" err="1">
                <a:solidFill>
                  <a:srgbClr val="38BDF8"/>
                </a:solidFill>
                <a:latin typeface="Urbanist"/>
                <a:ea typeface="Urbanist"/>
                <a:cs typeface="Urbanist"/>
                <a:sym typeface="Urbanist"/>
              </a:rPr>
              <a:t>GoogLeNet</a:t>
            </a:r>
            <a:r>
              <a:rPr lang="en-US" sz="2700" b="1" i="0" u="none" strike="noStrike" cap="none" dirty="0">
                <a:solidFill>
                  <a:srgbClr val="38BDF8"/>
                </a:solidFill>
                <a:latin typeface="Urbanist"/>
                <a:ea typeface="Urbanist"/>
                <a:cs typeface="Urbanist"/>
                <a:sym typeface="Urbanist"/>
              </a:rPr>
              <a:t>: SINIF BAZLI PERFORMANS (22-42)</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pic>
        <p:nvPicPr>
          <p:cNvPr id="573" name="Google Shape;57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574" name="Google Shape;574;p24"/>
          <p:cNvGraphicFramePr/>
          <p:nvPr>
            <p:extLst>
              <p:ext uri="{D42A27DB-BD31-4B8C-83A1-F6EECF244321}">
                <p14:modId xmlns:p14="http://schemas.microsoft.com/office/powerpoint/2010/main" val="3443638619"/>
              </p:ext>
            </p:extLst>
          </p:nvPr>
        </p:nvGraphicFramePr>
        <p:xfrm>
          <a:off x="571500" y="1857375"/>
          <a:ext cx="5429275" cy="3855270"/>
        </p:xfrm>
        <a:graphic>
          <a:graphicData uri="http://schemas.openxmlformats.org/drawingml/2006/table">
            <a:tbl>
              <a:tblPr firstRow="1" bandRow="1">
                <a:noFill/>
                <a:tableStyleId>{D746D6EE-2022-4A0E-B6AC-B034E0F457E2}</a:tableStyleId>
              </a:tblPr>
              <a:tblGrid>
                <a:gridCol w="795200">
                  <a:extLst>
                    <a:ext uri="{9D8B030D-6E8A-4147-A177-3AD203B41FA5}">
                      <a16:colId xmlns:a16="http://schemas.microsoft.com/office/drawing/2014/main" val="20000"/>
                    </a:ext>
                  </a:extLst>
                </a:gridCol>
                <a:gridCol w="1361025">
                  <a:extLst>
                    <a:ext uri="{9D8B030D-6E8A-4147-A177-3AD203B41FA5}">
                      <a16:colId xmlns:a16="http://schemas.microsoft.com/office/drawing/2014/main" val="20001"/>
                    </a:ext>
                  </a:extLst>
                </a:gridCol>
                <a:gridCol w="994025">
                  <a:extLst>
                    <a:ext uri="{9D8B030D-6E8A-4147-A177-3AD203B41FA5}">
                      <a16:colId xmlns:a16="http://schemas.microsoft.com/office/drawing/2014/main" val="20002"/>
                    </a:ext>
                  </a:extLst>
                </a:gridCol>
                <a:gridCol w="1299875">
                  <a:extLst>
                    <a:ext uri="{9D8B030D-6E8A-4147-A177-3AD203B41FA5}">
                      <a16:colId xmlns:a16="http://schemas.microsoft.com/office/drawing/2014/main" val="20003"/>
                    </a:ext>
                  </a:extLst>
                </a:gridCol>
                <a:gridCol w="979150">
                  <a:extLst>
                    <a:ext uri="{9D8B030D-6E8A-4147-A177-3AD203B41FA5}">
                      <a16:colId xmlns:a16="http://schemas.microsoft.com/office/drawing/2014/main" val="20004"/>
                    </a:ext>
                  </a:extLst>
                </a:gridCol>
              </a:tblGrid>
              <a:tr h="348950">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4895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4895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750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4895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0.947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4895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48975">
                <a:tc>
                  <a:txBody>
                    <a:bodyPr/>
                    <a:lstStyle/>
                    <a:p>
                      <a:pPr marL="0" marR="0" lvl="0" indent="0" algn="l" rtl="0">
                        <a:spcBef>
                          <a:spcPts val="0"/>
                        </a:spcBef>
                        <a:spcAft>
                          <a:spcPts val="0"/>
                        </a:spcAft>
                        <a:buNone/>
                      </a:pP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bl>
          </a:graphicData>
        </a:graphic>
      </p:graphicFrame>
      <p:graphicFrame>
        <p:nvGraphicFramePr>
          <p:cNvPr id="575" name="Google Shape;575;p24"/>
          <p:cNvGraphicFramePr/>
          <p:nvPr>
            <p:extLst>
              <p:ext uri="{D42A27DB-BD31-4B8C-83A1-F6EECF244321}">
                <p14:modId xmlns:p14="http://schemas.microsoft.com/office/powerpoint/2010/main" val="3411365250"/>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46950">
                  <a:extLst>
                    <a:ext uri="{9D8B030D-6E8A-4147-A177-3AD203B41FA5}">
                      <a16:colId xmlns:a16="http://schemas.microsoft.com/office/drawing/2014/main" val="20000"/>
                    </a:ext>
                  </a:extLst>
                </a:gridCol>
                <a:gridCol w="1404650">
                  <a:extLst>
                    <a:ext uri="{9D8B030D-6E8A-4147-A177-3AD203B41FA5}">
                      <a16:colId xmlns:a16="http://schemas.microsoft.com/office/drawing/2014/main" val="20001"/>
                    </a:ext>
                  </a:extLst>
                </a:gridCol>
                <a:gridCol w="1025875">
                  <a:extLst>
                    <a:ext uri="{9D8B030D-6E8A-4147-A177-3AD203B41FA5}">
                      <a16:colId xmlns:a16="http://schemas.microsoft.com/office/drawing/2014/main" val="20002"/>
                    </a:ext>
                  </a:extLst>
                </a:gridCol>
                <a:gridCol w="1341375">
                  <a:extLst>
                    <a:ext uri="{9D8B030D-6E8A-4147-A177-3AD203B41FA5}">
                      <a16:colId xmlns:a16="http://schemas.microsoft.com/office/drawing/2014/main" val="20003"/>
                    </a:ext>
                  </a:extLst>
                </a:gridCol>
                <a:gridCol w="1010400">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0.933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0.996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270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0.995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210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150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0.944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0.971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360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0.990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0.995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390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lang="en-US" sz="100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6</a:t>
                      </a:r>
                      <a:r>
                        <a:rPr lang="tr-TR" sz="975" b="0" i="0" u="none">
                          <a:solidFill>
                            <a:srgbClr val="CBD5E1"/>
                          </a:solidFill>
                          <a:latin typeface="Inter"/>
                          <a:ea typeface="Inter"/>
                          <a:cs typeface="Inter"/>
                          <a:sym typeface="Inter"/>
                        </a:rPr>
                        <a:t>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576" name="Google Shape;576;p24"/>
          <p:cNvSpPr/>
          <p:nvPr/>
        </p:nvSpPr>
        <p:spPr>
          <a:xfrm>
            <a:off x="571500" y="2578893"/>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7" name="Google Shape;577;p24"/>
          <p:cNvSpPr/>
          <p:nvPr/>
        </p:nvSpPr>
        <p:spPr>
          <a:xfrm>
            <a:off x="1366688" y="2578893"/>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8" name="Google Shape;578;p24"/>
          <p:cNvSpPr/>
          <p:nvPr/>
        </p:nvSpPr>
        <p:spPr>
          <a:xfrm>
            <a:off x="2727721" y="2578893"/>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9" name="Google Shape;579;p24"/>
          <p:cNvSpPr/>
          <p:nvPr/>
        </p:nvSpPr>
        <p:spPr>
          <a:xfrm>
            <a:off x="3721744" y="2578893"/>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0" name="Google Shape;580;p24"/>
          <p:cNvSpPr/>
          <p:nvPr/>
        </p:nvSpPr>
        <p:spPr>
          <a:xfrm>
            <a:off x="5021609" y="2578893"/>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1" name="Google Shape;581;p24"/>
          <p:cNvSpPr/>
          <p:nvPr/>
        </p:nvSpPr>
        <p:spPr>
          <a:xfrm>
            <a:off x="571500" y="2924621"/>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p24"/>
          <p:cNvSpPr/>
          <p:nvPr/>
        </p:nvSpPr>
        <p:spPr>
          <a:xfrm>
            <a:off x="1366688" y="2924621"/>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3" name="Google Shape;583;p24"/>
          <p:cNvSpPr/>
          <p:nvPr/>
        </p:nvSpPr>
        <p:spPr>
          <a:xfrm>
            <a:off x="2727721" y="2924621"/>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4" name="Google Shape;584;p24"/>
          <p:cNvSpPr/>
          <p:nvPr/>
        </p:nvSpPr>
        <p:spPr>
          <a:xfrm>
            <a:off x="3721744" y="2924621"/>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5" name="Google Shape;585;p24"/>
          <p:cNvSpPr/>
          <p:nvPr/>
        </p:nvSpPr>
        <p:spPr>
          <a:xfrm>
            <a:off x="5021609" y="2924621"/>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6" name="Google Shape;586;p24"/>
          <p:cNvSpPr/>
          <p:nvPr/>
        </p:nvSpPr>
        <p:spPr>
          <a:xfrm>
            <a:off x="571500" y="3270349"/>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24"/>
          <p:cNvSpPr/>
          <p:nvPr/>
        </p:nvSpPr>
        <p:spPr>
          <a:xfrm>
            <a:off x="1366688" y="3270349"/>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8" name="Google Shape;588;p24"/>
          <p:cNvSpPr/>
          <p:nvPr/>
        </p:nvSpPr>
        <p:spPr>
          <a:xfrm>
            <a:off x="2727721" y="3270349"/>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9" name="Google Shape;589;p24"/>
          <p:cNvSpPr/>
          <p:nvPr/>
        </p:nvSpPr>
        <p:spPr>
          <a:xfrm>
            <a:off x="3721744" y="3270349"/>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0" name="Google Shape;590;p24"/>
          <p:cNvSpPr/>
          <p:nvPr/>
        </p:nvSpPr>
        <p:spPr>
          <a:xfrm>
            <a:off x="5021609" y="3270349"/>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1" name="Google Shape;591;p24"/>
          <p:cNvSpPr/>
          <p:nvPr/>
        </p:nvSpPr>
        <p:spPr>
          <a:xfrm>
            <a:off x="571500" y="3616076"/>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2" name="Google Shape;592;p24"/>
          <p:cNvSpPr/>
          <p:nvPr/>
        </p:nvSpPr>
        <p:spPr>
          <a:xfrm>
            <a:off x="1366688" y="3616076"/>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3" name="Google Shape;593;p24"/>
          <p:cNvSpPr/>
          <p:nvPr/>
        </p:nvSpPr>
        <p:spPr>
          <a:xfrm>
            <a:off x="2727721" y="3616076"/>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4" name="Google Shape;594;p24"/>
          <p:cNvSpPr/>
          <p:nvPr/>
        </p:nvSpPr>
        <p:spPr>
          <a:xfrm>
            <a:off x="3721744" y="3616076"/>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5" name="Google Shape;595;p24"/>
          <p:cNvSpPr/>
          <p:nvPr/>
        </p:nvSpPr>
        <p:spPr>
          <a:xfrm>
            <a:off x="5021609" y="3616076"/>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6" name="Google Shape;596;p24"/>
          <p:cNvSpPr/>
          <p:nvPr/>
        </p:nvSpPr>
        <p:spPr>
          <a:xfrm>
            <a:off x="571500" y="3961804"/>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24"/>
          <p:cNvSpPr/>
          <p:nvPr/>
        </p:nvSpPr>
        <p:spPr>
          <a:xfrm>
            <a:off x="1366688" y="3961804"/>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8" name="Google Shape;598;p24"/>
          <p:cNvSpPr/>
          <p:nvPr/>
        </p:nvSpPr>
        <p:spPr>
          <a:xfrm>
            <a:off x="2727721" y="3961804"/>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9" name="Google Shape;599;p24"/>
          <p:cNvSpPr/>
          <p:nvPr/>
        </p:nvSpPr>
        <p:spPr>
          <a:xfrm>
            <a:off x="3721744" y="3961804"/>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24"/>
          <p:cNvSpPr/>
          <p:nvPr/>
        </p:nvSpPr>
        <p:spPr>
          <a:xfrm>
            <a:off x="5021609" y="3961804"/>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24"/>
          <p:cNvSpPr/>
          <p:nvPr/>
        </p:nvSpPr>
        <p:spPr>
          <a:xfrm>
            <a:off x="571500" y="430753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2" name="Google Shape;602;p24"/>
          <p:cNvSpPr/>
          <p:nvPr/>
        </p:nvSpPr>
        <p:spPr>
          <a:xfrm>
            <a:off x="1366688" y="430753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3" name="Google Shape;603;p24"/>
          <p:cNvSpPr/>
          <p:nvPr/>
        </p:nvSpPr>
        <p:spPr>
          <a:xfrm>
            <a:off x="2727721" y="430753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Google Shape;604;p24"/>
          <p:cNvSpPr/>
          <p:nvPr/>
        </p:nvSpPr>
        <p:spPr>
          <a:xfrm>
            <a:off x="3721744" y="430753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5" name="Google Shape;605;p24"/>
          <p:cNvSpPr/>
          <p:nvPr/>
        </p:nvSpPr>
        <p:spPr>
          <a:xfrm>
            <a:off x="5021609" y="430753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6" name="Google Shape;606;p24"/>
          <p:cNvSpPr/>
          <p:nvPr/>
        </p:nvSpPr>
        <p:spPr>
          <a:xfrm>
            <a:off x="571500" y="4653260"/>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7" name="Google Shape;607;p24"/>
          <p:cNvSpPr/>
          <p:nvPr/>
        </p:nvSpPr>
        <p:spPr>
          <a:xfrm>
            <a:off x="1366688" y="4653260"/>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8" name="Google Shape;608;p24"/>
          <p:cNvSpPr/>
          <p:nvPr/>
        </p:nvSpPr>
        <p:spPr>
          <a:xfrm>
            <a:off x="2727721" y="4653260"/>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9" name="Google Shape;609;p24"/>
          <p:cNvSpPr/>
          <p:nvPr/>
        </p:nvSpPr>
        <p:spPr>
          <a:xfrm>
            <a:off x="3721744" y="4653260"/>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0" name="Google Shape;610;p24"/>
          <p:cNvSpPr/>
          <p:nvPr/>
        </p:nvSpPr>
        <p:spPr>
          <a:xfrm>
            <a:off x="5021609" y="4653260"/>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1" name="Google Shape;611;p24"/>
          <p:cNvSpPr/>
          <p:nvPr/>
        </p:nvSpPr>
        <p:spPr>
          <a:xfrm>
            <a:off x="571500" y="499898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2" name="Google Shape;612;p24"/>
          <p:cNvSpPr/>
          <p:nvPr/>
        </p:nvSpPr>
        <p:spPr>
          <a:xfrm>
            <a:off x="1366688" y="499898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3" name="Google Shape;613;p24"/>
          <p:cNvSpPr/>
          <p:nvPr/>
        </p:nvSpPr>
        <p:spPr>
          <a:xfrm>
            <a:off x="2727721" y="499898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4" name="Google Shape;614;p24"/>
          <p:cNvSpPr/>
          <p:nvPr/>
        </p:nvSpPr>
        <p:spPr>
          <a:xfrm>
            <a:off x="3721744" y="499898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24"/>
          <p:cNvSpPr/>
          <p:nvPr/>
        </p:nvSpPr>
        <p:spPr>
          <a:xfrm>
            <a:off x="5021609" y="499898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6" name="Google Shape;616;p24"/>
          <p:cNvSpPr/>
          <p:nvPr/>
        </p:nvSpPr>
        <p:spPr>
          <a:xfrm>
            <a:off x="571500" y="5344715"/>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7" name="Google Shape;617;p24"/>
          <p:cNvSpPr/>
          <p:nvPr/>
        </p:nvSpPr>
        <p:spPr>
          <a:xfrm>
            <a:off x="1366688" y="5344715"/>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8" name="Google Shape;618;p24"/>
          <p:cNvSpPr/>
          <p:nvPr/>
        </p:nvSpPr>
        <p:spPr>
          <a:xfrm>
            <a:off x="2727721" y="5344715"/>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9" name="Google Shape;619;p24"/>
          <p:cNvSpPr/>
          <p:nvPr/>
        </p:nvSpPr>
        <p:spPr>
          <a:xfrm>
            <a:off x="3721744" y="5344715"/>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0" name="Google Shape;620;p24"/>
          <p:cNvSpPr/>
          <p:nvPr/>
        </p:nvSpPr>
        <p:spPr>
          <a:xfrm>
            <a:off x="5021609" y="5344715"/>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1" name="Google Shape;621;p24"/>
          <p:cNvSpPr/>
          <p:nvPr/>
        </p:nvSpPr>
        <p:spPr>
          <a:xfrm>
            <a:off x="6191250" y="25479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24"/>
          <p:cNvSpPr/>
          <p:nvPr/>
        </p:nvSpPr>
        <p:spPr>
          <a:xfrm>
            <a:off x="6838205" y="25479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3" name="Google Shape;623;p24"/>
          <p:cNvSpPr/>
          <p:nvPr/>
        </p:nvSpPr>
        <p:spPr>
          <a:xfrm>
            <a:off x="8242845" y="25479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4" name="Google Shape;624;p24"/>
          <p:cNvSpPr/>
          <p:nvPr/>
        </p:nvSpPr>
        <p:spPr>
          <a:xfrm>
            <a:off x="9268717" y="25479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5" name="Google Shape;625;p24"/>
          <p:cNvSpPr/>
          <p:nvPr/>
        </p:nvSpPr>
        <p:spPr>
          <a:xfrm>
            <a:off x="10610105" y="25479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6" name="Google Shape;626;p24"/>
          <p:cNvSpPr/>
          <p:nvPr/>
        </p:nvSpPr>
        <p:spPr>
          <a:xfrm>
            <a:off x="6191250" y="28622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7" name="Google Shape;627;p24"/>
          <p:cNvSpPr/>
          <p:nvPr/>
        </p:nvSpPr>
        <p:spPr>
          <a:xfrm>
            <a:off x="6838205" y="28622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24"/>
          <p:cNvSpPr/>
          <p:nvPr/>
        </p:nvSpPr>
        <p:spPr>
          <a:xfrm>
            <a:off x="8242845" y="28622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9" name="Google Shape;629;p24"/>
          <p:cNvSpPr/>
          <p:nvPr/>
        </p:nvSpPr>
        <p:spPr>
          <a:xfrm>
            <a:off x="9268717" y="28622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0" name="Google Shape;630;p24"/>
          <p:cNvSpPr/>
          <p:nvPr/>
        </p:nvSpPr>
        <p:spPr>
          <a:xfrm>
            <a:off x="10610105" y="28622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1" name="Google Shape;631;p24"/>
          <p:cNvSpPr/>
          <p:nvPr/>
        </p:nvSpPr>
        <p:spPr>
          <a:xfrm>
            <a:off x="6191250" y="31765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2" name="Google Shape;632;p24"/>
          <p:cNvSpPr/>
          <p:nvPr/>
        </p:nvSpPr>
        <p:spPr>
          <a:xfrm>
            <a:off x="6838205" y="31765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3" name="Google Shape;633;p24"/>
          <p:cNvSpPr/>
          <p:nvPr/>
        </p:nvSpPr>
        <p:spPr>
          <a:xfrm>
            <a:off x="8242845" y="31765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4" name="Google Shape;634;p24"/>
          <p:cNvSpPr/>
          <p:nvPr/>
        </p:nvSpPr>
        <p:spPr>
          <a:xfrm>
            <a:off x="9268717" y="31765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5" name="Google Shape;635;p24"/>
          <p:cNvSpPr/>
          <p:nvPr/>
        </p:nvSpPr>
        <p:spPr>
          <a:xfrm>
            <a:off x="10610105" y="31765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6" name="Google Shape;636;p24"/>
          <p:cNvSpPr/>
          <p:nvPr/>
        </p:nvSpPr>
        <p:spPr>
          <a:xfrm>
            <a:off x="6191250" y="34909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7" name="Google Shape;637;p24"/>
          <p:cNvSpPr/>
          <p:nvPr/>
        </p:nvSpPr>
        <p:spPr>
          <a:xfrm>
            <a:off x="6838205" y="34909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8" name="Google Shape;638;p24"/>
          <p:cNvSpPr/>
          <p:nvPr/>
        </p:nvSpPr>
        <p:spPr>
          <a:xfrm>
            <a:off x="8242845" y="34909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9" name="Google Shape;639;p24"/>
          <p:cNvSpPr/>
          <p:nvPr/>
        </p:nvSpPr>
        <p:spPr>
          <a:xfrm>
            <a:off x="9268717" y="34909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0" name="Google Shape;640;p24"/>
          <p:cNvSpPr/>
          <p:nvPr/>
        </p:nvSpPr>
        <p:spPr>
          <a:xfrm>
            <a:off x="10610105" y="34909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1" name="Google Shape;641;p24"/>
          <p:cNvSpPr/>
          <p:nvPr/>
        </p:nvSpPr>
        <p:spPr>
          <a:xfrm>
            <a:off x="6191250" y="38052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2" name="Google Shape;642;p24"/>
          <p:cNvSpPr/>
          <p:nvPr/>
        </p:nvSpPr>
        <p:spPr>
          <a:xfrm>
            <a:off x="6838205" y="38052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3" name="Google Shape;643;p24"/>
          <p:cNvSpPr/>
          <p:nvPr/>
        </p:nvSpPr>
        <p:spPr>
          <a:xfrm>
            <a:off x="8242845" y="38052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4" name="Google Shape;644;p24"/>
          <p:cNvSpPr/>
          <p:nvPr/>
        </p:nvSpPr>
        <p:spPr>
          <a:xfrm>
            <a:off x="9268717" y="38052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5" name="Google Shape;645;p24"/>
          <p:cNvSpPr/>
          <p:nvPr/>
        </p:nvSpPr>
        <p:spPr>
          <a:xfrm>
            <a:off x="10610105" y="38052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6" name="Google Shape;646;p24"/>
          <p:cNvSpPr/>
          <p:nvPr/>
        </p:nvSpPr>
        <p:spPr>
          <a:xfrm>
            <a:off x="6191250" y="41195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7" name="Google Shape;647;p24"/>
          <p:cNvSpPr/>
          <p:nvPr/>
        </p:nvSpPr>
        <p:spPr>
          <a:xfrm>
            <a:off x="6838205" y="41195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8" name="Google Shape;648;p24"/>
          <p:cNvSpPr/>
          <p:nvPr/>
        </p:nvSpPr>
        <p:spPr>
          <a:xfrm>
            <a:off x="8242845" y="41195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9" name="Google Shape;649;p24"/>
          <p:cNvSpPr/>
          <p:nvPr/>
        </p:nvSpPr>
        <p:spPr>
          <a:xfrm>
            <a:off x="9268717" y="41195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0" name="Google Shape;650;p24"/>
          <p:cNvSpPr/>
          <p:nvPr/>
        </p:nvSpPr>
        <p:spPr>
          <a:xfrm>
            <a:off x="10610105" y="41195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1" name="Google Shape;651;p24"/>
          <p:cNvSpPr/>
          <p:nvPr/>
        </p:nvSpPr>
        <p:spPr>
          <a:xfrm>
            <a:off x="6191250" y="44338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2" name="Google Shape;652;p24"/>
          <p:cNvSpPr/>
          <p:nvPr/>
        </p:nvSpPr>
        <p:spPr>
          <a:xfrm>
            <a:off x="6838205" y="44338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3" name="Google Shape;653;p24"/>
          <p:cNvSpPr/>
          <p:nvPr/>
        </p:nvSpPr>
        <p:spPr>
          <a:xfrm>
            <a:off x="8242845" y="44338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4" name="Google Shape;654;p24"/>
          <p:cNvSpPr/>
          <p:nvPr/>
        </p:nvSpPr>
        <p:spPr>
          <a:xfrm>
            <a:off x="9268717" y="44338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24"/>
          <p:cNvSpPr/>
          <p:nvPr/>
        </p:nvSpPr>
        <p:spPr>
          <a:xfrm>
            <a:off x="10610105" y="44338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24"/>
          <p:cNvSpPr/>
          <p:nvPr/>
        </p:nvSpPr>
        <p:spPr>
          <a:xfrm>
            <a:off x="6191250" y="47482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7" name="Google Shape;657;p24"/>
          <p:cNvSpPr/>
          <p:nvPr/>
        </p:nvSpPr>
        <p:spPr>
          <a:xfrm>
            <a:off x="6838205" y="47482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8" name="Google Shape;658;p24"/>
          <p:cNvSpPr/>
          <p:nvPr/>
        </p:nvSpPr>
        <p:spPr>
          <a:xfrm>
            <a:off x="8242845" y="47482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9" name="Google Shape;659;p24"/>
          <p:cNvSpPr/>
          <p:nvPr/>
        </p:nvSpPr>
        <p:spPr>
          <a:xfrm>
            <a:off x="9268717" y="47482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0" name="Google Shape;660;p24"/>
          <p:cNvSpPr/>
          <p:nvPr/>
        </p:nvSpPr>
        <p:spPr>
          <a:xfrm>
            <a:off x="10610105" y="47482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1" name="Google Shape;661;p24"/>
          <p:cNvSpPr/>
          <p:nvPr/>
        </p:nvSpPr>
        <p:spPr>
          <a:xfrm>
            <a:off x="6191250" y="50625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2" name="Google Shape;662;p24"/>
          <p:cNvSpPr/>
          <p:nvPr/>
        </p:nvSpPr>
        <p:spPr>
          <a:xfrm>
            <a:off x="6838205" y="50625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3" name="Google Shape;663;p24"/>
          <p:cNvSpPr/>
          <p:nvPr/>
        </p:nvSpPr>
        <p:spPr>
          <a:xfrm>
            <a:off x="8242845" y="50625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4" name="Google Shape;664;p24"/>
          <p:cNvSpPr/>
          <p:nvPr/>
        </p:nvSpPr>
        <p:spPr>
          <a:xfrm>
            <a:off x="9268717" y="50625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5" name="Google Shape;665;p24"/>
          <p:cNvSpPr/>
          <p:nvPr/>
        </p:nvSpPr>
        <p:spPr>
          <a:xfrm>
            <a:off x="10610105" y="50625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6" name="Google Shape;666;p24"/>
          <p:cNvSpPr/>
          <p:nvPr/>
        </p:nvSpPr>
        <p:spPr>
          <a:xfrm>
            <a:off x="6191250" y="53768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7" name="Google Shape;667;p24"/>
          <p:cNvSpPr/>
          <p:nvPr/>
        </p:nvSpPr>
        <p:spPr>
          <a:xfrm>
            <a:off x="6838205" y="53768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8" name="Google Shape;668;p24"/>
          <p:cNvSpPr/>
          <p:nvPr/>
        </p:nvSpPr>
        <p:spPr>
          <a:xfrm>
            <a:off x="8242845" y="53768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9" name="Google Shape;669;p24"/>
          <p:cNvSpPr/>
          <p:nvPr/>
        </p:nvSpPr>
        <p:spPr>
          <a:xfrm>
            <a:off x="9268717" y="53768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0" name="Google Shape;670;p24"/>
          <p:cNvSpPr/>
          <p:nvPr/>
        </p:nvSpPr>
        <p:spPr>
          <a:xfrm>
            <a:off x="10610105" y="53768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1" name="Google Shape;671;p24"/>
          <p:cNvSpPr txBox="1"/>
          <p:nvPr/>
        </p:nvSpPr>
        <p:spPr>
          <a:xfrm>
            <a:off x="571500" y="476250"/>
            <a:ext cx="8285988"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DENSENET-121: SINIF BAZLI PERFORMANS (0-1</a:t>
            </a:r>
            <a:r>
              <a:rPr lang="tr-TR" sz="2700" b="1" i="0" u="none" strike="noStrike" cap="none">
                <a:solidFill>
                  <a:srgbClr val="38BDF8"/>
                </a:solidFill>
                <a:latin typeface="Urbanist"/>
                <a:ea typeface="Urbanist"/>
                <a:cs typeface="Urbanist"/>
                <a:sym typeface="Urbanist"/>
              </a:rPr>
              <a:t>9</a:t>
            </a:r>
            <a:r>
              <a:rPr lang="en-US" sz="2700" b="1" i="0" u="none" strike="noStrike" cap="none">
                <a:solidFill>
                  <a:srgbClr val="38BDF8"/>
                </a:solidFill>
                <a:latin typeface="Urbanist"/>
                <a:ea typeface="Urbanist"/>
                <a:cs typeface="Urbanist"/>
                <a:sym typeface="Urbanist"/>
              </a:rPr>
              <a:t>)</a:t>
            </a:r>
            <a:endParaRPr lang="en-US" sz="2800"/>
          </a:p>
        </p:txBody>
      </p:sp>
    </p:spTree>
    <p:extLst>
      <p:ext uri="{BB962C8B-B14F-4D97-AF65-F5344CB8AC3E}">
        <p14:creationId xmlns:p14="http://schemas.microsoft.com/office/powerpoint/2010/main" val="847586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pic>
        <p:nvPicPr>
          <p:cNvPr id="573" name="Google Shape;573;p24" descr="image.png"/>
          <p:cNvPicPr preferRelativeResize="0"/>
          <p:nvPr/>
        </p:nvPicPr>
        <p:blipFill rotWithShape="1">
          <a:blip r:embed="rId3">
            <a:alphaModFix/>
          </a:blip>
          <a:srcRect/>
          <a:stretch/>
        </p:blipFill>
        <p:spPr>
          <a:xfrm>
            <a:off x="0" y="20289"/>
            <a:ext cx="12192000" cy="6858000"/>
          </a:xfrm>
          <a:prstGeom prst="rect">
            <a:avLst/>
          </a:prstGeom>
          <a:noFill/>
          <a:ln>
            <a:noFill/>
          </a:ln>
        </p:spPr>
      </p:pic>
      <p:graphicFrame>
        <p:nvGraphicFramePr>
          <p:cNvPr id="574" name="Google Shape;574;p24"/>
          <p:cNvGraphicFramePr/>
          <p:nvPr>
            <p:extLst>
              <p:ext uri="{D42A27DB-BD31-4B8C-83A1-F6EECF244321}">
                <p14:modId xmlns:p14="http://schemas.microsoft.com/office/powerpoint/2010/main" val="1040581291"/>
              </p:ext>
            </p:extLst>
          </p:nvPr>
        </p:nvGraphicFramePr>
        <p:xfrm>
          <a:off x="571500" y="1857375"/>
          <a:ext cx="5429275" cy="4106006"/>
        </p:xfrm>
        <a:graphic>
          <a:graphicData uri="http://schemas.openxmlformats.org/drawingml/2006/table">
            <a:tbl>
              <a:tblPr firstRow="1" bandRow="1">
                <a:noFill/>
                <a:tableStyleId>{D746D6EE-2022-4A0E-B6AC-B034E0F457E2}</a:tableStyleId>
              </a:tblPr>
              <a:tblGrid>
                <a:gridCol w="795200">
                  <a:extLst>
                    <a:ext uri="{9D8B030D-6E8A-4147-A177-3AD203B41FA5}">
                      <a16:colId xmlns:a16="http://schemas.microsoft.com/office/drawing/2014/main" val="20000"/>
                    </a:ext>
                  </a:extLst>
                </a:gridCol>
                <a:gridCol w="1361025">
                  <a:extLst>
                    <a:ext uri="{9D8B030D-6E8A-4147-A177-3AD203B41FA5}">
                      <a16:colId xmlns:a16="http://schemas.microsoft.com/office/drawing/2014/main" val="20001"/>
                    </a:ext>
                  </a:extLst>
                </a:gridCol>
                <a:gridCol w="994025">
                  <a:extLst>
                    <a:ext uri="{9D8B030D-6E8A-4147-A177-3AD203B41FA5}">
                      <a16:colId xmlns:a16="http://schemas.microsoft.com/office/drawing/2014/main" val="20002"/>
                    </a:ext>
                  </a:extLst>
                </a:gridCol>
                <a:gridCol w="1299875">
                  <a:extLst>
                    <a:ext uri="{9D8B030D-6E8A-4147-A177-3AD203B41FA5}">
                      <a16:colId xmlns:a16="http://schemas.microsoft.com/office/drawing/2014/main" val="20003"/>
                    </a:ext>
                  </a:extLst>
                </a:gridCol>
                <a:gridCol w="979150">
                  <a:extLst>
                    <a:ext uri="{9D8B030D-6E8A-4147-A177-3AD203B41FA5}">
                      <a16:colId xmlns:a16="http://schemas.microsoft.com/office/drawing/2014/main" val="20004"/>
                    </a:ext>
                  </a:extLst>
                </a:gridCol>
              </a:tblGrid>
              <a:tr h="348950">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 0.989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0.994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0.988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0.944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0.966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0.917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0.957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0.974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0.987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 0.978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0.989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0.947 </a:t>
                      </a:r>
                      <a:r>
                        <a:rPr lang="tr-TR" sz="975" b="1" i="0" u="none">
                          <a:solidFill>
                            <a:srgbClr val="EF4444"/>
                          </a:solidFill>
                          <a:latin typeface="Inter"/>
                          <a:ea typeface="Inter"/>
                          <a:cs typeface="Inter"/>
                          <a:sym typeface="Inter"/>
                        </a:rPr>
                        <a:t>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0.998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tr-TR" sz="975" b="0" i="0" u="none">
                          <a:solidFill>
                            <a:srgbClr val="CBD5E1"/>
                          </a:solidFill>
                          <a:latin typeface="Inter"/>
                          <a:ea typeface="Inter"/>
                          <a:cs typeface="Inter"/>
                          <a:sym typeface="Inter"/>
                        </a:rPr>
                        <a:t>0.972  </a:t>
                      </a:r>
                      <a:endParaRPr lang="tr-TR" sz="1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480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0.968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0.984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180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4895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a:t>
                      </a:r>
                      <a:r>
                        <a:rPr lang="tr-TR" sz="975" b="0" i="0" u="none">
                          <a:solidFill>
                            <a:srgbClr val="CBD5E1"/>
                          </a:solidFill>
                          <a:latin typeface="Inter"/>
                          <a:ea typeface="Inter"/>
                          <a:cs typeface="Inter"/>
                          <a:sym typeface="Inter"/>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0.550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0.710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48950">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28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0.987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0.993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150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48975">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29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0.978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0.989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267531">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 0.968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0.807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0.880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150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2765208318"/>
                  </a:ext>
                </a:extLst>
              </a:tr>
            </a:tbl>
          </a:graphicData>
        </a:graphic>
      </p:graphicFrame>
      <p:graphicFrame>
        <p:nvGraphicFramePr>
          <p:cNvPr id="575" name="Google Shape;575;p24"/>
          <p:cNvGraphicFramePr/>
          <p:nvPr>
            <p:extLst>
              <p:ext uri="{D42A27DB-BD31-4B8C-83A1-F6EECF244321}">
                <p14:modId xmlns:p14="http://schemas.microsoft.com/office/powerpoint/2010/main" val="2849060948"/>
              </p:ext>
            </p:extLst>
          </p:nvPr>
        </p:nvGraphicFramePr>
        <p:xfrm>
          <a:off x="6191250" y="1857375"/>
          <a:ext cx="5429250" cy="4478250"/>
        </p:xfrm>
        <a:graphic>
          <a:graphicData uri="http://schemas.openxmlformats.org/drawingml/2006/table">
            <a:tbl>
              <a:tblPr firstRow="1" bandRow="1">
                <a:noFill/>
                <a:tableStyleId>{D746D6EE-2022-4A0E-B6AC-B034E0F457E2}</a:tableStyleId>
              </a:tblPr>
              <a:tblGrid>
                <a:gridCol w="1044702">
                  <a:extLst>
                    <a:ext uri="{9D8B030D-6E8A-4147-A177-3AD203B41FA5}">
                      <a16:colId xmlns:a16="http://schemas.microsoft.com/office/drawing/2014/main" val="20000"/>
                    </a:ext>
                  </a:extLst>
                </a:gridCol>
                <a:gridCol w="1006898">
                  <a:extLst>
                    <a:ext uri="{9D8B030D-6E8A-4147-A177-3AD203B41FA5}">
                      <a16:colId xmlns:a16="http://schemas.microsoft.com/office/drawing/2014/main" val="20001"/>
                    </a:ext>
                  </a:extLst>
                </a:gridCol>
                <a:gridCol w="1025875">
                  <a:extLst>
                    <a:ext uri="{9D8B030D-6E8A-4147-A177-3AD203B41FA5}">
                      <a16:colId xmlns:a16="http://schemas.microsoft.com/office/drawing/2014/main" val="20002"/>
                    </a:ext>
                  </a:extLst>
                </a:gridCol>
                <a:gridCol w="1341375">
                  <a:extLst>
                    <a:ext uri="{9D8B030D-6E8A-4147-A177-3AD203B41FA5}">
                      <a16:colId xmlns:a16="http://schemas.microsoft.com/office/drawing/2014/main" val="20003"/>
                    </a:ext>
                  </a:extLst>
                </a:gridCol>
                <a:gridCol w="1010400">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 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270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210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sym typeface="Inter SemiBold"/>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sym typeface="Inter SemiBold"/>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0.992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0.987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0.990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390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0.984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0.992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SemiBold"/>
                          <a:ea typeface="Inter SemiBold"/>
                          <a:cs typeface="Inter SemiBold"/>
                          <a:sym typeface="Inter SemiBold"/>
                        </a:rPr>
                        <a:t>120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0.952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0.983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0.967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0.999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0.992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690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0.983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dirty="0">
                          <a:solidFill>
                            <a:srgbClr val="CBD5E1"/>
                          </a:solidFill>
                          <a:latin typeface="Inter"/>
                          <a:ea typeface="Inter"/>
                          <a:cs typeface="Inter"/>
                          <a:sym typeface="Inter"/>
                        </a:rPr>
                        <a:t>90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0.952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0.976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60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a:t>
                      </a:r>
                      <a:r>
                        <a:rPr lang="tr-TR" sz="975" b="0" i="0" u="none">
                          <a:solidFill>
                            <a:srgbClr val="CBD5E1"/>
                          </a:solidFill>
                          <a:latin typeface="Inter"/>
                          <a:ea typeface="Inter"/>
                          <a:cs typeface="Inter"/>
                          <a:sym typeface="Inter"/>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0.957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1.000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0.978  </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a:ea typeface="Inter"/>
                          <a:cs typeface="Inter"/>
                          <a:sym typeface="Inter"/>
                        </a:rPr>
                        <a:t>90</a:t>
                      </a: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3917430203"/>
                  </a:ext>
                </a:extLst>
              </a:tr>
              <a:tr h="3198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tr-TR" sz="975" b="0" i="0" u="none" strike="noStrike" kern="0" cap="none" spc="0" normalizeH="0" baseline="0" noProof="0">
                          <a:ln>
                            <a:noFill/>
                          </a:ln>
                          <a:solidFill>
                            <a:srgbClr val="CBD5E1"/>
                          </a:solidFill>
                          <a:effectLst/>
                          <a:uLnTx/>
                          <a:uFillTx/>
                          <a:latin typeface="Inter"/>
                          <a:ea typeface="Inter"/>
                          <a:cs typeface="Calibri"/>
                          <a:sym typeface="Inter"/>
                        </a:rPr>
                        <a:t>Final Accuracy:</a:t>
                      </a:r>
                      <a:endParaRPr kumimoji="0" lang="en-US" sz="1400" b="0" i="0" u="none" strike="noStrike" kern="0" cap="none" spc="0" normalizeH="0" baseline="0" noProof="0">
                        <a:ln>
                          <a:noFill/>
                        </a:ln>
                        <a:solidFill>
                          <a:srgbClr val="000000"/>
                        </a:solidFill>
                        <a:effectLst/>
                        <a:uLnTx/>
                        <a:uFillTx/>
                        <a:latin typeface="Calibri"/>
                        <a:cs typeface="Calibri"/>
                        <a:sym typeface="Aria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kumimoji="0" lang="tr-TR" sz="975" b="0" i="0" u="none" strike="noStrike" kern="0" cap="none" spc="0" normalizeH="0" baseline="0" noProof="0">
                          <a:ln>
                            <a:noFill/>
                          </a:ln>
                          <a:solidFill>
                            <a:srgbClr val="CBD5E1"/>
                          </a:solidFill>
                          <a:effectLst/>
                          <a:uLnTx/>
                          <a:uFillTx/>
                          <a:latin typeface="Inter"/>
                          <a:ea typeface="Inter"/>
                          <a:sym typeface="Inter"/>
                        </a:rPr>
                        <a:t>0.9858</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dirty="0"/>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3710273481"/>
                  </a:ext>
                </a:extLst>
              </a:tr>
            </a:tbl>
          </a:graphicData>
        </a:graphic>
      </p:graphicFrame>
      <p:sp>
        <p:nvSpPr>
          <p:cNvPr id="576" name="Google Shape;576;p24"/>
          <p:cNvSpPr/>
          <p:nvPr/>
        </p:nvSpPr>
        <p:spPr>
          <a:xfrm>
            <a:off x="571500" y="2578893"/>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7" name="Google Shape;577;p24"/>
          <p:cNvSpPr/>
          <p:nvPr/>
        </p:nvSpPr>
        <p:spPr>
          <a:xfrm>
            <a:off x="1366688" y="2578893"/>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8" name="Google Shape;578;p24"/>
          <p:cNvSpPr/>
          <p:nvPr/>
        </p:nvSpPr>
        <p:spPr>
          <a:xfrm>
            <a:off x="2727721" y="2578893"/>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9" name="Google Shape;579;p24"/>
          <p:cNvSpPr/>
          <p:nvPr/>
        </p:nvSpPr>
        <p:spPr>
          <a:xfrm>
            <a:off x="3721744" y="2578893"/>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0" name="Google Shape;580;p24"/>
          <p:cNvSpPr/>
          <p:nvPr/>
        </p:nvSpPr>
        <p:spPr>
          <a:xfrm>
            <a:off x="5021609" y="2578893"/>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1" name="Google Shape;581;p24"/>
          <p:cNvSpPr/>
          <p:nvPr/>
        </p:nvSpPr>
        <p:spPr>
          <a:xfrm>
            <a:off x="571500" y="2924621"/>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p24"/>
          <p:cNvSpPr/>
          <p:nvPr/>
        </p:nvSpPr>
        <p:spPr>
          <a:xfrm>
            <a:off x="1366688" y="2924621"/>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3" name="Google Shape;583;p24"/>
          <p:cNvSpPr/>
          <p:nvPr/>
        </p:nvSpPr>
        <p:spPr>
          <a:xfrm>
            <a:off x="2727721" y="2924621"/>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4" name="Google Shape;584;p24"/>
          <p:cNvSpPr/>
          <p:nvPr/>
        </p:nvSpPr>
        <p:spPr>
          <a:xfrm>
            <a:off x="3721744" y="2924621"/>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5" name="Google Shape;585;p24"/>
          <p:cNvSpPr/>
          <p:nvPr/>
        </p:nvSpPr>
        <p:spPr>
          <a:xfrm>
            <a:off x="5021609" y="2924621"/>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6" name="Google Shape;586;p24"/>
          <p:cNvSpPr/>
          <p:nvPr/>
        </p:nvSpPr>
        <p:spPr>
          <a:xfrm>
            <a:off x="571500" y="3270349"/>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24"/>
          <p:cNvSpPr/>
          <p:nvPr/>
        </p:nvSpPr>
        <p:spPr>
          <a:xfrm>
            <a:off x="1366688" y="3270349"/>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8" name="Google Shape;588;p24"/>
          <p:cNvSpPr/>
          <p:nvPr/>
        </p:nvSpPr>
        <p:spPr>
          <a:xfrm>
            <a:off x="2727721" y="3270349"/>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9" name="Google Shape;589;p24"/>
          <p:cNvSpPr/>
          <p:nvPr/>
        </p:nvSpPr>
        <p:spPr>
          <a:xfrm>
            <a:off x="3721744" y="3270349"/>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0" name="Google Shape;590;p24"/>
          <p:cNvSpPr/>
          <p:nvPr/>
        </p:nvSpPr>
        <p:spPr>
          <a:xfrm>
            <a:off x="5021609" y="3270349"/>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1" name="Google Shape;591;p24"/>
          <p:cNvSpPr/>
          <p:nvPr/>
        </p:nvSpPr>
        <p:spPr>
          <a:xfrm>
            <a:off x="571500" y="3616076"/>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2" name="Google Shape;592;p24"/>
          <p:cNvSpPr/>
          <p:nvPr/>
        </p:nvSpPr>
        <p:spPr>
          <a:xfrm>
            <a:off x="1366688" y="3616076"/>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3" name="Google Shape;593;p24"/>
          <p:cNvSpPr/>
          <p:nvPr/>
        </p:nvSpPr>
        <p:spPr>
          <a:xfrm>
            <a:off x="2727721" y="3616076"/>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4" name="Google Shape;594;p24"/>
          <p:cNvSpPr/>
          <p:nvPr/>
        </p:nvSpPr>
        <p:spPr>
          <a:xfrm>
            <a:off x="3721744" y="3616076"/>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5" name="Google Shape;595;p24"/>
          <p:cNvSpPr/>
          <p:nvPr/>
        </p:nvSpPr>
        <p:spPr>
          <a:xfrm>
            <a:off x="5021609" y="3616076"/>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6" name="Google Shape;596;p24"/>
          <p:cNvSpPr/>
          <p:nvPr/>
        </p:nvSpPr>
        <p:spPr>
          <a:xfrm>
            <a:off x="571500" y="3961804"/>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24"/>
          <p:cNvSpPr/>
          <p:nvPr/>
        </p:nvSpPr>
        <p:spPr>
          <a:xfrm>
            <a:off x="1366688" y="3961804"/>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8" name="Google Shape;598;p24"/>
          <p:cNvSpPr/>
          <p:nvPr/>
        </p:nvSpPr>
        <p:spPr>
          <a:xfrm>
            <a:off x="2727721" y="3961804"/>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9" name="Google Shape;599;p24"/>
          <p:cNvSpPr/>
          <p:nvPr/>
        </p:nvSpPr>
        <p:spPr>
          <a:xfrm>
            <a:off x="3721744" y="3961804"/>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24"/>
          <p:cNvSpPr/>
          <p:nvPr/>
        </p:nvSpPr>
        <p:spPr>
          <a:xfrm>
            <a:off x="5021609" y="3961804"/>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24"/>
          <p:cNvSpPr/>
          <p:nvPr/>
        </p:nvSpPr>
        <p:spPr>
          <a:xfrm>
            <a:off x="571500" y="4307532"/>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2" name="Google Shape;602;p24"/>
          <p:cNvSpPr/>
          <p:nvPr/>
        </p:nvSpPr>
        <p:spPr>
          <a:xfrm>
            <a:off x="1366688" y="4307532"/>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3" name="Google Shape;603;p24"/>
          <p:cNvSpPr/>
          <p:nvPr/>
        </p:nvSpPr>
        <p:spPr>
          <a:xfrm>
            <a:off x="2727721" y="4307532"/>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Google Shape;604;p24"/>
          <p:cNvSpPr/>
          <p:nvPr/>
        </p:nvSpPr>
        <p:spPr>
          <a:xfrm>
            <a:off x="3721744" y="4307532"/>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5" name="Google Shape;605;p24"/>
          <p:cNvSpPr/>
          <p:nvPr/>
        </p:nvSpPr>
        <p:spPr>
          <a:xfrm>
            <a:off x="5021609" y="4307532"/>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6" name="Google Shape;606;p24"/>
          <p:cNvSpPr/>
          <p:nvPr/>
        </p:nvSpPr>
        <p:spPr>
          <a:xfrm>
            <a:off x="571500" y="4653260"/>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7" name="Google Shape;607;p24"/>
          <p:cNvSpPr/>
          <p:nvPr/>
        </p:nvSpPr>
        <p:spPr>
          <a:xfrm>
            <a:off x="1366688" y="4653260"/>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8" name="Google Shape;608;p24"/>
          <p:cNvSpPr/>
          <p:nvPr/>
        </p:nvSpPr>
        <p:spPr>
          <a:xfrm>
            <a:off x="2727721" y="4653260"/>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9" name="Google Shape;609;p24"/>
          <p:cNvSpPr/>
          <p:nvPr/>
        </p:nvSpPr>
        <p:spPr>
          <a:xfrm>
            <a:off x="3721744" y="4653260"/>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0" name="Google Shape;610;p24"/>
          <p:cNvSpPr/>
          <p:nvPr/>
        </p:nvSpPr>
        <p:spPr>
          <a:xfrm>
            <a:off x="5021609" y="4653260"/>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1" name="Google Shape;611;p24"/>
          <p:cNvSpPr/>
          <p:nvPr/>
        </p:nvSpPr>
        <p:spPr>
          <a:xfrm>
            <a:off x="571500" y="4998987"/>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2" name="Google Shape;612;p24"/>
          <p:cNvSpPr/>
          <p:nvPr/>
        </p:nvSpPr>
        <p:spPr>
          <a:xfrm>
            <a:off x="1366688" y="4998987"/>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3" name="Google Shape;613;p24"/>
          <p:cNvSpPr/>
          <p:nvPr/>
        </p:nvSpPr>
        <p:spPr>
          <a:xfrm>
            <a:off x="2727721" y="4998987"/>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4" name="Google Shape;614;p24"/>
          <p:cNvSpPr/>
          <p:nvPr/>
        </p:nvSpPr>
        <p:spPr>
          <a:xfrm>
            <a:off x="3721744" y="4998987"/>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24"/>
          <p:cNvSpPr/>
          <p:nvPr/>
        </p:nvSpPr>
        <p:spPr>
          <a:xfrm>
            <a:off x="5021609" y="4998987"/>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6" name="Google Shape;616;p24"/>
          <p:cNvSpPr/>
          <p:nvPr/>
        </p:nvSpPr>
        <p:spPr>
          <a:xfrm>
            <a:off x="571500" y="5344715"/>
            <a:ext cx="79518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7" name="Google Shape;617;p24"/>
          <p:cNvSpPr/>
          <p:nvPr/>
        </p:nvSpPr>
        <p:spPr>
          <a:xfrm>
            <a:off x="1366688" y="5344715"/>
            <a:ext cx="136103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8" name="Google Shape;618;p24"/>
          <p:cNvSpPr/>
          <p:nvPr/>
        </p:nvSpPr>
        <p:spPr>
          <a:xfrm>
            <a:off x="2727721" y="5344715"/>
            <a:ext cx="994023"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9" name="Google Shape;619;p24"/>
          <p:cNvSpPr/>
          <p:nvPr/>
        </p:nvSpPr>
        <p:spPr>
          <a:xfrm>
            <a:off x="3721744" y="5344715"/>
            <a:ext cx="129986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0" name="Google Shape;620;p24"/>
          <p:cNvSpPr/>
          <p:nvPr/>
        </p:nvSpPr>
        <p:spPr>
          <a:xfrm>
            <a:off x="5021609" y="5344715"/>
            <a:ext cx="97914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1" name="Google Shape;621;p24"/>
          <p:cNvSpPr/>
          <p:nvPr/>
        </p:nvSpPr>
        <p:spPr>
          <a:xfrm>
            <a:off x="6191250" y="25479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24"/>
          <p:cNvSpPr/>
          <p:nvPr/>
        </p:nvSpPr>
        <p:spPr>
          <a:xfrm>
            <a:off x="6838205" y="25479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3" name="Google Shape;623;p24"/>
          <p:cNvSpPr/>
          <p:nvPr/>
        </p:nvSpPr>
        <p:spPr>
          <a:xfrm>
            <a:off x="8242845" y="25479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4" name="Google Shape;624;p24"/>
          <p:cNvSpPr/>
          <p:nvPr/>
        </p:nvSpPr>
        <p:spPr>
          <a:xfrm>
            <a:off x="9268717" y="25479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5" name="Google Shape;625;p24"/>
          <p:cNvSpPr/>
          <p:nvPr/>
        </p:nvSpPr>
        <p:spPr>
          <a:xfrm>
            <a:off x="10610105" y="25479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6" name="Google Shape;626;p24"/>
          <p:cNvSpPr/>
          <p:nvPr/>
        </p:nvSpPr>
        <p:spPr>
          <a:xfrm>
            <a:off x="6191250" y="28622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7" name="Google Shape;627;p24"/>
          <p:cNvSpPr/>
          <p:nvPr/>
        </p:nvSpPr>
        <p:spPr>
          <a:xfrm>
            <a:off x="6838205" y="28622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24"/>
          <p:cNvSpPr/>
          <p:nvPr/>
        </p:nvSpPr>
        <p:spPr>
          <a:xfrm>
            <a:off x="8242845" y="28622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9" name="Google Shape;629;p24"/>
          <p:cNvSpPr/>
          <p:nvPr/>
        </p:nvSpPr>
        <p:spPr>
          <a:xfrm>
            <a:off x="9268717" y="28622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0" name="Google Shape;630;p24"/>
          <p:cNvSpPr/>
          <p:nvPr/>
        </p:nvSpPr>
        <p:spPr>
          <a:xfrm>
            <a:off x="10610105" y="28622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1" name="Google Shape;631;p24"/>
          <p:cNvSpPr/>
          <p:nvPr/>
        </p:nvSpPr>
        <p:spPr>
          <a:xfrm>
            <a:off x="6191250" y="31765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2" name="Google Shape;632;p24"/>
          <p:cNvSpPr/>
          <p:nvPr/>
        </p:nvSpPr>
        <p:spPr>
          <a:xfrm>
            <a:off x="6838205" y="31765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3" name="Google Shape;633;p24"/>
          <p:cNvSpPr/>
          <p:nvPr/>
        </p:nvSpPr>
        <p:spPr>
          <a:xfrm>
            <a:off x="8242845" y="31765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4" name="Google Shape;634;p24"/>
          <p:cNvSpPr/>
          <p:nvPr/>
        </p:nvSpPr>
        <p:spPr>
          <a:xfrm>
            <a:off x="9268717" y="31765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5" name="Google Shape;635;p24"/>
          <p:cNvSpPr/>
          <p:nvPr/>
        </p:nvSpPr>
        <p:spPr>
          <a:xfrm>
            <a:off x="10610105" y="31765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6" name="Google Shape;636;p24"/>
          <p:cNvSpPr/>
          <p:nvPr/>
        </p:nvSpPr>
        <p:spPr>
          <a:xfrm>
            <a:off x="6191250" y="34909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7" name="Google Shape;637;p24"/>
          <p:cNvSpPr/>
          <p:nvPr/>
        </p:nvSpPr>
        <p:spPr>
          <a:xfrm>
            <a:off x="6838205" y="34909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8" name="Google Shape;638;p24"/>
          <p:cNvSpPr/>
          <p:nvPr/>
        </p:nvSpPr>
        <p:spPr>
          <a:xfrm>
            <a:off x="8242845" y="34909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9" name="Google Shape;639;p24"/>
          <p:cNvSpPr/>
          <p:nvPr/>
        </p:nvSpPr>
        <p:spPr>
          <a:xfrm>
            <a:off x="9268717" y="34909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0" name="Google Shape;640;p24"/>
          <p:cNvSpPr/>
          <p:nvPr/>
        </p:nvSpPr>
        <p:spPr>
          <a:xfrm>
            <a:off x="10610105" y="34909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1" name="Google Shape;641;p24"/>
          <p:cNvSpPr/>
          <p:nvPr/>
        </p:nvSpPr>
        <p:spPr>
          <a:xfrm>
            <a:off x="6191250" y="38052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2" name="Google Shape;642;p24"/>
          <p:cNvSpPr/>
          <p:nvPr/>
        </p:nvSpPr>
        <p:spPr>
          <a:xfrm>
            <a:off x="6838205" y="38052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3" name="Google Shape;643;p24"/>
          <p:cNvSpPr/>
          <p:nvPr/>
        </p:nvSpPr>
        <p:spPr>
          <a:xfrm>
            <a:off x="8242845" y="38052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4" name="Google Shape;644;p24"/>
          <p:cNvSpPr/>
          <p:nvPr/>
        </p:nvSpPr>
        <p:spPr>
          <a:xfrm>
            <a:off x="9268717" y="38052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5" name="Google Shape;645;p24"/>
          <p:cNvSpPr/>
          <p:nvPr/>
        </p:nvSpPr>
        <p:spPr>
          <a:xfrm>
            <a:off x="10610105" y="38052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6" name="Google Shape;646;p24"/>
          <p:cNvSpPr/>
          <p:nvPr/>
        </p:nvSpPr>
        <p:spPr>
          <a:xfrm>
            <a:off x="6191250" y="41195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7" name="Google Shape;647;p24"/>
          <p:cNvSpPr/>
          <p:nvPr/>
        </p:nvSpPr>
        <p:spPr>
          <a:xfrm>
            <a:off x="6838205" y="41195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8" name="Google Shape;648;p24"/>
          <p:cNvSpPr/>
          <p:nvPr/>
        </p:nvSpPr>
        <p:spPr>
          <a:xfrm>
            <a:off x="8242845" y="41195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9" name="Google Shape;649;p24"/>
          <p:cNvSpPr/>
          <p:nvPr/>
        </p:nvSpPr>
        <p:spPr>
          <a:xfrm>
            <a:off x="9268717" y="41195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0" name="Google Shape;650;p24"/>
          <p:cNvSpPr/>
          <p:nvPr/>
        </p:nvSpPr>
        <p:spPr>
          <a:xfrm>
            <a:off x="10610105" y="41195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1" name="Google Shape;651;p24"/>
          <p:cNvSpPr/>
          <p:nvPr/>
        </p:nvSpPr>
        <p:spPr>
          <a:xfrm>
            <a:off x="6191250" y="443388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2" name="Google Shape;652;p24"/>
          <p:cNvSpPr/>
          <p:nvPr/>
        </p:nvSpPr>
        <p:spPr>
          <a:xfrm>
            <a:off x="6838205" y="443388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3" name="Google Shape;653;p24"/>
          <p:cNvSpPr/>
          <p:nvPr/>
        </p:nvSpPr>
        <p:spPr>
          <a:xfrm>
            <a:off x="8242845" y="443388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4" name="Google Shape;654;p24"/>
          <p:cNvSpPr/>
          <p:nvPr/>
        </p:nvSpPr>
        <p:spPr>
          <a:xfrm>
            <a:off x="9268717" y="443388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24"/>
          <p:cNvSpPr/>
          <p:nvPr/>
        </p:nvSpPr>
        <p:spPr>
          <a:xfrm>
            <a:off x="10610105" y="443388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24"/>
          <p:cNvSpPr/>
          <p:nvPr/>
        </p:nvSpPr>
        <p:spPr>
          <a:xfrm>
            <a:off x="6191250" y="474821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7" name="Google Shape;657;p24"/>
          <p:cNvSpPr/>
          <p:nvPr/>
        </p:nvSpPr>
        <p:spPr>
          <a:xfrm>
            <a:off x="6838205" y="474821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8" name="Google Shape;658;p24"/>
          <p:cNvSpPr/>
          <p:nvPr/>
        </p:nvSpPr>
        <p:spPr>
          <a:xfrm>
            <a:off x="8242845" y="474821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9" name="Google Shape;659;p24"/>
          <p:cNvSpPr/>
          <p:nvPr/>
        </p:nvSpPr>
        <p:spPr>
          <a:xfrm>
            <a:off x="9268717" y="474821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0" name="Google Shape;660;p24"/>
          <p:cNvSpPr/>
          <p:nvPr/>
        </p:nvSpPr>
        <p:spPr>
          <a:xfrm>
            <a:off x="10610105" y="474821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1" name="Google Shape;661;p24"/>
          <p:cNvSpPr/>
          <p:nvPr/>
        </p:nvSpPr>
        <p:spPr>
          <a:xfrm>
            <a:off x="6191250" y="5062537"/>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2" name="Google Shape;662;p24"/>
          <p:cNvSpPr/>
          <p:nvPr/>
        </p:nvSpPr>
        <p:spPr>
          <a:xfrm>
            <a:off x="6838205" y="5062537"/>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3" name="Google Shape;663;p24"/>
          <p:cNvSpPr/>
          <p:nvPr/>
        </p:nvSpPr>
        <p:spPr>
          <a:xfrm>
            <a:off x="8242845" y="5062537"/>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4" name="Google Shape;664;p24"/>
          <p:cNvSpPr/>
          <p:nvPr/>
        </p:nvSpPr>
        <p:spPr>
          <a:xfrm>
            <a:off x="9268717" y="5062537"/>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5" name="Google Shape;665;p24"/>
          <p:cNvSpPr/>
          <p:nvPr/>
        </p:nvSpPr>
        <p:spPr>
          <a:xfrm>
            <a:off x="10610105" y="5062537"/>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6" name="Google Shape;666;p24"/>
          <p:cNvSpPr/>
          <p:nvPr/>
        </p:nvSpPr>
        <p:spPr>
          <a:xfrm>
            <a:off x="6191250" y="537686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7" name="Google Shape;667;p24"/>
          <p:cNvSpPr/>
          <p:nvPr/>
        </p:nvSpPr>
        <p:spPr>
          <a:xfrm>
            <a:off x="6838205" y="537686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8" name="Google Shape;668;p24"/>
          <p:cNvSpPr/>
          <p:nvPr/>
        </p:nvSpPr>
        <p:spPr>
          <a:xfrm>
            <a:off x="8242845" y="537686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9" name="Google Shape;669;p24"/>
          <p:cNvSpPr/>
          <p:nvPr/>
        </p:nvSpPr>
        <p:spPr>
          <a:xfrm>
            <a:off x="9268717" y="537686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0" name="Google Shape;670;p24"/>
          <p:cNvSpPr/>
          <p:nvPr/>
        </p:nvSpPr>
        <p:spPr>
          <a:xfrm>
            <a:off x="10610105" y="537686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1" name="Google Shape;671;p24"/>
          <p:cNvSpPr txBox="1"/>
          <p:nvPr/>
        </p:nvSpPr>
        <p:spPr>
          <a:xfrm>
            <a:off x="571500" y="476250"/>
            <a:ext cx="8029956"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DENSENET-121: SINIF BAZLI PERFORMANS (</a:t>
            </a:r>
            <a:r>
              <a:rPr lang="tr-TR" sz="2700" b="1" i="0" u="none" strike="noStrike" cap="none">
                <a:solidFill>
                  <a:srgbClr val="38BDF8"/>
                </a:solidFill>
                <a:latin typeface="Urbanist"/>
                <a:ea typeface="Urbanist"/>
                <a:cs typeface="Urbanist"/>
                <a:sym typeface="Urbanist"/>
              </a:rPr>
              <a:t>2</a:t>
            </a:r>
            <a:r>
              <a:rPr lang="en-US" sz="2700" b="1" i="0" u="none" strike="noStrike" cap="none">
                <a:solidFill>
                  <a:srgbClr val="38BDF8"/>
                </a:solidFill>
                <a:latin typeface="Urbanist"/>
                <a:ea typeface="Urbanist"/>
                <a:cs typeface="Urbanist"/>
                <a:sym typeface="Urbanist"/>
              </a:rPr>
              <a:t>0-</a:t>
            </a:r>
            <a:r>
              <a:rPr lang="tr-TR" sz="2700" b="1" i="0" u="none" strike="noStrike" cap="none">
                <a:solidFill>
                  <a:srgbClr val="38BDF8"/>
                </a:solidFill>
                <a:latin typeface="Urbanist"/>
                <a:ea typeface="Urbanist"/>
                <a:cs typeface="Urbanist"/>
                <a:sym typeface="Urbanist"/>
              </a:rPr>
              <a:t>42</a:t>
            </a:r>
            <a:r>
              <a:rPr lang="en-US" sz="2700" b="1" i="0" u="none" strike="noStrike" cap="none">
                <a:solidFill>
                  <a:srgbClr val="38BDF8"/>
                </a:solidFill>
                <a:latin typeface="Urbanist"/>
                <a:ea typeface="Urbanist"/>
                <a:cs typeface="Urbanist"/>
                <a:sym typeface="Urbanist"/>
              </a:rPr>
              <a:t>)</a:t>
            </a:r>
            <a:endParaRPr lang="en-US" sz="2800"/>
          </a:p>
        </p:txBody>
      </p:sp>
      <p:sp>
        <p:nvSpPr>
          <p:cNvPr id="2" name="Google Shape;666;p24">
            <a:extLst>
              <a:ext uri="{FF2B5EF4-FFF2-40B4-BE49-F238E27FC236}">
                <a16:creationId xmlns:a16="http://schemas.microsoft.com/office/drawing/2014/main" id="{7A983D61-4181-E532-04C9-799040EEECFF}"/>
              </a:ext>
            </a:extLst>
          </p:cNvPr>
          <p:cNvSpPr/>
          <p:nvPr/>
        </p:nvSpPr>
        <p:spPr>
          <a:xfrm>
            <a:off x="6191250" y="5686424"/>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667;p24">
            <a:extLst>
              <a:ext uri="{FF2B5EF4-FFF2-40B4-BE49-F238E27FC236}">
                <a16:creationId xmlns:a16="http://schemas.microsoft.com/office/drawing/2014/main" id="{94F403E0-36A8-D47E-3B41-BF268885C45C}"/>
              </a:ext>
            </a:extLst>
          </p:cNvPr>
          <p:cNvSpPr/>
          <p:nvPr/>
        </p:nvSpPr>
        <p:spPr>
          <a:xfrm>
            <a:off x="6838205" y="5686424"/>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668;p24">
            <a:extLst>
              <a:ext uri="{FF2B5EF4-FFF2-40B4-BE49-F238E27FC236}">
                <a16:creationId xmlns:a16="http://schemas.microsoft.com/office/drawing/2014/main" id="{A3430570-2D96-E710-E0B4-BE558672362B}"/>
              </a:ext>
            </a:extLst>
          </p:cNvPr>
          <p:cNvSpPr/>
          <p:nvPr/>
        </p:nvSpPr>
        <p:spPr>
          <a:xfrm>
            <a:off x="8242845" y="5686424"/>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669;p24">
            <a:extLst>
              <a:ext uri="{FF2B5EF4-FFF2-40B4-BE49-F238E27FC236}">
                <a16:creationId xmlns:a16="http://schemas.microsoft.com/office/drawing/2014/main" id="{DDBA8B30-A7CC-77AB-53FF-3C109CCD169B}"/>
              </a:ext>
            </a:extLst>
          </p:cNvPr>
          <p:cNvSpPr/>
          <p:nvPr/>
        </p:nvSpPr>
        <p:spPr>
          <a:xfrm>
            <a:off x="9268717" y="5686424"/>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670;p24">
            <a:extLst>
              <a:ext uri="{FF2B5EF4-FFF2-40B4-BE49-F238E27FC236}">
                <a16:creationId xmlns:a16="http://schemas.microsoft.com/office/drawing/2014/main" id="{FF51BFB3-C21F-7253-A0F0-8F55A549A692}"/>
              </a:ext>
            </a:extLst>
          </p:cNvPr>
          <p:cNvSpPr/>
          <p:nvPr/>
        </p:nvSpPr>
        <p:spPr>
          <a:xfrm>
            <a:off x="10610105" y="5686424"/>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Google Shape;666;p24">
            <a:extLst>
              <a:ext uri="{FF2B5EF4-FFF2-40B4-BE49-F238E27FC236}">
                <a16:creationId xmlns:a16="http://schemas.microsoft.com/office/drawing/2014/main" id="{950BF328-695E-515C-3FCD-764221AA96CC}"/>
              </a:ext>
            </a:extLst>
          </p:cNvPr>
          <p:cNvSpPr/>
          <p:nvPr/>
        </p:nvSpPr>
        <p:spPr>
          <a:xfrm>
            <a:off x="571500" y="5683893"/>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667;p24">
            <a:extLst>
              <a:ext uri="{FF2B5EF4-FFF2-40B4-BE49-F238E27FC236}">
                <a16:creationId xmlns:a16="http://schemas.microsoft.com/office/drawing/2014/main" id="{1A90BFA0-D62E-46C4-0321-D6887FD9E447}"/>
              </a:ext>
            </a:extLst>
          </p:cNvPr>
          <p:cNvSpPr/>
          <p:nvPr/>
        </p:nvSpPr>
        <p:spPr>
          <a:xfrm>
            <a:off x="1218455" y="5683893"/>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668;p24">
            <a:extLst>
              <a:ext uri="{FF2B5EF4-FFF2-40B4-BE49-F238E27FC236}">
                <a16:creationId xmlns:a16="http://schemas.microsoft.com/office/drawing/2014/main" id="{73E7E02E-6D7F-C072-C376-4D750314798A}"/>
              </a:ext>
            </a:extLst>
          </p:cNvPr>
          <p:cNvSpPr/>
          <p:nvPr/>
        </p:nvSpPr>
        <p:spPr>
          <a:xfrm>
            <a:off x="2623095" y="5683893"/>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 name="Google Shape;669;p24">
            <a:extLst>
              <a:ext uri="{FF2B5EF4-FFF2-40B4-BE49-F238E27FC236}">
                <a16:creationId xmlns:a16="http://schemas.microsoft.com/office/drawing/2014/main" id="{FEC5D2C3-2EB9-D9E1-A0C3-16798656EC22}"/>
              </a:ext>
            </a:extLst>
          </p:cNvPr>
          <p:cNvSpPr/>
          <p:nvPr/>
        </p:nvSpPr>
        <p:spPr>
          <a:xfrm>
            <a:off x="3648967" y="5683893"/>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670;p24">
            <a:extLst>
              <a:ext uri="{FF2B5EF4-FFF2-40B4-BE49-F238E27FC236}">
                <a16:creationId xmlns:a16="http://schemas.microsoft.com/office/drawing/2014/main" id="{7AF544ED-422C-D820-F757-ED22F18D45DF}"/>
              </a:ext>
            </a:extLst>
          </p:cNvPr>
          <p:cNvSpPr/>
          <p:nvPr/>
        </p:nvSpPr>
        <p:spPr>
          <a:xfrm>
            <a:off x="4990355" y="5683893"/>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666;p24">
            <a:extLst>
              <a:ext uri="{FF2B5EF4-FFF2-40B4-BE49-F238E27FC236}">
                <a16:creationId xmlns:a16="http://schemas.microsoft.com/office/drawing/2014/main" id="{089CDA20-CCF5-91EB-DC69-47F9DC688E94}"/>
              </a:ext>
            </a:extLst>
          </p:cNvPr>
          <p:cNvSpPr/>
          <p:nvPr/>
        </p:nvSpPr>
        <p:spPr>
          <a:xfrm>
            <a:off x="571500" y="5988102"/>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667;p24">
            <a:extLst>
              <a:ext uri="{FF2B5EF4-FFF2-40B4-BE49-F238E27FC236}">
                <a16:creationId xmlns:a16="http://schemas.microsoft.com/office/drawing/2014/main" id="{417E4D94-797F-82F9-DB9D-A48CEABD284C}"/>
              </a:ext>
            </a:extLst>
          </p:cNvPr>
          <p:cNvSpPr/>
          <p:nvPr/>
        </p:nvSpPr>
        <p:spPr>
          <a:xfrm>
            <a:off x="1218455" y="5988102"/>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668;p24">
            <a:extLst>
              <a:ext uri="{FF2B5EF4-FFF2-40B4-BE49-F238E27FC236}">
                <a16:creationId xmlns:a16="http://schemas.microsoft.com/office/drawing/2014/main" id="{23B10FAD-9D24-3379-8FB6-23889B21B298}"/>
              </a:ext>
            </a:extLst>
          </p:cNvPr>
          <p:cNvSpPr/>
          <p:nvPr/>
        </p:nvSpPr>
        <p:spPr>
          <a:xfrm>
            <a:off x="2623095" y="5988102"/>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 name="Google Shape;669;p24">
            <a:extLst>
              <a:ext uri="{FF2B5EF4-FFF2-40B4-BE49-F238E27FC236}">
                <a16:creationId xmlns:a16="http://schemas.microsoft.com/office/drawing/2014/main" id="{E69C49B8-CA11-9908-A221-2CF4F61AB9C3}"/>
              </a:ext>
            </a:extLst>
          </p:cNvPr>
          <p:cNvSpPr/>
          <p:nvPr/>
        </p:nvSpPr>
        <p:spPr>
          <a:xfrm>
            <a:off x="3648967" y="5988102"/>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 name="Google Shape;670;p24">
            <a:extLst>
              <a:ext uri="{FF2B5EF4-FFF2-40B4-BE49-F238E27FC236}">
                <a16:creationId xmlns:a16="http://schemas.microsoft.com/office/drawing/2014/main" id="{07DED43E-01B5-D16E-C600-F49EDAACE53D}"/>
              </a:ext>
            </a:extLst>
          </p:cNvPr>
          <p:cNvSpPr/>
          <p:nvPr/>
        </p:nvSpPr>
        <p:spPr>
          <a:xfrm>
            <a:off x="4990355" y="5988102"/>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 name="Google Shape;666;p24">
            <a:extLst>
              <a:ext uri="{FF2B5EF4-FFF2-40B4-BE49-F238E27FC236}">
                <a16:creationId xmlns:a16="http://schemas.microsoft.com/office/drawing/2014/main" id="{03A6D546-C448-5F64-0C7F-5E0DEBF9F02B}"/>
              </a:ext>
            </a:extLst>
          </p:cNvPr>
          <p:cNvSpPr/>
          <p:nvPr/>
        </p:nvSpPr>
        <p:spPr>
          <a:xfrm>
            <a:off x="6191250" y="5983424"/>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 name="Google Shape;667;p24">
            <a:extLst>
              <a:ext uri="{FF2B5EF4-FFF2-40B4-BE49-F238E27FC236}">
                <a16:creationId xmlns:a16="http://schemas.microsoft.com/office/drawing/2014/main" id="{95B3C930-351B-58BA-F933-C3A08D881C2F}"/>
              </a:ext>
            </a:extLst>
          </p:cNvPr>
          <p:cNvSpPr/>
          <p:nvPr/>
        </p:nvSpPr>
        <p:spPr>
          <a:xfrm>
            <a:off x="6838205" y="5983424"/>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668;p24">
            <a:extLst>
              <a:ext uri="{FF2B5EF4-FFF2-40B4-BE49-F238E27FC236}">
                <a16:creationId xmlns:a16="http://schemas.microsoft.com/office/drawing/2014/main" id="{13BBC4B9-CC59-0782-79A2-1A15AC2B22DF}"/>
              </a:ext>
            </a:extLst>
          </p:cNvPr>
          <p:cNvSpPr/>
          <p:nvPr/>
        </p:nvSpPr>
        <p:spPr>
          <a:xfrm>
            <a:off x="8242845" y="5983424"/>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 name="Google Shape;669;p24">
            <a:extLst>
              <a:ext uri="{FF2B5EF4-FFF2-40B4-BE49-F238E27FC236}">
                <a16:creationId xmlns:a16="http://schemas.microsoft.com/office/drawing/2014/main" id="{0B09AB6C-D124-647C-9230-4068DF9139F7}"/>
              </a:ext>
            </a:extLst>
          </p:cNvPr>
          <p:cNvSpPr/>
          <p:nvPr/>
        </p:nvSpPr>
        <p:spPr>
          <a:xfrm>
            <a:off x="9268717" y="5983424"/>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 name="Google Shape;670;p24">
            <a:extLst>
              <a:ext uri="{FF2B5EF4-FFF2-40B4-BE49-F238E27FC236}">
                <a16:creationId xmlns:a16="http://schemas.microsoft.com/office/drawing/2014/main" id="{DE842008-84D2-F577-E619-C78AF3EB29FF}"/>
              </a:ext>
            </a:extLst>
          </p:cNvPr>
          <p:cNvSpPr/>
          <p:nvPr/>
        </p:nvSpPr>
        <p:spPr>
          <a:xfrm>
            <a:off x="10610105" y="5983424"/>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69057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755"/>
        <p:cNvGrpSpPr/>
        <p:nvPr/>
      </p:nvGrpSpPr>
      <p:grpSpPr>
        <a:xfrm>
          <a:off x="0" y="0"/>
          <a:ext cx="0" cy="0"/>
          <a:chOff x="0" y="0"/>
          <a:chExt cx="0" cy="0"/>
        </a:xfrm>
      </p:grpSpPr>
      <p:pic>
        <p:nvPicPr>
          <p:cNvPr id="756" name="Google Shape;75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757" name="Google Shape;757;p27"/>
          <p:cNvGraphicFramePr/>
          <p:nvPr>
            <p:extLst>
              <p:ext uri="{D42A27DB-BD31-4B8C-83A1-F6EECF244321}">
                <p14:modId xmlns:p14="http://schemas.microsoft.com/office/powerpoint/2010/main" val="800105038"/>
              </p:ext>
            </p:extLst>
          </p:nvPr>
        </p:nvGraphicFramePr>
        <p:xfrm>
          <a:off x="571500" y="1857375"/>
          <a:ext cx="5429250" cy="3838500"/>
        </p:xfrm>
        <a:graphic>
          <a:graphicData uri="http://schemas.openxmlformats.org/drawingml/2006/table">
            <a:tbl>
              <a:tblPr firstRow="1" bandRow="1">
                <a:noFill/>
                <a:tableStyleId>{D746D6EE-2022-4A0E-B6AC-B034E0F457E2}</a:tableStyleId>
              </a:tblPr>
              <a:tblGrid>
                <a:gridCol w="619125">
                  <a:extLst>
                    <a:ext uri="{9D8B030D-6E8A-4147-A177-3AD203B41FA5}">
                      <a16:colId xmlns:a16="http://schemas.microsoft.com/office/drawing/2014/main" val="20000"/>
                    </a:ext>
                  </a:extLst>
                </a:gridCol>
                <a:gridCol w="1412825">
                  <a:extLst>
                    <a:ext uri="{9D8B030D-6E8A-4147-A177-3AD203B41FA5}">
                      <a16:colId xmlns:a16="http://schemas.microsoft.com/office/drawing/2014/main" val="20001"/>
                    </a:ext>
                  </a:extLst>
                </a:gridCol>
                <a:gridCol w="1031825">
                  <a:extLst>
                    <a:ext uri="{9D8B030D-6E8A-4147-A177-3AD203B41FA5}">
                      <a16:colId xmlns:a16="http://schemas.microsoft.com/office/drawing/2014/main" val="20002"/>
                    </a:ext>
                  </a:extLst>
                </a:gridCol>
                <a:gridCol w="1349275">
                  <a:extLst>
                    <a:ext uri="{9D8B030D-6E8A-4147-A177-3AD203B41FA5}">
                      <a16:colId xmlns:a16="http://schemas.microsoft.com/office/drawing/2014/main" val="20003"/>
                    </a:ext>
                  </a:extLst>
                </a:gridCol>
                <a:gridCol w="1016200">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750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0.813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0.894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0.867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r>
                        <a:rPr lang="en-US" sz="975" b="1" i="0" u="none">
                          <a:solidFill>
                            <a:srgbClr val="EF4444"/>
                          </a:solidFill>
                          <a:latin typeface="Inter"/>
                          <a:ea typeface="Inter"/>
                          <a:cs typeface="Inter"/>
                          <a:sym typeface="Inter"/>
                        </a:rPr>
                        <a:t>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0.928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graphicFrame>
        <p:nvGraphicFramePr>
          <p:cNvPr id="758" name="Google Shape;758;p27"/>
          <p:cNvGraphicFramePr/>
          <p:nvPr>
            <p:extLst>
              <p:ext uri="{D42A27DB-BD31-4B8C-83A1-F6EECF244321}">
                <p14:modId xmlns:p14="http://schemas.microsoft.com/office/powerpoint/2010/main" val="4107582333"/>
              </p:ext>
            </p:extLst>
          </p:nvPr>
        </p:nvGraphicFramePr>
        <p:xfrm>
          <a:off x="6191250" y="1857375"/>
          <a:ext cx="5429250" cy="3838500"/>
        </p:xfrm>
        <a:graphic>
          <a:graphicData uri="http://schemas.openxmlformats.org/drawingml/2006/table">
            <a:tbl>
              <a:tblPr firstRow="1" bandRow="1">
                <a:noFill/>
                <a:tableStyleId>{D746D6EE-2022-4A0E-B6AC-B034E0F457E2}</a:tableStyleId>
              </a:tblPr>
              <a:tblGrid>
                <a:gridCol w="633125">
                  <a:extLst>
                    <a:ext uri="{9D8B030D-6E8A-4147-A177-3AD203B41FA5}">
                      <a16:colId xmlns:a16="http://schemas.microsoft.com/office/drawing/2014/main" val="20000"/>
                    </a:ext>
                  </a:extLst>
                </a:gridCol>
                <a:gridCol w="1408650">
                  <a:extLst>
                    <a:ext uri="{9D8B030D-6E8A-4147-A177-3AD203B41FA5}">
                      <a16:colId xmlns:a16="http://schemas.microsoft.com/office/drawing/2014/main" val="20001"/>
                    </a:ext>
                  </a:extLst>
                </a:gridCol>
                <a:gridCol w="1028850">
                  <a:extLst>
                    <a:ext uri="{9D8B030D-6E8A-4147-A177-3AD203B41FA5}">
                      <a16:colId xmlns:a16="http://schemas.microsoft.com/office/drawing/2014/main" val="20002"/>
                    </a:ext>
                  </a:extLst>
                </a:gridCol>
                <a:gridCol w="1345400">
                  <a:extLst>
                    <a:ext uri="{9D8B030D-6E8A-4147-A177-3AD203B41FA5}">
                      <a16:colId xmlns:a16="http://schemas.microsoft.com/office/drawing/2014/main" val="20003"/>
                    </a:ext>
                  </a:extLst>
                </a:gridCol>
                <a:gridCol w="1013225">
                  <a:extLst>
                    <a:ext uri="{9D8B030D-6E8A-4147-A177-3AD203B41FA5}">
                      <a16:colId xmlns:a16="http://schemas.microsoft.com/office/drawing/2014/main" val="20004"/>
                    </a:ext>
                  </a:extLst>
                </a:gridCol>
              </a:tblGrid>
              <a:tr h="319875">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420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720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0.946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19875">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0.928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0"/>
                  </a:ext>
                </a:extLst>
              </a:tr>
              <a:tr h="319875">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0.873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0.927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11"/>
                  </a:ext>
                </a:extLst>
              </a:tr>
            </a:tbl>
          </a:graphicData>
        </a:graphic>
      </p:graphicFrame>
      <p:sp>
        <p:nvSpPr>
          <p:cNvPr id="759" name="Google Shape;759;p27"/>
          <p:cNvSpPr/>
          <p:nvPr/>
        </p:nvSpPr>
        <p:spPr>
          <a:xfrm>
            <a:off x="571500" y="2547937"/>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0" name="Google Shape;760;p27"/>
          <p:cNvSpPr/>
          <p:nvPr/>
        </p:nvSpPr>
        <p:spPr>
          <a:xfrm>
            <a:off x="1190625" y="2547937"/>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1" name="Google Shape;761;p27"/>
          <p:cNvSpPr/>
          <p:nvPr/>
        </p:nvSpPr>
        <p:spPr>
          <a:xfrm>
            <a:off x="2603450" y="2547937"/>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2" name="Google Shape;762;p27"/>
          <p:cNvSpPr/>
          <p:nvPr/>
        </p:nvSpPr>
        <p:spPr>
          <a:xfrm>
            <a:off x="3635275" y="2547937"/>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3" name="Google Shape;763;p27"/>
          <p:cNvSpPr/>
          <p:nvPr/>
        </p:nvSpPr>
        <p:spPr>
          <a:xfrm>
            <a:off x="4984551" y="2547937"/>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4" name="Google Shape;764;p27"/>
          <p:cNvSpPr/>
          <p:nvPr/>
        </p:nvSpPr>
        <p:spPr>
          <a:xfrm>
            <a:off x="571500" y="2862262"/>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5" name="Google Shape;765;p27"/>
          <p:cNvSpPr/>
          <p:nvPr/>
        </p:nvSpPr>
        <p:spPr>
          <a:xfrm>
            <a:off x="1190625" y="2862262"/>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6" name="Google Shape;766;p27"/>
          <p:cNvSpPr/>
          <p:nvPr/>
        </p:nvSpPr>
        <p:spPr>
          <a:xfrm>
            <a:off x="2603450" y="2862262"/>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7" name="Google Shape;767;p27"/>
          <p:cNvSpPr/>
          <p:nvPr/>
        </p:nvSpPr>
        <p:spPr>
          <a:xfrm>
            <a:off x="3635275" y="2862262"/>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8" name="Google Shape;768;p27"/>
          <p:cNvSpPr/>
          <p:nvPr/>
        </p:nvSpPr>
        <p:spPr>
          <a:xfrm>
            <a:off x="4984551" y="2862262"/>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9" name="Google Shape;769;p27"/>
          <p:cNvSpPr/>
          <p:nvPr/>
        </p:nvSpPr>
        <p:spPr>
          <a:xfrm>
            <a:off x="571500" y="3176587"/>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0" name="Google Shape;770;p27"/>
          <p:cNvSpPr/>
          <p:nvPr/>
        </p:nvSpPr>
        <p:spPr>
          <a:xfrm>
            <a:off x="1190625" y="3176587"/>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1" name="Google Shape;771;p27"/>
          <p:cNvSpPr/>
          <p:nvPr/>
        </p:nvSpPr>
        <p:spPr>
          <a:xfrm>
            <a:off x="2603450" y="3176587"/>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2" name="Google Shape;772;p27"/>
          <p:cNvSpPr/>
          <p:nvPr/>
        </p:nvSpPr>
        <p:spPr>
          <a:xfrm>
            <a:off x="3635275" y="3176587"/>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3" name="Google Shape;773;p27"/>
          <p:cNvSpPr/>
          <p:nvPr/>
        </p:nvSpPr>
        <p:spPr>
          <a:xfrm>
            <a:off x="4984551" y="3176587"/>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4" name="Google Shape;774;p27"/>
          <p:cNvSpPr/>
          <p:nvPr/>
        </p:nvSpPr>
        <p:spPr>
          <a:xfrm>
            <a:off x="571500" y="3490912"/>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5" name="Google Shape;775;p27"/>
          <p:cNvSpPr/>
          <p:nvPr/>
        </p:nvSpPr>
        <p:spPr>
          <a:xfrm>
            <a:off x="1190625" y="3490912"/>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6" name="Google Shape;776;p27"/>
          <p:cNvSpPr/>
          <p:nvPr/>
        </p:nvSpPr>
        <p:spPr>
          <a:xfrm>
            <a:off x="2603450" y="3490912"/>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7" name="Google Shape;777;p27"/>
          <p:cNvSpPr/>
          <p:nvPr/>
        </p:nvSpPr>
        <p:spPr>
          <a:xfrm>
            <a:off x="3635275" y="3490912"/>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8" name="Google Shape;778;p27"/>
          <p:cNvSpPr/>
          <p:nvPr/>
        </p:nvSpPr>
        <p:spPr>
          <a:xfrm>
            <a:off x="4984551" y="3490912"/>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9" name="Google Shape;779;p27"/>
          <p:cNvSpPr/>
          <p:nvPr/>
        </p:nvSpPr>
        <p:spPr>
          <a:xfrm>
            <a:off x="571500" y="3805237"/>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0" name="Google Shape;780;p27"/>
          <p:cNvSpPr/>
          <p:nvPr/>
        </p:nvSpPr>
        <p:spPr>
          <a:xfrm>
            <a:off x="1190625" y="3805237"/>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1" name="Google Shape;781;p27"/>
          <p:cNvSpPr/>
          <p:nvPr/>
        </p:nvSpPr>
        <p:spPr>
          <a:xfrm>
            <a:off x="2603450" y="3805237"/>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2" name="Google Shape;782;p27"/>
          <p:cNvSpPr/>
          <p:nvPr/>
        </p:nvSpPr>
        <p:spPr>
          <a:xfrm>
            <a:off x="3635275" y="3805237"/>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3" name="Google Shape;783;p27"/>
          <p:cNvSpPr/>
          <p:nvPr/>
        </p:nvSpPr>
        <p:spPr>
          <a:xfrm>
            <a:off x="4984551" y="3805237"/>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4" name="Google Shape;784;p27"/>
          <p:cNvSpPr/>
          <p:nvPr/>
        </p:nvSpPr>
        <p:spPr>
          <a:xfrm>
            <a:off x="571500" y="4119562"/>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5" name="Google Shape;785;p27"/>
          <p:cNvSpPr/>
          <p:nvPr/>
        </p:nvSpPr>
        <p:spPr>
          <a:xfrm>
            <a:off x="1190625" y="4119562"/>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6" name="Google Shape;786;p27"/>
          <p:cNvSpPr/>
          <p:nvPr/>
        </p:nvSpPr>
        <p:spPr>
          <a:xfrm>
            <a:off x="2603450" y="4119562"/>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7" name="Google Shape;787;p27"/>
          <p:cNvSpPr/>
          <p:nvPr/>
        </p:nvSpPr>
        <p:spPr>
          <a:xfrm>
            <a:off x="3635275" y="4119562"/>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8" name="Google Shape;788;p27"/>
          <p:cNvSpPr/>
          <p:nvPr/>
        </p:nvSpPr>
        <p:spPr>
          <a:xfrm>
            <a:off x="4984551" y="4119562"/>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89" name="Google Shape;789;p27"/>
          <p:cNvSpPr/>
          <p:nvPr/>
        </p:nvSpPr>
        <p:spPr>
          <a:xfrm>
            <a:off x="571500" y="4433887"/>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0" name="Google Shape;790;p27"/>
          <p:cNvSpPr/>
          <p:nvPr/>
        </p:nvSpPr>
        <p:spPr>
          <a:xfrm>
            <a:off x="1190625" y="4433887"/>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1" name="Google Shape;791;p27"/>
          <p:cNvSpPr/>
          <p:nvPr/>
        </p:nvSpPr>
        <p:spPr>
          <a:xfrm>
            <a:off x="2603450" y="4433887"/>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2" name="Google Shape;792;p27"/>
          <p:cNvSpPr/>
          <p:nvPr/>
        </p:nvSpPr>
        <p:spPr>
          <a:xfrm>
            <a:off x="3635275" y="4433887"/>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3" name="Google Shape;793;p27"/>
          <p:cNvSpPr/>
          <p:nvPr/>
        </p:nvSpPr>
        <p:spPr>
          <a:xfrm>
            <a:off x="4984551" y="4433887"/>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4" name="Google Shape;794;p27"/>
          <p:cNvSpPr/>
          <p:nvPr/>
        </p:nvSpPr>
        <p:spPr>
          <a:xfrm>
            <a:off x="571500" y="4748212"/>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5" name="Google Shape;795;p27"/>
          <p:cNvSpPr/>
          <p:nvPr/>
        </p:nvSpPr>
        <p:spPr>
          <a:xfrm>
            <a:off x="1190625" y="4748212"/>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6" name="Google Shape;796;p27"/>
          <p:cNvSpPr/>
          <p:nvPr/>
        </p:nvSpPr>
        <p:spPr>
          <a:xfrm>
            <a:off x="2603450" y="4748212"/>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7" name="Google Shape;797;p27"/>
          <p:cNvSpPr/>
          <p:nvPr/>
        </p:nvSpPr>
        <p:spPr>
          <a:xfrm>
            <a:off x="3635275" y="4748212"/>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8" name="Google Shape;798;p27"/>
          <p:cNvSpPr/>
          <p:nvPr/>
        </p:nvSpPr>
        <p:spPr>
          <a:xfrm>
            <a:off x="4984551" y="4748212"/>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9" name="Google Shape;799;p27"/>
          <p:cNvSpPr/>
          <p:nvPr/>
        </p:nvSpPr>
        <p:spPr>
          <a:xfrm>
            <a:off x="571500" y="5062537"/>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0" name="Google Shape;800;p27"/>
          <p:cNvSpPr/>
          <p:nvPr/>
        </p:nvSpPr>
        <p:spPr>
          <a:xfrm>
            <a:off x="1190625" y="5062537"/>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1" name="Google Shape;801;p27"/>
          <p:cNvSpPr/>
          <p:nvPr/>
        </p:nvSpPr>
        <p:spPr>
          <a:xfrm>
            <a:off x="2603450" y="5062537"/>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2" name="Google Shape;802;p27"/>
          <p:cNvSpPr/>
          <p:nvPr/>
        </p:nvSpPr>
        <p:spPr>
          <a:xfrm>
            <a:off x="3635275" y="5062537"/>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3" name="Google Shape;803;p27"/>
          <p:cNvSpPr/>
          <p:nvPr/>
        </p:nvSpPr>
        <p:spPr>
          <a:xfrm>
            <a:off x="4984551" y="5062537"/>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4" name="Google Shape;804;p27"/>
          <p:cNvSpPr/>
          <p:nvPr/>
        </p:nvSpPr>
        <p:spPr>
          <a:xfrm>
            <a:off x="571500" y="5376862"/>
            <a:ext cx="6191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5" name="Google Shape;805;p27"/>
          <p:cNvSpPr/>
          <p:nvPr/>
        </p:nvSpPr>
        <p:spPr>
          <a:xfrm>
            <a:off x="1190625" y="5376862"/>
            <a:ext cx="1412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6" name="Google Shape;806;p27"/>
          <p:cNvSpPr/>
          <p:nvPr/>
        </p:nvSpPr>
        <p:spPr>
          <a:xfrm>
            <a:off x="2603450" y="5376862"/>
            <a:ext cx="1031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7" name="Google Shape;807;p27"/>
          <p:cNvSpPr/>
          <p:nvPr/>
        </p:nvSpPr>
        <p:spPr>
          <a:xfrm>
            <a:off x="3635275" y="5376862"/>
            <a:ext cx="134927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8" name="Google Shape;808;p27"/>
          <p:cNvSpPr/>
          <p:nvPr/>
        </p:nvSpPr>
        <p:spPr>
          <a:xfrm>
            <a:off x="4984551" y="5376862"/>
            <a:ext cx="10161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09" name="Google Shape;809;p27"/>
          <p:cNvSpPr/>
          <p:nvPr/>
        </p:nvSpPr>
        <p:spPr>
          <a:xfrm>
            <a:off x="6191250" y="25479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0" name="Google Shape;810;p27"/>
          <p:cNvSpPr/>
          <p:nvPr/>
        </p:nvSpPr>
        <p:spPr>
          <a:xfrm>
            <a:off x="6824364" y="25479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1" name="Google Shape;811;p27"/>
          <p:cNvSpPr/>
          <p:nvPr/>
        </p:nvSpPr>
        <p:spPr>
          <a:xfrm>
            <a:off x="8233023" y="25479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2" name="Google Shape;812;p27"/>
          <p:cNvSpPr/>
          <p:nvPr/>
        </p:nvSpPr>
        <p:spPr>
          <a:xfrm>
            <a:off x="9261871" y="25479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3" name="Google Shape;813;p27"/>
          <p:cNvSpPr/>
          <p:nvPr/>
        </p:nvSpPr>
        <p:spPr>
          <a:xfrm>
            <a:off x="10607278" y="25479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4" name="Google Shape;814;p27"/>
          <p:cNvSpPr/>
          <p:nvPr/>
        </p:nvSpPr>
        <p:spPr>
          <a:xfrm>
            <a:off x="6191250" y="28622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5" name="Google Shape;815;p27"/>
          <p:cNvSpPr/>
          <p:nvPr/>
        </p:nvSpPr>
        <p:spPr>
          <a:xfrm>
            <a:off x="6824364" y="28622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6" name="Google Shape;816;p27"/>
          <p:cNvSpPr/>
          <p:nvPr/>
        </p:nvSpPr>
        <p:spPr>
          <a:xfrm>
            <a:off x="8233023" y="28622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7" name="Google Shape;817;p27"/>
          <p:cNvSpPr/>
          <p:nvPr/>
        </p:nvSpPr>
        <p:spPr>
          <a:xfrm>
            <a:off x="9261871" y="28622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8" name="Google Shape;818;p27"/>
          <p:cNvSpPr/>
          <p:nvPr/>
        </p:nvSpPr>
        <p:spPr>
          <a:xfrm>
            <a:off x="10607278" y="28622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19" name="Google Shape;819;p27"/>
          <p:cNvSpPr/>
          <p:nvPr/>
        </p:nvSpPr>
        <p:spPr>
          <a:xfrm>
            <a:off x="6191250" y="31765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0" name="Google Shape;820;p27"/>
          <p:cNvSpPr/>
          <p:nvPr/>
        </p:nvSpPr>
        <p:spPr>
          <a:xfrm>
            <a:off x="6824364" y="31765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1" name="Google Shape;821;p27"/>
          <p:cNvSpPr/>
          <p:nvPr/>
        </p:nvSpPr>
        <p:spPr>
          <a:xfrm>
            <a:off x="8233023" y="31765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2" name="Google Shape;822;p27"/>
          <p:cNvSpPr/>
          <p:nvPr/>
        </p:nvSpPr>
        <p:spPr>
          <a:xfrm>
            <a:off x="9261871" y="31765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3" name="Google Shape;823;p27"/>
          <p:cNvSpPr/>
          <p:nvPr/>
        </p:nvSpPr>
        <p:spPr>
          <a:xfrm>
            <a:off x="10607278" y="31765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4" name="Google Shape;824;p27"/>
          <p:cNvSpPr/>
          <p:nvPr/>
        </p:nvSpPr>
        <p:spPr>
          <a:xfrm>
            <a:off x="6191250" y="34909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5" name="Google Shape;825;p27"/>
          <p:cNvSpPr/>
          <p:nvPr/>
        </p:nvSpPr>
        <p:spPr>
          <a:xfrm>
            <a:off x="6824364" y="34909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6" name="Google Shape;826;p27"/>
          <p:cNvSpPr/>
          <p:nvPr/>
        </p:nvSpPr>
        <p:spPr>
          <a:xfrm>
            <a:off x="8233023" y="34909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7" name="Google Shape;827;p27"/>
          <p:cNvSpPr/>
          <p:nvPr/>
        </p:nvSpPr>
        <p:spPr>
          <a:xfrm>
            <a:off x="9261871" y="34909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8" name="Google Shape;828;p27"/>
          <p:cNvSpPr/>
          <p:nvPr/>
        </p:nvSpPr>
        <p:spPr>
          <a:xfrm>
            <a:off x="10607278" y="34909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29" name="Google Shape;829;p27"/>
          <p:cNvSpPr/>
          <p:nvPr/>
        </p:nvSpPr>
        <p:spPr>
          <a:xfrm>
            <a:off x="6191250" y="38052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0" name="Google Shape;830;p27"/>
          <p:cNvSpPr/>
          <p:nvPr/>
        </p:nvSpPr>
        <p:spPr>
          <a:xfrm>
            <a:off x="6824364" y="38052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1" name="Google Shape;831;p27"/>
          <p:cNvSpPr/>
          <p:nvPr/>
        </p:nvSpPr>
        <p:spPr>
          <a:xfrm>
            <a:off x="8233023" y="38052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2" name="Google Shape;832;p27"/>
          <p:cNvSpPr/>
          <p:nvPr/>
        </p:nvSpPr>
        <p:spPr>
          <a:xfrm>
            <a:off x="9261871" y="38052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3" name="Google Shape;833;p27"/>
          <p:cNvSpPr/>
          <p:nvPr/>
        </p:nvSpPr>
        <p:spPr>
          <a:xfrm>
            <a:off x="10607278" y="38052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4" name="Google Shape;834;p27"/>
          <p:cNvSpPr/>
          <p:nvPr/>
        </p:nvSpPr>
        <p:spPr>
          <a:xfrm>
            <a:off x="6191250" y="41195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5" name="Google Shape;835;p27"/>
          <p:cNvSpPr/>
          <p:nvPr/>
        </p:nvSpPr>
        <p:spPr>
          <a:xfrm>
            <a:off x="6824364" y="41195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6" name="Google Shape;836;p27"/>
          <p:cNvSpPr/>
          <p:nvPr/>
        </p:nvSpPr>
        <p:spPr>
          <a:xfrm>
            <a:off x="8233023" y="41195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7" name="Google Shape;837;p27"/>
          <p:cNvSpPr/>
          <p:nvPr/>
        </p:nvSpPr>
        <p:spPr>
          <a:xfrm>
            <a:off x="9261871" y="41195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8" name="Google Shape;838;p27"/>
          <p:cNvSpPr/>
          <p:nvPr/>
        </p:nvSpPr>
        <p:spPr>
          <a:xfrm>
            <a:off x="10607278" y="41195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39" name="Google Shape;839;p27"/>
          <p:cNvSpPr/>
          <p:nvPr/>
        </p:nvSpPr>
        <p:spPr>
          <a:xfrm>
            <a:off x="6191250" y="443388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0" name="Google Shape;840;p27"/>
          <p:cNvSpPr/>
          <p:nvPr/>
        </p:nvSpPr>
        <p:spPr>
          <a:xfrm>
            <a:off x="6824364" y="443388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1" name="Google Shape;841;p27"/>
          <p:cNvSpPr/>
          <p:nvPr/>
        </p:nvSpPr>
        <p:spPr>
          <a:xfrm>
            <a:off x="8233023" y="443388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2" name="Google Shape;842;p27"/>
          <p:cNvSpPr/>
          <p:nvPr/>
        </p:nvSpPr>
        <p:spPr>
          <a:xfrm>
            <a:off x="9261871" y="443388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3" name="Google Shape;843;p27"/>
          <p:cNvSpPr/>
          <p:nvPr/>
        </p:nvSpPr>
        <p:spPr>
          <a:xfrm>
            <a:off x="10607278" y="443388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4" name="Google Shape;844;p27"/>
          <p:cNvSpPr/>
          <p:nvPr/>
        </p:nvSpPr>
        <p:spPr>
          <a:xfrm>
            <a:off x="6191250" y="474821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5" name="Google Shape;845;p27"/>
          <p:cNvSpPr/>
          <p:nvPr/>
        </p:nvSpPr>
        <p:spPr>
          <a:xfrm>
            <a:off x="6824364" y="474821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6" name="Google Shape;846;p27"/>
          <p:cNvSpPr/>
          <p:nvPr/>
        </p:nvSpPr>
        <p:spPr>
          <a:xfrm>
            <a:off x="8233023" y="474821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7" name="Google Shape;847;p27"/>
          <p:cNvSpPr/>
          <p:nvPr/>
        </p:nvSpPr>
        <p:spPr>
          <a:xfrm>
            <a:off x="9261871" y="474821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8" name="Google Shape;848;p27"/>
          <p:cNvSpPr/>
          <p:nvPr/>
        </p:nvSpPr>
        <p:spPr>
          <a:xfrm>
            <a:off x="10607278" y="474821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49" name="Google Shape;849;p27"/>
          <p:cNvSpPr/>
          <p:nvPr/>
        </p:nvSpPr>
        <p:spPr>
          <a:xfrm>
            <a:off x="6191250" y="5062537"/>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0" name="Google Shape;850;p27"/>
          <p:cNvSpPr/>
          <p:nvPr/>
        </p:nvSpPr>
        <p:spPr>
          <a:xfrm>
            <a:off x="6824364" y="5062537"/>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1" name="Google Shape;851;p27"/>
          <p:cNvSpPr/>
          <p:nvPr/>
        </p:nvSpPr>
        <p:spPr>
          <a:xfrm>
            <a:off x="8233023" y="5062537"/>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2" name="Google Shape;852;p27"/>
          <p:cNvSpPr/>
          <p:nvPr/>
        </p:nvSpPr>
        <p:spPr>
          <a:xfrm>
            <a:off x="9261871" y="5062537"/>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3" name="Google Shape;853;p27"/>
          <p:cNvSpPr/>
          <p:nvPr/>
        </p:nvSpPr>
        <p:spPr>
          <a:xfrm>
            <a:off x="10607278" y="5062537"/>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4" name="Google Shape;854;p27"/>
          <p:cNvSpPr/>
          <p:nvPr/>
        </p:nvSpPr>
        <p:spPr>
          <a:xfrm>
            <a:off x="6191250" y="5376862"/>
            <a:ext cx="63311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5" name="Google Shape;855;p27"/>
          <p:cNvSpPr/>
          <p:nvPr/>
        </p:nvSpPr>
        <p:spPr>
          <a:xfrm>
            <a:off x="6824364" y="5376862"/>
            <a:ext cx="140865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6" name="Google Shape;856;p27"/>
          <p:cNvSpPr/>
          <p:nvPr/>
        </p:nvSpPr>
        <p:spPr>
          <a:xfrm>
            <a:off x="8233023" y="5376862"/>
            <a:ext cx="102884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7" name="Google Shape;857;p27"/>
          <p:cNvSpPr/>
          <p:nvPr/>
        </p:nvSpPr>
        <p:spPr>
          <a:xfrm>
            <a:off x="9261871" y="5376862"/>
            <a:ext cx="134540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8" name="Google Shape;858;p27"/>
          <p:cNvSpPr/>
          <p:nvPr/>
        </p:nvSpPr>
        <p:spPr>
          <a:xfrm>
            <a:off x="10607278" y="5376862"/>
            <a:ext cx="10132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9" name="Google Shape;859;p27"/>
          <p:cNvSpPr txBox="1"/>
          <p:nvPr/>
        </p:nvSpPr>
        <p:spPr>
          <a:xfrm>
            <a:off x="571500" y="476250"/>
            <a:ext cx="7720965"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RESNET-18: SINIF BAZLI PERFORMANS (0-21)</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63"/>
        <p:cNvGrpSpPr/>
        <p:nvPr/>
      </p:nvGrpSpPr>
      <p:grpSpPr>
        <a:xfrm>
          <a:off x="0" y="0"/>
          <a:ext cx="0" cy="0"/>
          <a:chOff x="0" y="0"/>
          <a:chExt cx="0" cy="0"/>
        </a:xfrm>
      </p:grpSpPr>
      <p:graphicFrame>
        <p:nvGraphicFramePr>
          <p:cNvPr id="865" name="Google Shape;865;p28"/>
          <p:cNvGraphicFramePr/>
          <p:nvPr>
            <p:extLst>
              <p:ext uri="{D42A27DB-BD31-4B8C-83A1-F6EECF244321}">
                <p14:modId xmlns:p14="http://schemas.microsoft.com/office/powerpoint/2010/main" val="3953572499"/>
              </p:ext>
            </p:extLst>
          </p:nvPr>
        </p:nvGraphicFramePr>
        <p:xfrm>
          <a:off x="571500" y="1776412"/>
          <a:ext cx="5429250" cy="4173000"/>
        </p:xfrm>
        <a:graphic>
          <a:graphicData uri="http://schemas.openxmlformats.org/drawingml/2006/table">
            <a:tbl>
              <a:tblPr firstRow="1" bandRow="1">
                <a:noFill/>
                <a:tableStyleId>{D746D6EE-2022-4A0E-B6AC-B034E0F457E2}</a:tableStyleId>
              </a:tblPr>
              <a:tblGrid>
                <a:gridCol w="646950">
                  <a:extLst>
                    <a:ext uri="{9D8B030D-6E8A-4147-A177-3AD203B41FA5}">
                      <a16:colId xmlns:a16="http://schemas.microsoft.com/office/drawing/2014/main" val="20000"/>
                    </a:ext>
                  </a:extLst>
                </a:gridCol>
                <a:gridCol w="1404650">
                  <a:extLst>
                    <a:ext uri="{9D8B030D-6E8A-4147-A177-3AD203B41FA5}">
                      <a16:colId xmlns:a16="http://schemas.microsoft.com/office/drawing/2014/main" val="20001"/>
                    </a:ext>
                  </a:extLst>
                </a:gridCol>
                <a:gridCol w="1025875">
                  <a:extLst>
                    <a:ext uri="{9D8B030D-6E8A-4147-A177-3AD203B41FA5}">
                      <a16:colId xmlns:a16="http://schemas.microsoft.com/office/drawing/2014/main" val="20002"/>
                    </a:ext>
                  </a:extLst>
                </a:gridCol>
                <a:gridCol w="1341375">
                  <a:extLst>
                    <a:ext uri="{9D8B030D-6E8A-4147-A177-3AD203B41FA5}">
                      <a16:colId xmlns:a16="http://schemas.microsoft.com/office/drawing/2014/main" val="20003"/>
                    </a:ext>
                  </a:extLst>
                </a:gridCol>
                <a:gridCol w="1010400">
                  <a:extLst>
                    <a:ext uri="{9D8B030D-6E8A-4147-A177-3AD203B41FA5}">
                      <a16:colId xmlns:a16="http://schemas.microsoft.com/office/drawing/2014/main" val="20004"/>
                    </a:ext>
                  </a:extLst>
                </a:gridCol>
              </a:tblGrid>
              <a:tr h="321000">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2100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0.990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0.833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0.905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2100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2100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0.933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0.960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32100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480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r h="32100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26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0.967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0.989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0.978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5"/>
                  </a:ext>
                </a:extLst>
              </a:tr>
              <a:tr h="32100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0.984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6"/>
                  </a:ext>
                </a:extLst>
              </a:tr>
              <a:tr h="32100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0.955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0.977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7"/>
                  </a:ext>
                </a:extLst>
              </a:tr>
              <a:tr h="32100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0.891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8"/>
                  </a:ext>
                </a:extLst>
              </a:tr>
              <a:tr h="321000">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0.882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0.839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a:ea typeface="Inter"/>
                          <a:cs typeface="Inter"/>
                          <a:sym typeface="Inter"/>
                        </a:rPr>
                        <a:t>150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9"/>
                  </a:ext>
                </a:extLst>
              </a:tr>
              <a:tr h="3210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0.996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0.996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0.996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270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723970424"/>
                  </a:ext>
                </a:extLst>
              </a:tr>
              <a:tr h="3210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6</a:t>
                      </a: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532420691"/>
                  </a:ext>
                </a:extLst>
              </a:tr>
              <a:tr h="3210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0.995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0.998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210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3215149130"/>
                  </a:ext>
                </a:extLst>
              </a:tr>
            </a:tbl>
          </a:graphicData>
        </a:graphic>
      </p:graphicFrame>
      <p:graphicFrame>
        <p:nvGraphicFramePr>
          <p:cNvPr id="866" name="Google Shape;866;p28"/>
          <p:cNvGraphicFramePr/>
          <p:nvPr>
            <p:extLst>
              <p:ext uri="{D42A27DB-BD31-4B8C-83A1-F6EECF244321}">
                <p14:modId xmlns:p14="http://schemas.microsoft.com/office/powerpoint/2010/main" val="1115484862"/>
              </p:ext>
            </p:extLst>
          </p:nvPr>
        </p:nvGraphicFramePr>
        <p:xfrm>
          <a:off x="6191250" y="1776412"/>
          <a:ext cx="5429250" cy="3524400"/>
        </p:xfrm>
        <a:graphic>
          <a:graphicData uri="http://schemas.openxmlformats.org/drawingml/2006/table">
            <a:tbl>
              <a:tblPr firstRow="1" bandRow="1">
                <a:noFill/>
                <a:tableStyleId>{D746D6EE-2022-4A0E-B6AC-B034E0F457E2}</a:tableStyleId>
              </a:tblPr>
              <a:tblGrid>
                <a:gridCol w="1038225">
                  <a:extLst>
                    <a:ext uri="{9D8B030D-6E8A-4147-A177-3AD203B41FA5}">
                      <a16:colId xmlns:a16="http://schemas.microsoft.com/office/drawing/2014/main" val="20000"/>
                    </a:ext>
                  </a:extLst>
                </a:gridCol>
                <a:gridCol w="1198950">
                  <a:extLst>
                    <a:ext uri="{9D8B030D-6E8A-4147-A177-3AD203B41FA5}">
                      <a16:colId xmlns:a16="http://schemas.microsoft.com/office/drawing/2014/main" val="20001"/>
                    </a:ext>
                  </a:extLst>
                </a:gridCol>
                <a:gridCol w="969475">
                  <a:extLst>
                    <a:ext uri="{9D8B030D-6E8A-4147-A177-3AD203B41FA5}">
                      <a16:colId xmlns:a16="http://schemas.microsoft.com/office/drawing/2014/main" val="20002"/>
                    </a:ext>
                  </a:extLst>
                </a:gridCol>
                <a:gridCol w="1267725">
                  <a:extLst>
                    <a:ext uri="{9D8B030D-6E8A-4147-A177-3AD203B41FA5}">
                      <a16:colId xmlns:a16="http://schemas.microsoft.com/office/drawing/2014/main" val="20003"/>
                    </a:ext>
                  </a:extLst>
                </a:gridCol>
                <a:gridCol w="954875">
                  <a:extLst>
                    <a:ext uri="{9D8B030D-6E8A-4147-A177-3AD203B41FA5}">
                      <a16:colId xmlns:a16="http://schemas.microsoft.com/office/drawing/2014/main" val="20004"/>
                    </a:ext>
                  </a:extLst>
                </a:gridCol>
              </a:tblGrid>
              <a:tr h="320400">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Precision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F1-Score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050" b="1" i="0" u="none">
                          <a:solidFill>
                            <a:srgbClr val="38BDF8"/>
                          </a:solidFill>
                          <a:latin typeface="Inter"/>
                          <a:ea typeface="Inter"/>
                          <a:cs typeface="Inter"/>
                          <a:sym typeface="Inter"/>
                        </a:rPr>
                        <a:t>Supp.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320400">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a:t>
                      </a:r>
                      <a:r>
                        <a:rPr lang="tr-TR" sz="975" b="0" i="0" u="none">
                          <a:solidFill>
                            <a:srgbClr val="CBD5E1"/>
                          </a:solidFill>
                          <a:latin typeface="Inter SemiBold"/>
                          <a:ea typeface="Inter SemiBold"/>
                          <a:cs typeface="Inter SemiBold"/>
                          <a:sym typeface="Inter SemiBold"/>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120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0.987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0.990 </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390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0.984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120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326214873"/>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0.947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260169119"/>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0.996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0.988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0.992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690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2202925748"/>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39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9</a:t>
                      </a: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895033823"/>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0.988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0.911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0.948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9</a:t>
                      </a: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489295823"/>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1.000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60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3285979981"/>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42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0.918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0.989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975" b="0" i="0" u="none">
                          <a:solidFill>
                            <a:srgbClr val="CBD5E1"/>
                          </a:solidFill>
                          <a:latin typeface="Inter SemiBold"/>
                          <a:ea typeface="Inter SemiBold"/>
                          <a:cs typeface="Inter SemiBold"/>
                          <a:sym typeface="Inter SemiBold"/>
                        </a:rPr>
                        <a:t>0.952 </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cs typeface="Inter SemiBold"/>
                          <a:sym typeface="Inter SemiBold"/>
                        </a:rPr>
                        <a:t>9</a:t>
                      </a:r>
                      <a:r>
                        <a:rPr lang="en-US" sz="975" b="0" i="0" u="none">
                          <a:solidFill>
                            <a:srgbClr val="CBD5E1"/>
                          </a:solidFill>
                          <a:latin typeface="Inter SemiBold"/>
                          <a:ea typeface="Inter SemiBold"/>
                          <a:cs typeface="Inter SemiBold"/>
                          <a:sym typeface="Inter SemiBold"/>
                        </a:rPr>
                        <a:t>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713121482"/>
                  </a:ext>
                </a:extLst>
              </a:tr>
              <a:tr h="320400">
                <a:tc>
                  <a:txBody>
                    <a:bodyPr/>
                    <a:lstStyle/>
                    <a:p>
                      <a:pPr marL="0" marR="0" lvl="0" indent="0" algn="l" rtl="0">
                        <a:spcBef>
                          <a:spcPts val="0"/>
                        </a:spcBef>
                        <a:spcAft>
                          <a:spcPts val="0"/>
                        </a:spcAft>
                        <a:buNone/>
                      </a:pPr>
                      <a:r>
                        <a:rPr lang="tr-TR" sz="975" b="0" i="0" u="none">
                          <a:solidFill>
                            <a:srgbClr val="CBD5E1"/>
                          </a:solidFill>
                          <a:latin typeface="Inter SemiBold"/>
                          <a:ea typeface="Inter SemiBold"/>
                          <a:sym typeface="Inter SemiBold"/>
                        </a:rPr>
                        <a:t>Final Accuracy: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kumimoji="0" lang="tr-TR" sz="975" b="0" i="0" u="none" strike="noStrike" kern="0" cap="none" spc="0" normalizeH="0" baseline="0" noProof="0">
                          <a:ln>
                            <a:noFill/>
                          </a:ln>
                          <a:solidFill>
                            <a:srgbClr val="CBD5E1"/>
                          </a:solidFill>
                          <a:effectLst/>
                          <a:uLnTx/>
                          <a:uFillTx/>
                          <a:latin typeface="Inter SemiBold"/>
                          <a:ea typeface="Inter SemiBold"/>
                          <a:cs typeface="Inter SemiBold"/>
                          <a:sym typeface="Inter SemiBold"/>
                        </a:rPr>
                        <a:t>0.9770</a:t>
                      </a: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2390422014"/>
                  </a:ext>
                </a:extLst>
              </a:tr>
            </a:tbl>
          </a:graphicData>
        </a:graphic>
      </p:graphicFrame>
      <p:sp>
        <p:nvSpPr>
          <p:cNvPr id="867" name="Google Shape;867;p28"/>
          <p:cNvSpPr txBox="1"/>
          <p:nvPr/>
        </p:nvSpPr>
        <p:spPr>
          <a:xfrm>
            <a:off x="571499" y="6048450"/>
            <a:ext cx="110490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ResNet-18, </a:t>
            </a:r>
            <a:r>
              <a:rPr lang="en-US" sz="1350" b="1" i="0" u="none" strike="noStrike" cap="none">
                <a:solidFill>
                  <a:srgbClr val="F8FAFC"/>
                </a:solidFill>
                <a:latin typeface="Inter"/>
                <a:ea typeface="Inter"/>
                <a:cs typeface="Inter"/>
                <a:sym typeface="Inter"/>
              </a:rPr>
              <a:t>residual connections</a:t>
            </a:r>
            <a:r>
              <a:rPr lang="en-US" sz="1350" b="0" i="0" u="none" strike="noStrike" cap="none">
                <a:solidFill>
                  <a:srgbClr val="94A3B8"/>
                </a:solidFill>
                <a:latin typeface="Inter"/>
                <a:ea typeface="Inter"/>
                <a:cs typeface="Inter"/>
                <a:sym typeface="Inter"/>
              </a:rPr>
              <a:t> sayesinde en derin modeller arasında en yüksek doğruluğa sahip mimari olarak öne çıkmaktadır.</a:t>
            </a:r>
            <a:endParaRPr/>
          </a:p>
        </p:txBody>
      </p:sp>
      <p:sp>
        <p:nvSpPr>
          <p:cNvPr id="868" name="Google Shape;868;p28"/>
          <p:cNvSpPr/>
          <p:nvPr/>
        </p:nvSpPr>
        <p:spPr>
          <a:xfrm>
            <a:off x="571500" y="2466975"/>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9" name="Google Shape;869;p28"/>
          <p:cNvSpPr/>
          <p:nvPr/>
        </p:nvSpPr>
        <p:spPr>
          <a:xfrm>
            <a:off x="1218455" y="2466975"/>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0" name="Google Shape;870;p28"/>
          <p:cNvSpPr/>
          <p:nvPr/>
        </p:nvSpPr>
        <p:spPr>
          <a:xfrm>
            <a:off x="2623095" y="2466975"/>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1" name="Google Shape;871;p28"/>
          <p:cNvSpPr/>
          <p:nvPr/>
        </p:nvSpPr>
        <p:spPr>
          <a:xfrm>
            <a:off x="3648967" y="2466975"/>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2" name="Google Shape;872;p28"/>
          <p:cNvSpPr/>
          <p:nvPr/>
        </p:nvSpPr>
        <p:spPr>
          <a:xfrm>
            <a:off x="4990355" y="2466975"/>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3" name="Google Shape;873;p28"/>
          <p:cNvSpPr/>
          <p:nvPr/>
        </p:nvSpPr>
        <p:spPr>
          <a:xfrm>
            <a:off x="571500" y="278130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4" name="Google Shape;874;p28"/>
          <p:cNvSpPr/>
          <p:nvPr/>
        </p:nvSpPr>
        <p:spPr>
          <a:xfrm>
            <a:off x="1218455" y="278130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5" name="Google Shape;875;p28"/>
          <p:cNvSpPr/>
          <p:nvPr/>
        </p:nvSpPr>
        <p:spPr>
          <a:xfrm>
            <a:off x="2623095" y="278130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6" name="Google Shape;876;p28"/>
          <p:cNvSpPr/>
          <p:nvPr/>
        </p:nvSpPr>
        <p:spPr>
          <a:xfrm>
            <a:off x="3648967" y="278130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7" name="Google Shape;877;p28"/>
          <p:cNvSpPr/>
          <p:nvPr/>
        </p:nvSpPr>
        <p:spPr>
          <a:xfrm>
            <a:off x="4990355" y="278130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8" name="Google Shape;878;p28"/>
          <p:cNvSpPr/>
          <p:nvPr/>
        </p:nvSpPr>
        <p:spPr>
          <a:xfrm>
            <a:off x="571500" y="3095625"/>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9" name="Google Shape;879;p28"/>
          <p:cNvSpPr/>
          <p:nvPr/>
        </p:nvSpPr>
        <p:spPr>
          <a:xfrm>
            <a:off x="1218455" y="3095625"/>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0" name="Google Shape;880;p28"/>
          <p:cNvSpPr/>
          <p:nvPr/>
        </p:nvSpPr>
        <p:spPr>
          <a:xfrm>
            <a:off x="2623095" y="3095625"/>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1" name="Google Shape;881;p28"/>
          <p:cNvSpPr/>
          <p:nvPr/>
        </p:nvSpPr>
        <p:spPr>
          <a:xfrm>
            <a:off x="3648967" y="3095625"/>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2" name="Google Shape;882;p28"/>
          <p:cNvSpPr/>
          <p:nvPr/>
        </p:nvSpPr>
        <p:spPr>
          <a:xfrm>
            <a:off x="4990355" y="3095625"/>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3" name="Google Shape;883;p28"/>
          <p:cNvSpPr/>
          <p:nvPr/>
        </p:nvSpPr>
        <p:spPr>
          <a:xfrm>
            <a:off x="571500" y="340995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4" name="Google Shape;884;p28"/>
          <p:cNvSpPr/>
          <p:nvPr/>
        </p:nvSpPr>
        <p:spPr>
          <a:xfrm>
            <a:off x="1218455" y="340995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5" name="Google Shape;885;p28"/>
          <p:cNvSpPr/>
          <p:nvPr/>
        </p:nvSpPr>
        <p:spPr>
          <a:xfrm>
            <a:off x="2623095" y="340995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6" name="Google Shape;886;p28"/>
          <p:cNvSpPr/>
          <p:nvPr/>
        </p:nvSpPr>
        <p:spPr>
          <a:xfrm>
            <a:off x="3648967" y="340995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7" name="Google Shape;887;p28"/>
          <p:cNvSpPr/>
          <p:nvPr/>
        </p:nvSpPr>
        <p:spPr>
          <a:xfrm>
            <a:off x="4990355" y="340995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8" name="Google Shape;888;p28"/>
          <p:cNvSpPr/>
          <p:nvPr/>
        </p:nvSpPr>
        <p:spPr>
          <a:xfrm>
            <a:off x="571500" y="3724275"/>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9" name="Google Shape;889;p28"/>
          <p:cNvSpPr/>
          <p:nvPr/>
        </p:nvSpPr>
        <p:spPr>
          <a:xfrm>
            <a:off x="1218455" y="3724275"/>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0" name="Google Shape;890;p28"/>
          <p:cNvSpPr/>
          <p:nvPr/>
        </p:nvSpPr>
        <p:spPr>
          <a:xfrm>
            <a:off x="2623095" y="3724275"/>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1" name="Google Shape;891;p28"/>
          <p:cNvSpPr/>
          <p:nvPr/>
        </p:nvSpPr>
        <p:spPr>
          <a:xfrm>
            <a:off x="3648967" y="3724275"/>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2" name="Google Shape;892;p28"/>
          <p:cNvSpPr/>
          <p:nvPr/>
        </p:nvSpPr>
        <p:spPr>
          <a:xfrm>
            <a:off x="4990355" y="3724275"/>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3" name="Google Shape;893;p28"/>
          <p:cNvSpPr/>
          <p:nvPr/>
        </p:nvSpPr>
        <p:spPr>
          <a:xfrm>
            <a:off x="571500" y="403860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4" name="Google Shape;894;p28"/>
          <p:cNvSpPr/>
          <p:nvPr/>
        </p:nvSpPr>
        <p:spPr>
          <a:xfrm>
            <a:off x="1218455" y="403860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5" name="Google Shape;895;p28"/>
          <p:cNvSpPr/>
          <p:nvPr/>
        </p:nvSpPr>
        <p:spPr>
          <a:xfrm>
            <a:off x="2623095" y="403860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6" name="Google Shape;896;p28"/>
          <p:cNvSpPr/>
          <p:nvPr/>
        </p:nvSpPr>
        <p:spPr>
          <a:xfrm>
            <a:off x="3648967" y="403860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7" name="Google Shape;897;p28"/>
          <p:cNvSpPr/>
          <p:nvPr/>
        </p:nvSpPr>
        <p:spPr>
          <a:xfrm>
            <a:off x="4990355" y="403860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8" name="Google Shape;898;p28"/>
          <p:cNvSpPr/>
          <p:nvPr/>
        </p:nvSpPr>
        <p:spPr>
          <a:xfrm>
            <a:off x="571500" y="4352925"/>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9" name="Google Shape;899;p28"/>
          <p:cNvSpPr/>
          <p:nvPr/>
        </p:nvSpPr>
        <p:spPr>
          <a:xfrm>
            <a:off x="1218455" y="4352925"/>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0" name="Google Shape;900;p28"/>
          <p:cNvSpPr/>
          <p:nvPr/>
        </p:nvSpPr>
        <p:spPr>
          <a:xfrm>
            <a:off x="2623095" y="4352925"/>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1" name="Google Shape;901;p28"/>
          <p:cNvSpPr/>
          <p:nvPr/>
        </p:nvSpPr>
        <p:spPr>
          <a:xfrm>
            <a:off x="3648967" y="4352925"/>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2" name="Google Shape;902;p28"/>
          <p:cNvSpPr/>
          <p:nvPr/>
        </p:nvSpPr>
        <p:spPr>
          <a:xfrm>
            <a:off x="4990355" y="4352925"/>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3" name="Google Shape;903;p28"/>
          <p:cNvSpPr/>
          <p:nvPr/>
        </p:nvSpPr>
        <p:spPr>
          <a:xfrm>
            <a:off x="571500" y="466725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4" name="Google Shape;904;p28"/>
          <p:cNvSpPr/>
          <p:nvPr/>
        </p:nvSpPr>
        <p:spPr>
          <a:xfrm>
            <a:off x="1218455" y="466725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5" name="Google Shape;905;p28"/>
          <p:cNvSpPr/>
          <p:nvPr/>
        </p:nvSpPr>
        <p:spPr>
          <a:xfrm>
            <a:off x="2623095" y="466725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6" name="Google Shape;906;p28"/>
          <p:cNvSpPr/>
          <p:nvPr/>
        </p:nvSpPr>
        <p:spPr>
          <a:xfrm>
            <a:off x="3648967" y="466725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7" name="Google Shape;907;p28"/>
          <p:cNvSpPr/>
          <p:nvPr/>
        </p:nvSpPr>
        <p:spPr>
          <a:xfrm>
            <a:off x="4990355" y="466725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8" name="Google Shape;908;p28"/>
          <p:cNvSpPr/>
          <p:nvPr/>
        </p:nvSpPr>
        <p:spPr>
          <a:xfrm>
            <a:off x="6191250" y="2457450"/>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9" name="Google Shape;909;p28"/>
          <p:cNvSpPr/>
          <p:nvPr/>
        </p:nvSpPr>
        <p:spPr>
          <a:xfrm>
            <a:off x="7101036" y="2457450"/>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0" name="Google Shape;910;p28"/>
          <p:cNvSpPr/>
          <p:nvPr/>
        </p:nvSpPr>
        <p:spPr>
          <a:xfrm>
            <a:off x="8428434" y="2457450"/>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1" name="Google Shape;911;p28"/>
          <p:cNvSpPr/>
          <p:nvPr/>
        </p:nvSpPr>
        <p:spPr>
          <a:xfrm>
            <a:off x="9397900" y="2457450"/>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2" name="Google Shape;912;p28"/>
          <p:cNvSpPr/>
          <p:nvPr/>
        </p:nvSpPr>
        <p:spPr>
          <a:xfrm>
            <a:off x="10665618" y="2457450"/>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3" name="Google Shape;913;p28"/>
          <p:cNvSpPr/>
          <p:nvPr/>
        </p:nvSpPr>
        <p:spPr>
          <a:xfrm>
            <a:off x="6191250" y="2777258"/>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4" name="Google Shape;914;p28"/>
          <p:cNvSpPr/>
          <p:nvPr/>
        </p:nvSpPr>
        <p:spPr>
          <a:xfrm>
            <a:off x="7101036" y="2777258"/>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5" name="Google Shape;915;p28"/>
          <p:cNvSpPr/>
          <p:nvPr/>
        </p:nvSpPr>
        <p:spPr>
          <a:xfrm>
            <a:off x="8428434" y="2777258"/>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6" name="Google Shape;916;p28"/>
          <p:cNvSpPr/>
          <p:nvPr/>
        </p:nvSpPr>
        <p:spPr>
          <a:xfrm>
            <a:off x="9397900" y="2777258"/>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7" name="Google Shape;917;p28"/>
          <p:cNvSpPr/>
          <p:nvPr/>
        </p:nvSpPr>
        <p:spPr>
          <a:xfrm>
            <a:off x="10665618" y="2777258"/>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0" name="Google Shape;920;p28"/>
          <p:cNvSpPr txBox="1"/>
          <p:nvPr/>
        </p:nvSpPr>
        <p:spPr>
          <a:xfrm>
            <a:off x="571500" y="476250"/>
            <a:ext cx="802100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RESNET-18: SINIF BAZLI PERFORMANS (22-42)</a:t>
            </a:r>
            <a:endParaRPr/>
          </a:p>
        </p:txBody>
      </p:sp>
      <p:sp>
        <p:nvSpPr>
          <p:cNvPr id="6" name="Google Shape;913;p28">
            <a:extLst>
              <a:ext uri="{FF2B5EF4-FFF2-40B4-BE49-F238E27FC236}">
                <a16:creationId xmlns:a16="http://schemas.microsoft.com/office/drawing/2014/main" id="{6401D9B3-A9E9-4BA1-A4AA-F56565DE172B}"/>
              </a:ext>
            </a:extLst>
          </p:cNvPr>
          <p:cNvSpPr/>
          <p:nvPr/>
        </p:nvSpPr>
        <p:spPr>
          <a:xfrm>
            <a:off x="6191250" y="3086100"/>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 name="Google Shape;914;p28">
            <a:extLst>
              <a:ext uri="{FF2B5EF4-FFF2-40B4-BE49-F238E27FC236}">
                <a16:creationId xmlns:a16="http://schemas.microsoft.com/office/drawing/2014/main" id="{0245F5F0-06A7-464A-A6A8-3CA478F73339}"/>
              </a:ext>
            </a:extLst>
          </p:cNvPr>
          <p:cNvSpPr/>
          <p:nvPr/>
        </p:nvSpPr>
        <p:spPr>
          <a:xfrm>
            <a:off x="7101036" y="3086100"/>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915;p28">
            <a:extLst>
              <a:ext uri="{FF2B5EF4-FFF2-40B4-BE49-F238E27FC236}">
                <a16:creationId xmlns:a16="http://schemas.microsoft.com/office/drawing/2014/main" id="{238CD96E-4DEA-9140-C9FF-7B3BDB911443}"/>
              </a:ext>
            </a:extLst>
          </p:cNvPr>
          <p:cNvSpPr/>
          <p:nvPr/>
        </p:nvSpPr>
        <p:spPr>
          <a:xfrm>
            <a:off x="8428434" y="3086100"/>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 name="Google Shape;916;p28">
            <a:extLst>
              <a:ext uri="{FF2B5EF4-FFF2-40B4-BE49-F238E27FC236}">
                <a16:creationId xmlns:a16="http://schemas.microsoft.com/office/drawing/2014/main" id="{A1F6AB11-8DF2-6A10-98C8-B7CE5C35978B}"/>
              </a:ext>
            </a:extLst>
          </p:cNvPr>
          <p:cNvSpPr/>
          <p:nvPr/>
        </p:nvSpPr>
        <p:spPr>
          <a:xfrm>
            <a:off x="9397900" y="3086100"/>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 name="Google Shape;917;p28">
            <a:extLst>
              <a:ext uri="{FF2B5EF4-FFF2-40B4-BE49-F238E27FC236}">
                <a16:creationId xmlns:a16="http://schemas.microsoft.com/office/drawing/2014/main" id="{6B701BF7-EA40-474A-ADD7-3128ECDD05DB}"/>
              </a:ext>
            </a:extLst>
          </p:cNvPr>
          <p:cNvSpPr/>
          <p:nvPr/>
        </p:nvSpPr>
        <p:spPr>
          <a:xfrm>
            <a:off x="10665618" y="3086100"/>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913;p28">
            <a:extLst>
              <a:ext uri="{FF2B5EF4-FFF2-40B4-BE49-F238E27FC236}">
                <a16:creationId xmlns:a16="http://schemas.microsoft.com/office/drawing/2014/main" id="{DD2DB6A5-97D2-B190-DCDE-E06B612F6E44}"/>
              </a:ext>
            </a:extLst>
          </p:cNvPr>
          <p:cNvSpPr/>
          <p:nvPr/>
        </p:nvSpPr>
        <p:spPr>
          <a:xfrm>
            <a:off x="6191249" y="3405908"/>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914;p28">
            <a:extLst>
              <a:ext uri="{FF2B5EF4-FFF2-40B4-BE49-F238E27FC236}">
                <a16:creationId xmlns:a16="http://schemas.microsoft.com/office/drawing/2014/main" id="{F95778EF-10B7-BAAF-0715-572D01E6FB0D}"/>
              </a:ext>
            </a:extLst>
          </p:cNvPr>
          <p:cNvSpPr/>
          <p:nvPr/>
        </p:nvSpPr>
        <p:spPr>
          <a:xfrm>
            <a:off x="7101035" y="3405908"/>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 name="Google Shape;915;p28">
            <a:extLst>
              <a:ext uri="{FF2B5EF4-FFF2-40B4-BE49-F238E27FC236}">
                <a16:creationId xmlns:a16="http://schemas.microsoft.com/office/drawing/2014/main" id="{3141634A-DA43-7B23-CF27-74A19403C04B}"/>
              </a:ext>
            </a:extLst>
          </p:cNvPr>
          <p:cNvSpPr/>
          <p:nvPr/>
        </p:nvSpPr>
        <p:spPr>
          <a:xfrm>
            <a:off x="8428433" y="3405908"/>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 name="Google Shape;916;p28">
            <a:extLst>
              <a:ext uri="{FF2B5EF4-FFF2-40B4-BE49-F238E27FC236}">
                <a16:creationId xmlns:a16="http://schemas.microsoft.com/office/drawing/2014/main" id="{C9411583-62B3-849B-8573-4AEC3D66798A}"/>
              </a:ext>
            </a:extLst>
          </p:cNvPr>
          <p:cNvSpPr/>
          <p:nvPr/>
        </p:nvSpPr>
        <p:spPr>
          <a:xfrm>
            <a:off x="9397899" y="3405908"/>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 name="Google Shape;917;p28">
            <a:extLst>
              <a:ext uri="{FF2B5EF4-FFF2-40B4-BE49-F238E27FC236}">
                <a16:creationId xmlns:a16="http://schemas.microsoft.com/office/drawing/2014/main" id="{A9635490-4D1A-1252-097D-F6B653C2CEB6}"/>
              </a:ext>
            </a:extLst>
          </p:cNvPr>
          <p:cNvSpPr/>
          <p:nvPr/>
        </p:nvSpPr>
        <p:spPr>
          <a:xfrm>
            <a:off x="10665617" y="3405908"/>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 name="Google Shape;913;p28">
            <a:extLst>
              <a:ext uri="{FF2B5EF4-FFF2-40B4-BE49-F238E27FC236}">
                <a16:creationId xmlns:a16="http://schemas.microsoft.com/office/drawing/2014/main" id="{517FFD21-B2C7-4415-A439-3EFBD6172F05}"/>
              </a:ext>
            </a:extLst>
          </p:cNvPr>
          <p:cNvSpPr/>
          <p:nvPr/>
        </p:nvSpPr>
        <p:spPr>
          <a:xfrm>
            <a:off x="6192812" y="3729037"/>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 name="Google Shape;914;p28">
            <a:extLst>
              <a:ext uri="{FF2B5EF4-FFF2-40B4-BE49-F238E27FC236}">
                <a16:creationId xmlns:a16="http://schemas.microsoft.com/office/drawing/2014/main" id="{03CDB604-2408-E1A7-A59F-4BCCBA33EC49}"/>
              </a:ext>
            </a:extLst>
          </p:cNvPr>
          <p:cNvSpPr/>
          <p:nvPr/>
        </p:nvSpPr>
        <p:spPr>
          <a:xfrm>
            <a:off x="7102598" y="3729037"/>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 name="Google Shape;915;p28">
            <a:extLst>
              <a:ext uri="{FF2B5EF4-FFF2-40B4-BE49-F238E27FC236}">
                <a16:creationId xmlns:a16="http://schemas.microsoft.com/office/drawing/2014/main" id="{DC187940-5ED1-781B-C60C-C86466AF25E5}"/>
              </a:ext>
            </a:extLst>
          </p:cNvPr>
          <p:cNvSpPr/>
          <p:nvPr/>
        </p:nvSpPr>
        <p:spPr>
          <a:xfrm>
            <a:off x="8429996" y="3729037"/>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916;p28">
            <a:extLst>
              <a:ext uri="{FF2B5EF4-FFF2-40B4-BE49-F238E27FC236}">
                <a16:creationId xmlns:a16="http://schemas.microsoft.com/office/drawing/2014/main" id="{9AB6AC58-C5E3-4CBC-9374-BBD61B144A84}"/>
              </a:ext>
            </a:extLst>
          </p:cNvPr>
          <p:cNvSpPr/>
          <p:nvPr/>
        </p:nvSpPr>
        <p:spPr>
          <a:xfrm>
            <a:off x="9399462" y="3729037"/>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 name="Google Shape;917;p28">
            <a:extLst>
              <a:ext uri="{FF2B5EF4-FFF2-40B4-BE49-F238E27FC236}">
                <a16:creationId xmlns:a16="http://schemas.microsoft.com/office/drawing/2014/main" id="{58F280A2-52AB-59C4-E3CE-A28EF4B05273}"/>
              </a:ext>
            </a:extLst>
          </p:cNvPr>
          <p:cNvSpPr/>
          <p:nvPr/>
        </p:nvSpPr>
        <p:spPr>
          <a:xfrm>
            <a:off x="10667180" y="3729037"/>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 name="Google Shape;913;p28">
            <a:extLst>
              <a:ext uri="{FF2B5EF4-FFF2-40B4-BE49-F238E27FC236}">
                <a16:creationId xmlns:a16="http://schemas.microsoft.com/office/drawing/2014/main" id="{037B41C4-1DD9-EA37-6667-1856A8002E03}"/>
              </a:ext>
            </a:extLst>
          </p:cNvPr>
          <p:cNvSpPr/>
          <p:nvPr/>
        </p:nvSpPr>
        <p:spPr>
          <a:xfrm>
            <a:off x="6192812" y="4038600"/>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 name="Google Shape;914;p28">
            <a:extLst>
              <a:ext uri="{FF2B5EF4-FFF2-40B4-BE49-F238E27FC236}">
                <a16:creationId xmlns:a16="http://schemas.microsoft.com/office/drawing/2014/main" id="{505FA525-4B51-FE8D-7E22-2413A45AE538}"/>
              </a:ext>
            </a:extLst>
          </p:cNvPr>
          <p:cNvSpPr/>
          <p:nvPr/>
        </p:nvSpPr>
        <p:spPr>
          <a:xfrm>
            <a:off x="7102598" y="4038600"/>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 name="Google Shape;915;p28">
            <a:extLst>
              <a:ext uri="{FF2B5EF4-FFF2-40B4-BE49-F238E27FC236}">
                <a16:creationId xmlns:a16="http://schemas.microsoft.com/office/drawing/2014/main" id="{43D1E778-3C73-492B-0372-116FAF8779DB}"/>
              </a:ext>
            </a:extLst>
          </p:cNvPr>
          <p:cNvSpPr/>
          <p:nvPr/>
        </p:nvSpPr>
        <p:spPr>
          <a:xfrm>
            <a:off x="8429996" y="4038600"/>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 name="Google Shape;916;p28">
            <a:extLst>
              <a:ext uri="{FF2B5EF4-FFF2-40B4-BE49-F238E27FC236}">
                <a16:creationId xmlns:a16="http://schemas.microsoft.com/office/drawing/2014/main" id="{5CECC914-28EB-56E5-2B4A-F68FB5338582}"/>
              </a:ext>
            </a:extLst>
          </p:cNvPr>
          <p:cNvSpPr/>
          <p:nvPr/>
        </p:nvSpPr>
        <p:spPr>
          <a:xfrm>
            <a:off x="9399462" y="4038600"/>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 name="Google Shape;917;p28">
            <a:extLst>
              <a:ext uri="{FF2B5EF4-FFF2-40B4-BE49-F238E27FC236}">
                <a16:creationId xmlns:a16="http://schemas.microsoft.com/office/drawing/2014/main" id="{366FAEEA-249D-38E3-9ECD-9C3327193AC3}"/>
              </a:ext>
            </a:extLst>
          </p:cNvPr>
          <p:cNvSpPr/>
          <p:nvPr/>
        </p:nvSpPr>
        <p:spPr>
          <a:xfrm>
            <a:off x="10667180" y="4038600"/>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 name="Google Shape;913;p28">
            <a:extLst>
              <a:ext uri="{FF2B5EF4-FFF2-40B4-BE49-F238E27FC236}">
                <a16:creationId xmlns:a16="http://schemas.microsoft.com/office/drawing/2014/main" id="{CE9C95AB-1D7B-4DDD-8C71-C54E56969987}"/>
              </a:ext>
            </a:extLst>
          </p:cNvPr>
          <p:cNvSpPr/>
          <p:nvPr/>
        </p:nvSpPr>
        <p:spPr>
          <a:xfrm>
            <a:off x="6189689" y="4339707"/>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 name="Google Shape;914;p28">
            <a:extLst>
              <a:ext uri="{FF2B5EF4-FFF2-40B4-BE49-F238E27FC236}">
                <a16:creationId xmlns:a16="http://schemas.microsoft.com/office/drawing/2014/main" id="{B8C04E9C-1478-1BD5-F665-E8D5BCE2ECAC}"/>
              </a:ext>
            </a:extLst>
          </p:cNvPr>
          <p:cNvSpPr/>
          <p:nvPr/>
        </p:nvSpPr>
        <p:spPr>
          <a:xfrm>
            <a:off x="7099475" y="4339707"/>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 name="Google Shape;915;p28">
            <a:extLst>
              <a:ext uri="{FF2B5EF4-FFF2-40B4-BE49-F238E27FC236}">
                <a16:creationId xmlns:a16="http://schemas.microsoft.com/office/drawing/2014/main" id="{53B67579-A5D5-6565-F30B-93E1CBB18480}"/>
              </a:ext>
            </a:extLst>
          </p:cNvPr>
          <p:cNvSpPr/>
          <p:nvPr/>
        </p:nvSpPr>
        <p:spPr>
          <a:xfrm>
            <a:off x="8426873" y="4339707"/>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 name="Google Shape;916;p28">
            <a:extLst>
              <a:ext uri="{FF2B5EF4-FFF2-40B4-BE49-F238E27FC236}">
                <a16:creationId xmlns:a16="http://schemas.microsoft.com/office/drawing/2014/main" id="{5AD3A8CE-EB90-7310-DD88-B3D74BD8DF3E}"/>
              </a:ext>
            </a:extLst>
          </p:cNvPr>
          <p:cNvSpPr/>
          <p:nvPr/>
        </p:nvSpPr>
        <p:spPr>
          <a:xfrm>
            <a:off x="9396339" y="4339707"/>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 name="Google Shape;917;p28">
            <a:extLst>
              <a:ext uri="{FF2B5EF4-FFF2-40B4-BE49-F238E27FC236}">
                <a16:creationId xmlns:a16="http://schemas.microsoft.com/office/drawing/2014/main" id="{A3C69F90-4ECF-BA83-D842-96529FC204BA}"/>
              </a:ext>
            </a:extLst>
          </p:cNvPr>
          <p:cNvSpPr/>
          <p:nvPr/>
        </p:nvSpPr>
        <p:spPr>
          <a:xfrm>
            <a:off x="10664057" y="4339707"/>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 name="Google Shape;913;p28">
            <a:extLst>
              <a:ext uri="{FF2B5EF4-FFF2-40B4-BE49-F238E27FC236}">
                <a16:creationId xmlns:a16="http://schemas.microsoft.com/office/drawing/2014/main" id="{F06DA1B0-BEE3-2B32-2278-E84B5915968E}"/>
              </a:ext>
            </a:extLst>
          </p:cNvPr>
          <p:cNvSpPr/>
          <p:nvPr/>
        </p:nvSpPr>
        <p:spPr>
          <a:xfrm>
            <a:off x="6189689" y="4672012"/>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 name="Google Shape;914;p28">
            <a:extLst>
              <a:ext uri="{FF2B5EF4-FFF2-40B4-BE49-F238E27FC236}">
                <a16:creationId xmlns:a16="http://schemas.microsoft.com/office/drawing/2014/main" id="{3AF9737B-C9F5-2E2F-B18B-3DB8D437016C}"/>
              </a:ext>
            </a:extLst>
          </p:cNvPr>
          <p:cNvSpPr/>
          <p:nvPr/>
        </p:nvSpPr>
        <p:spPr>
          <a:xfrm>
            <a:off x="7099475" y="4672012"/>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 name="Google Shape;915;p28">
            <a:extLst>
              <a:ext uri="{FF2B5EF4-FFF2-40B4-BE49-F238E27FC236}">
                <a16:creationId xmlns:a16="http://schemas.microsoft.com/office/drawing/2014/main" id="{8BD660F4-0B6E-E0CB-543F-532889E00E6B}"/>
              </a:ext>
            </a:extLst>
          </p:cNvPr>
          <p:cNvSpPr/>
          <p:nvPr/>
        </p:nvSpPr>
        <p:spPr>
          <a:xfrm>
            <a:off x="8426873" y="4672012"/>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 name="Google Shape;916;p28">
            <a:extLst>
              <a:ext uri="{FF2B5EF4-FFF2-40B4-BE49-F238E27FC236}">
                <a16:creationId xmlns:a16="http://schemas.microsoft.com/office/drawing/2014/main" id="{894ABDAF-75D1-D2B8-23D7-7B37EB66E116}"/>
              </a:ext>
            </a:extLst>
          </p:cNvPr>
          <p:cNvSpPr/>
          <p:nvPr/>
        </p:nvSpPr>
        <p:spPr>
          <a:xfrm>
            <a:off x="9396339" y="4672012"/>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 name="Google Shape;917;p28">
            <a:extLst>
              <a:ext uri="{FF2B5EF4-FFF2-40B4-BE49-F238E27FC236}">
                <a16:creationId xmlns:a16="http://schemas.microsoft.com/office/drawing/2014/main" id="{FDB7E31F-763B-1CB6-7030-CA448FB38D4E}"/>
              </a:ext>
            </a:extLst>
          </p:cNvPr>
          <p:cNvSpPr/>
          <p:nvPr/>
        </p:nvSpPr>
        <p:spPr>
          <a:xfrm>
            <a:off x="10664057" y="4672012"/>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 name="Google Shape;903;p28">
            <a:extLst>
              <a:ext uri="{FF2B5EF4-FFF2-40B4-BE49-F238E27FC236}">
                <a16:creationId xmlns:a16="http://schemas.microsoft.com/office/drawing/2014/main" id="{A52DE0C2-1124-7F7F-FFE2-E1971033A889}"/>
              </a:ext>
            </a:extLst>
          </p:cNvPr>
          <p:cNvSpPr/>
          <p:nvPr/>
        </p:nvSpPr>
        <p:spPr>
          <a:xfrm>
            <a:off x="571499" y="500593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 name="Google Shape;904;p28">
            <a:extLst>
              <a:ext uri="{FF2B5EF4-FFF2-40B4-BE49-F238E27FC236}">
                <a16:creationId xmlns:a16="http://schemas.microsoft.com/office/drawing/2014/main" id="{6F9D7739-17C7-F2C2-1806-1928460A80F5}"/>
              </a:ext>
            </a:extLst>
          </p:cNvPr>
          <p:cNvSpPr/>
          <p:nvPr/>
        </p:nvSpPr>
        <p:spPr>
          <a:xfrm>
            <a:off x="1218454" y="500593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 name="Google Shape;905;p28">
            <a:extLst>
              <a:ext uri="{FF2B5EF4-FFF2-40B4-BE49-F238E27FC236}">
                <a16:creationId xmlns:a16="http://schemas.microsoft.com/office/drawing/2014/main" id="{E40ADC7C-C1C1-19A0-D454-EE9CA070A8ED}"/>
              </a:ext>
            </a:extLst>
          </p:cNvPr>
          <p:cNvSpPr/>
          <p:nvPr/>
        </p:nvSpPr>
        <p:spPr>
          <a:xfrm>
            <a:off x="2623094" y="500593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 name="Google Shape;906;p28">
            <a:extLst>
              <a:ext uri="{FF2B5EF4-FFF2-40B4-BE49-F238E27FC236}">
                <a16:creationId xmlns:a16="http://schemas.microsoft.com/office/drawing/2014/main" id="{394277BC-0B02-91DC-3CB9-07CF3D5FA237}"/>
              </a:ext>
            </a:extLst>
          </p:cNvPr>
          <p:cNvSpPr/>
          <p:nvPr/>
        </p:nvSpPr>
        <p:spPr>
          <a:xfrm>
            <a:off x="3648966" y="500593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 name="Google Shape;907;p28">
            <a:extLst>
              <a:ext uri="{FF2B5EF4-FFF2-40B4-BE49-F238E27FC236}">
                <a16:creationId xmlns:a16="http://schemas.microsoft.com/office/drawing/2014/main" id="{AD687BC5-DDE7-0C11-ED6D-C691559A8C6E}"/>
              </a:ext>
            </a:extLst>
          </p:cNvPr>
          <p:cNvSpPr/>
          <p:nvPr/>
        </p:nvSpPr>
        <p:spPr>
          <a:xfrm>
            <a:off x="4990354" y="500593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 name="Google Shape;903;p28">
            <a:extLst>
              <a:ext uri="{FF2B5EF4-FFF2-40B4-BE49-F238E27FC236}">
                <a16:creationId xmlns:a16="http://schemas.microsoft.com/office/drawing/2014/main" id="{5E67321A-D056-9AF2-EF60-24E1DC4AD178}"/>
              </a:ext>
            </a:extLst>
          </p:cNvPr>
          <p:cNvSpPr/>
          <p:nvPr/>
        </p:nvSpPr>
        <p:spPr>
          <a:xfrm>
            <a:off x="571498" y="5295900"/>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 name="Google Shape;904;p28">
            <a:extLst>
              <a:ext uri="{FF2B5EF4-FFF2-40B4-BE49-F238E27FC236}">
                <a16:creationId xmlns:a16="http://schemas.microsoft.com/office/drawing/2014/main" id="{2B6B330D-61FF-77A2-DF56-68D42094036D}"/>
              </a:ext>
            </a:extLst>
          </p:cNvPr>
          <p:cNvSpPr/>
          <p:nvPr/>
        </p:nvSpPr>
        <p:spPr>
          <a:xfrm>
            <a:off x="1218453" y="5295900"/>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 name="Google Shape;905;p28">
            <a:extLst>
              <a:ext uri="{FF2B5EF4-FFF2-40B4-BE49-F238E27FC236}">
                <a16:creationId xmlns:a16="http://schemas.microsoft.com/office/drawing/2014/main" id="{FD094494-65E2-9EDD-B3ED-008F1DE6B553}"/>
              </a:ext>
            </a:extLst>
          </p:cNvPr>
          <p:cNvSpPr/>
          <p:nvPr/>
        </p:nvSpPr>
        <p:spPr>
          <a:xfrm>
            <a:off x="2623093" y="5295900"/>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 name="Google Shape;906;p28">
            <a:extLst>
              <a:ext uri="{FF2B5EF4-FFF2-40B4-BE49-F238E27FC236}">
                <a16:creationId xmlns:a16="http://schemas.microsoft.com/office/drawing/2014/main" id="{96706F00-E3FA-6E5A-0461-5105D23C32ED}"/>
              </a:ext>
            </a:extLst>
          </p:cNvPr>
          <p:cNvSpPr/>
          <p:nvPr/>
        </p:nvSpPr>
        <p:spPr>
          <a:xfrm>
            <a:off x="3648965" y="5295900"/>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 name="Google Shape;907;p28">
            <a:extLst>
              <a:ext uri="{FF2B5EF4-FFF2-40B4-BE49-F238E27FC236}">
                <a16:creationId xmlns:a16="http://schemas.microsoft.com/office/drawing/2014/main" id="{873F2402-3DEC-A7C7-FBE1-DE2E0BF5BFF2}"/>
              </a:ext>
            </a:extLst>
          </p:cNvPr>
          <p:cNvSpPr/>
          <p:nvPr/>
        </p:nvSpPr>
        <p:spPr>
          <a:xfrm>
            <a:off x="4990353" y="5295900"/>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1" name="Google Shape;903;p28">
            <a:extLst>
              <a:ext uri="{FF2B5EF4-FFF2-40B4-BE49-F238E27FC236}">
                <a16:creationId xmlns:a16="http://schemas.microsoft.com/office/drawing/2014/main" id="{A50A3E92-72CA-8C5F-A871-63ADC510894B}"/>
              </a:ext>
            </a:extLst>
          </p:cNvPr>
          <p:cNvSpPr/>
          <p:nvPr/>
        </p:nvSpPr>
        <p:spPr>
          <a:xfrm>
            <a:off x="571498" y="5617893"/>
            <a:ext cx="6469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 name="Google Shape;904;p28">
            <a:extLst>
              <a:ext uri="{FF2B5EF4-FFF2-40B4-BE49-F238E27FC236}">
                <a16:creationId xmlns:a16="http://schemas.microsoft.com/office/drawing/2014/main" id="{27B99225-7D29-C6D2-736D-BF5419FD1826}"/>
              </a:ext>
            </a:extLst>
          </p:cNvPr>
          <p:cNvSpPr/>
          <p:nvPr/>
        </p:nvSpPr>
        <p:spPr>
          <a:xfrm>
            <a:off x="1218453" y="5617893"/>
            <a:ext cx="1404639"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 name="Google Shape;905;p28">
            <a:extLst>
              <a:ext uri="{FF2B5EF4-FFF2-40B4-BE49-F238E27FC236}">
                <a16:creationId xmlns:a16="http://schemas.microsoft.com/office/drawing/2014/main" id="{1047CD36-C5F1-7F04-7DCC-C0FE18276579}"/>
              </a:ext>
            </a:extLst>
          </p:cNvPr>
          <p:cNvSpPr/>
          <p:nvPr/>
        </p:nvSpPr>
        <p:spPr>
          <a:xfrm>
            <a:off x="2623093" y="5617893"/>
            <a:ext cx="1025872"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 name="Google Shape;906;p28">
            <a:extLst>
              <a:ext uri="{FF2B5EF4-FFF2-40B4-BE49-F238E27FC236}">
                <a16:creationId xmlns:a16="http://schemas.microsoft.com/office/drawing/2014/main" id="{2DA3BBDB-4B7D-FCB1-4D3C-921ED616052A}"/>
              </a:ext>
            </a:extLst>
          </p:cNvPr>
          <p:cNvSpPr/>
          <p:nvPr/>
        </p:nvSpPr>
        <p:spPr>
          <a:xfrm>
            <a:off x="3648965" y="5617893"/>
            <a:ext cx="134138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 name="Google Shape;907;p28">
            <a:extLst>
              <a:ext uri="{FF2B5EF4-FFF2-40B4-BE49-F238E27FC236}">
                <a16:creationId xmlns:a16="http://schemas.microsoft.com/office/drawing/2014/main" id="{252BD5CB-AF53-2812-871F-2BB986393F10}"/>
              </a:ext>
            </a:extLst>
          </p:cNvPr>
          <p:cNvSpPr/>
          <p:nvPr/>
        </p:nvSpPr>
        <p:spPr>
          <a:xfrm>
            <a:off x="4990353" y="5617893"/>
            <a:ext cx="1010394"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 name="Google Shape;913;p28">
            <a:extLst>
              <a:ext uri="{FF2B5EF4-FFF2-40B4-BE49-F238E27FC236}">
                <a16:creationId xmlns:a16="http://schemas.microsoft.com/office/drawing/2014/main" id="{689AA6B8-B347-832E-A2AC-821005E1B338}"/>
              </a:ext>
            </a:extLst>
          </p:cNvPr>
          <p:cNvSpPr/>
          <p:nvPr/>
        </p:nvSpPr>
        <p:spPr>
          <a:xfrm>
            <a:off x="6189689" y="5005930"/>
            <a:ext cx="90978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 name="Google Shape;914;p28">
            <a:extLst>
              <a:ext uri="{FF2B5EF4-FFF2-40B4-BE49-F238E27FC236}">
                <a16:creationId xmlns:a16="http://schemas.microsoft.com/office/drawing/2014/main" id="{C26CE7B5-CEEA-1BF7-0BE3-1AE633C34A15}"/>
              </a:ext>
            </a:extLst>
          </p:cNvPr>
          <p:cNvSpPr/>
          <p:nvPr/>
        </p:nvSpPr>
        <p:spPr>
          <a:xfrm>
            <a:off x="7099475" y="5005930"/>
            <a:ext cx="132739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 name="Google Shape;915;p28">
            <a:extLst>
              <a:ext uri="{FF2B5EF4-FFF2-40B4-BE49-F238E27FC236}">
                <a16:creationId xmlns:a16="http://schemas.microsoft.com/office/drawing/2014/main" id="{5946647E-621B-E7D4-589E-7EC3FC9DFF4B}"/>
              </a:ext>
            </a:extLst>
          </p:cNvPr>
          <p:cNvSpPr/>
          <p:nvPr/>
        </p:nvSpPr>
        <p:spPr>
          <a:xfrm>
            <a:off x="8426873" y="5005930"/>
            <a:ext cx="969466"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1" name="Google Shape;916;p28">
            <a:extLst>
              <a:ext uri="{FF2B5EF4-FFF2-40B4-BE49-F238E27FC236}">
                <a16:creationId xmlns:a16="http://schemas.microsoft.com/office/drawing/2014/main" id="{05DBBEBB-75A1-4549-BBC4-5A967E7D2426}"/>
              </a:ext>
            </a:extLst>
          </p:cNvPr>
          <p:cNvSpPr/>
          <p:nvPr/>
        </p:nvSpPr>
        <p:spPr>
          <a:xfrm>
            <a:off x="9396339" y="5005930"/>
            <a:ext cx="126771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2" name="Google Shape;917;p28">
            <a:extLst>
              <a:ext uri="{FF2B5EF4-FFF2-40B4-BE49-F238E27FC236}">
                <a16:creationId xmlns:a16="http://schemas.microsoft.com/office/drawing/2014/main" id="{7F3D161F-6672-1239-F5A6-1DD27EF73483}"/>
              </a:ext>
            </a:extLst>
          </p:cNvPr>
          <p:cNvSpPr/>
          <p:nvPr/>
        </p:nvSpPr>
        <p:spPr>
          <a:xfrm>
            <a:off x="10664057" y="5005930"/>
            <a:ext cx="95488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24"/>
        <p:cNvGrpSpPr/>
        <p:nvPr/>
      </p:nvGrpSpPr>
      <p:grpSpPr>
        <a:xfrm>
          <a:off x="0" y="0"/>
          <a:ext cx="0" cy="0"/>
          <a:chOff x="0" y="0"/>
          <a:chExt cx="0" cy="0"/>
        </a:xfrm>
      </p:grpSpPr>
      <p:pic>
        <p:nvPicPr>
          <p:cNvPr id="925" name="Google Shape;925;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26" name="Google Shape;926;p29" descr="image.png"/>
          <p:cNvPicPr preferRelativeResize="0"/>
          <p:nvPr/>
        </p:nvPicPr>
        <p:blipFill rotWithShape="1">
          <a:blip r:embed="rId4">
            <a:alphaModFix/>
          </a:blip>
          <a:srcRect/>
          <a:stretch/>
        </p:blipFill>
        <p:spPr>
          <a:xfrm>
            <a:off x="571500" y="2152650"/>
            <a:ext cx="3555950" cy="3248025"/>
          </a:xfrm>
          <a:prstGeom prst="rect">
            <a:avLst/>
          </a:prstGeom>
          <a:noFill/>
          <a:ln>
            <a:noFill/>
          </a:ln>
        </p:spPr>
      </p:pic>
      <p:pic>
        <p:nvPicPr>
          <p:cNvPr id="927" name="Google Shape;927;p29" descr="image.png"/>
          <p:cNvPicPr preferRelativeResize="0"/>
          <p:nvPr/>
        </p:nvPicPr>
        <p:blipFill rotWithShape="1">
          <a:blip r:embed="rId5">
            <a:alphaModFix/>
          </a:blip>
          <a:srcRect/>
          <a:stretch/>
        </p:blipFill>
        <p:spPr>
          <a:xfrm>
            <a:off x="4317950" y="2152650"/>
            <a:ext cx="3555950" cy="3248025"/>
          </a:xfrm>
          <a:prstGeom prst="rect">
            <a:avLst/>
          </a:prstGeom>
          <a:noFill/>
          <a:ln>
            <a:noFill/>
          </a:ln>
        </p:spPr>
      </p:pic>
      <p:pic>
        <p:nvPicPr>
          <p:cNvPr id="928" name="Google Shape;928;p29" descr="image.png"/>
          <p:cNvPicPr preferRelativeResize="0"/>
          <p:nvPr/>
        </p:nvPicPr>
        <p:blipFill rotWithShape="1">
          <a:blip r:embed="rId6">
            <a:alphaModFix/>
          </a:blip>
          <a:srcRect/>
          <a:stretch/>
        </p:blipFill>
        <p:spPr>
          <a:xfrm>
            <a:off x="8064400" y="2152650"/>
            <a:ext cx="3556099" cy="3248025"/>
          </a:xfrm>
          <a:prstGeom prst="rect">
            <a:avLst/>
          </a:prstGeom>
          <a:noFill/>
          <a:ln>
            <a:noFill/>
          </a:ln>
        </p:spPr>
      </p:pic>
      <p:pic>
        <p:nvPicPr>
          <p:cNvPr id="929" name="Google Shape;929;p29" descr="image.png"/>
          <p:cNvPicPr preferRelativeResize="0"/>
          <p:nvPr/>
        </p:nvPicPr>
        <p:blipFill rotWithShape="1">
          <a:blip r:embed="rId7">
            <a:alphaModFix/>
          </a:blip>
          <a:srcRect/>
          <a:stretch/>
        </p:blipFill>
        <p:spPr>
          <a:xfrm>
            <a:off x="866775" y="2447925"/>
            <a:ext cx="304800" cy="304800"/>
          </a:xfrm>
          <a:prstGeom prst="rect">
            <a:avLst/>
          </a:prstGeom>
          <a:noFill/>
          <a:ln>
            <a:noFill/>
          </a:ln>
        </p:spPr>
      </p:pic>
      <p:sp>
        <p:nvSpPr>
          <p:cNvPr id="930" name="Google Shape;930;p29"/>
          <p:cNvSpPr txBox="1"/>
          <p:nvPr/>
        </p:nvSpPr>
        <p:spPr>
          <a:xfrm>
            <a:off x="866775" y="2943225"/>
            <a:ext cx="311367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Dengesizlik Etkisi</a:t>
            </a:r>
            <a:endParaRPr/>
          </a:p>
        </p:txBody>
      </p:sp>
      <p:sp>
        <p:nvSpPr>
          <p:cNvPr id="931" name="Google Shape;931;p29"/>
          <p:cNvSpPr txBox="1"/>
          <p:nvPr/>
        </p:nvSpPr>
        <p:spPr>
          <a:xfrm>
            <a:off x="866775" y="3390900"/>
            <a:ext cx="2965400" cy="1869743"/>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Support sayısı 45 olan nadir sınıflar (Sınıf 0, 19, 42 vb.) </a:t>
            </a:r>
            <a:r>
              <a:rPr lang="tr-TR" sz="1350" b="0" i="0" u="none" strike="noStrike" cap="none">
                <a:solidFill>
                  <a:srgbClr val="94A3B8"/>
                </a:solidFill>
                <a:latin typeface="Inter"/>
                <a:ea typeface="Inter"/>
                <a:cs typeface="Inter"/>
                <a:sym typeface="Inter"/>
              </a:rPr>
              <a:t>GoogleNet</a:t>
            </a:r>
            <a:r>
              <a:rPr lang="en-US" sz="1350" b="0" i="0" u="none" strike="noStrike" cap="none">
                <a:solidFill>
                  <a:srgbClr val="94A3B8"/>
                </a:solidFill>
                <a:latin typeface="Inter"/>
                <a:ea typeface="Inter"/>
                <a:cs typeface="Inter"/>
                <a:sym typeface="Inter"/>
              </a:rPr>
              <a:t> ve ResNet gibi modeller tarafından başarıyla öğrenilirken, EfficientNet bu sınıflarda daha fazla veri artırmaya ihtiyaç duymuştur.</a:t>
            </a:r>
            <a:endParaRPr/>
          </a:p>
        </p:txBody>
      </p:sp>
      <p:pic>
        <p:nvPicPr>
          <p:cNvPr id="932" name="Google Shape;932;p29" descr="image.png"/>
          <p:cNvPicPr preferRelativeResize="0"/>
          <p:nvPr/>
        </p:nvPicPr>
        <p:blipFill rotWithShape="1">
          <a:blip r:embed="rId8">
            <a:alphaModFix/>
          </a:blip>
          <a:srcRect/>
          <a:stretch/>
        </p:blipFill>
        <p:spPr>
          <a:xfrm>
            <a:off x="4613225" y="2447925"/>
            <a:ext cx="304800" cy="304800"/>
          </a:xfrm>
          <a:prstGeom prst="rect">
            <a:avLst/>
          </a:prstGeom>
          <a:noFill/>
          <a:ln>
            <a:noFill/>
          </a:ln>
        </p:spPr>
      </p:pic>
      <p:sp>
        <p:nvSpPr>
          <p:cNvPr id="933" name="Google Shape;933;p29"/>
          <p:cNvSpPr txBox="1"/>
          <p:nvPr/>
        </p:nvSpPr>
        <p:spPr>
          <a:xfrm>
            <a:off x="4613225" y="2943225"/>
            <a:ext cx="311367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Hız vs Doğruluk</a:t>
            </a:r>
            <a:endParaRPr/>
          </a:p>
        </p:txBody>
      </p:sp>
      <p:sp>
        <p:nvSpPr>
          <p:cNvPr id="934" name="Google Shape;934;p29"/>
          <p:cNvSpPr txBox="1"/>
          <p:nvPr/>
        </p:nvSpPr>
        <p:spPr>
          <a:xfrm>
            <a:off x="4613225" y="3390900"/>
            <a:ext cx="2965400" cy="155811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EfficientNet-B0 otonom araçlar için en "verimli" modeldir (5.3M parametre), ancak kritik güvenlik uygulamalarında </a:t>
            </a:r>
            <a:r>
              <a:rPr lang="tr-TR" sz="1350" b="0" i="0" u="none" strike="noStrike" cap="none">
                <a:solidFill>
                  <a:srgbClr val="94A3B8"/>
                </a:solidFill>
                <a:latin typeface="Inter"/>
                <a:ea typeface="Inter"/>
                <a:cs typeface="Inter"/>
                <a:sym typeface="Inter"/>
              </a:rPr>
              <a:t>DenseNet-121 %98+ başarımı tercih edilmelidir</a:t>
            </a:r>
            <a:endParaRPr/>
          </a:p>
        </p:txBody>
      </p:sp>
      <p:pic>
        <p:nvPicPr>
          <p:cNvPr id="935" name="Google Shape;935;p29" descr="image.png"/>
          <p:cNvPicPr preferRelativeResize="0"/>
          <p:nvPr/>
        </p:nvPicPr>
        <p:blipFill rotWithShape="1">
          <a:blip r:embed="rId9">
            <a:alphaModFix/>
          </a:blip>
          <a:srcRect/>
          <a:stretch/>
        </p:blipFill>
        <p:spPr>
          <a:xfrm>
            <a:off x="8359675" y="2447925"/>
            <a:ext cx="342900" cy="304800"/>
          </a:xfrm>
          <a:prstGeom prst="rect">
            <a:avLst/>
          </a:prstGeom>
          <a:noFill/>
          <a:ln>
            <a:noFill/>
          </a:ln>
        </p:spPr>
      </p:pic>
      <p:sp>
        <p:nvSpPr>
          <p:cNvPr id="936" name="Google Shape;936;p29"/>
          <p:cNvSpPr txBox="1"/>
          <p:nvPr/>
        </p:nvSpPr>
        <p:spPr>
          <a:xfrm>
            <a:off x="8359675" y="2943225"/>
            <a:ext cx="311382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1F5F9"/>
                </a:solidFill>
                <a:latin typeface="Urbanist"/>
                <a:ea typeface="Urbanist"/>
                <a:cs typeface="Urbanist"/>
                <a:sym typeface="Urbanist"/>
              </a:rPr>
              <a:t>Feature Reuse</a:t>
            </a:r>
            <a:endParaRPr/>
          </a:p>
        </p:txBody>
      </p:sp>
      <p:sp>
        <p:nvSpPr>
          <p:cNvPr id="937" name="Google Shape;937;p29"/>
          <p:cNvSpPr txBox="1"/>
          <p:nvPr/>
        </p:nvSpPr>
        <p:spPr>
          <a:xfrm>
            <a:off x="8359675" y="3390900"/>
            <a:ext cx="2965549"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DenseNet'in özellik tekrar kullanımı sayesinde düşük parametre sayısına rağmen yüksek recall değerleri elde edilmiştir.</a:t>
            </a:r>
            <a:endParaRPr/>
          </a:p>
        </p:txBody>
      </p:sp>
      <p:sp>
        <p:nvSpPr>
          <p:cNvPr id="938" name="Google Shape;938;p29"/>
          <p:cNvSpPr txBox="1"/>
          <p:nvPr/>
        </p:nvSpPr>
        <p:spPr>
          <a:xfrm>
            <a:off x="571500" y="476250"/>
            <a:ext cx="6460807"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KRITIK BULGULAR VE TEKNIK ANALIZ</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pic>
        <p:nvPicPr>
          <p:cNvPr id="597" name="Google Shape;59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98" name="Google Shape;598;p31" descr="image.png"/>
          <p:cNvPicPr preferRelativeResize="0"/>
          <p:nvPr/>
        </p:nvPicPr>
        <p:blipFill rotWithShape="1">
          <a:blip r:embed="rId4">
            <a:alphaModFix/>
          </a:blip>
          <a:srcRect/>
          <a:stretch/>
        </p:blipFill>
        <p:spPr>
          <a:xfrm>
            <a:off x="619124" y="1678389"/>
            <a:ext cx="10953750" cy="4164210"/>
          </a:xfrm>
          <a:prstGeom prst="rect">
            <a:avLst/>
          </a:prstGeom>
          <a:noFill/>
          <a:ln>
            <a:noFill/>
          </a:ln>
        </p:spPr>
      </p:pic>
      <p:pic>
        <p:nvPicPr>
          <p:cNvPr id="600" name="Google Shape;600;p31" descr="image.png"/>
          <p:cNvPicPr preferRelativeResize="0"/>
          <p:nvPr/>
        </p:nvPicPr>
        <p:blipFill rotWithShape="1">
          <a:blip r:embed="rId5">
            <a:alphaModFix/>
          </a:blip>
          <a:srcRect/>
          <a:stretch/>
        </p:blipFill>
        <p:spPr>
          <a:xfrm>
            <a:off x="5718506" y="262392"/>
            <a:ext cx="577519" cy="499607"/>
          </a:xfrm>
          <a:prstGeom prst="rect">
            <a:avLst/>
          </a:prstGeom>
          <a:noFill/>
          <a:ln>
            <a:noFill/>
          </a:ln>
        </p:spPr>
      </p:pic>
      <p:sp>
        <p:nvSpPr>
          <p:cNvPr id="601" name="Google Shape;601;p31"/>
          <p:cNvSpPr txBox="1"/>
          <p:nvPr/>
        </p:nvSpPr>
        <p:spPr>
          <a:xfrm>
            <a:off x="5244588" y="2134561"/>
            <a:ext cx="1702823"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F1F5F9"/>
                </a:solidFill>
                <a:latin typeface="Urbanist"/>
                <a:ea typeface="Urbanist"/>
                <a:cs typeface="Urbanist"/>
                <a:sym typeface="Urbanist"/>
              </a:rPr>
              <a:t>Neden En İyisi?</a:t>
            </a:r>
            <a:endParaRPr/>
          </a:p>
        </p:txBody>
      </p:sp>
      <p:sp>
        <p:nvSpPr>
          <p:cNvPr id="603" name="Google Shape;603;p31"/>
          <p:cNvSpPr txBox="1"/>
          <p:nvPr/>
        </p:nvSpPr>
        <p:spPr>
          <a:xfrm>
            <a:off x="1263814" y="2688046"/>
            <a:ext cx="4743450" cy="1246495"/>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tr-TR" sz="1350" b="1" i="0" u="none" strike="noStrike" cap="none">
                <a:solidFill>
                  <a:srgbClr val="F8FAFC"/>
                </a:solidFill>
                <a:latin typeface="Inter"/>
                <a:ea typeface="Inter"/>
                <a:cs typeface="Inter"/>
                <a:sym typeface="Inter"/>
              </a:rPr>
              <a:t>Feature Reuse</a:t>
            </a:r>
            <a:r>
              <a:rPr lang="en-US" sz="1350" b="1" i="0" u="none" strike="noStrike" cap="none">
                <a:solidFill>
                  <a:srgbClr val="F8FAFC"/>
                </a:solidFill>
                <a:latin typeface="Inter"/>
                <a:ea typeface="Inter"/>
                <a:cs typeface="Inter"/>
                <a:sym typeface="Inter"/>
              </a:rPr>
              <a:t>:</a:t>
            </a:r>
            <a:r>
              <a:rPr lang="tr-TR" sz="1350">
                <a:solidFill>
                  <a:srgbClr val="94A3B8"/>
                </a:solidFill>
                <a:latin typeface="Inter"/>
                <a:ea typeface="Inter"/>
                <a:cs typeface="Inter"/>
                <a:sym typeface="Inter"/>
              </a:rPr>
              <a:t> Her katman önceki tüm katmanların çıktılarını görür. Trafik levhalarında kenar + renk + şekil bilgisini daha iyi öğrenir. Bu bilgiler kaybolmadan derine taşınır</a:t>
            </a:r>
            <a:endParaRPr/>
          </a:p>
        </p:txBody>
      </p:sp>
      <p:pic>
        <p:nvPicPr>
          <p:cNvPr id="606" name="Google Shape;606;p31" descr="image.png"/>
          <p:cNvPicPr preferRelativeResize="0"/>
          <p:nvPr/>
        </p:nvPicPr>
        <p:blipFill rotWithShape="1">
          <a:blip r:embed="rId6">
            <a:alphaModFix/>
          </a:blip>
          <a:srcRect/>
          <a:stretch/>
        </p:blipFill>
        <p:spPr>
          <a:xfrm>
            <a:off x="1111414" y="2772184"/>
            <a:ext cx="152400" cy="180975"/>
          </a:xfrm>
          <a:prstGeom prst="rect">
            <a:avLst/>
          </a:prstGeom>
          <a:noFill/>
          <a:ln>
            <a:noFill/>
          </a:ln>
        </p:spPr>
      </p:pic>
      <p:sp>
        <p:nvSpPr>
          <p:cNvPr id="609" name="Google Shape;609;p31"/>
          <p:cNvSpPr txBox="1"/>
          <p:nvPr/>
        </p:nvSpPr>
        <p:spPr>
          <a:xfrm>
            <a:off x="3472428" y="1015401"/>
            <a:ext cx="5069673"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4ADE80"/>
                </a:solidFill>
                <a:latin typeface="Urbanist"/>
                <a:ea typeface="Urbanist"/>
                <a:cs typeface="Urbanist"/>
                <a:sym typeface="Urbanist"/>
              </a:rPr>
              <a:t>ŞAMPIYON MODEL: </a:t>
            </a:r>
            <a:r>
              <a:rPr lang="tr-TR" sz="2550" b="1" i="0" u="none" strike="noStrike" cap="none">
                <a:solidFill>
                  <a:srgbClr val="4ADE80"/>
                </a:solidFill>
                <a:latin typeface="Urbanist"/>
                <a:ea typeface="Urbanist"/>
                <a:cs typeface="Urbanist"/>
                <a:sym typeface="Urbanist"/>
              </a:rPr>
              <a:t>DenseNet-121</a:t>
            </a:r>
            <a:endParaRPr/>
          </a:p>
        </p:txBody>
      </p:sp>
      <p:sp>
        <p:nvSpPr>
          <p:cNvPr id="2" name="Google Shape;603;p31">
            <a:extLst>
              <a:ext uri="{FF2B5EF4-FFF2-40B4-BE49-F238E27FC236}">
                <a16:creationId xmlns:a16="http://schemas.microsoft.com/office/drawing/2014/main" id="{66C86B99-A138-46E6-4042-3374ECE4541B}"/>
              </a:ext>
            </a:extLst>
          </p:cNvPr>
          <p:cNvSpPr txBox="1"/>
          <p:nvPr/>
        </p:nvSpPr>
        <p:spPr>
          <a:xfrm>
            <a:off x="6626389" y="2627763"/>
            <a:ext cx="4743450" cy="646331"/>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tr-TR" sz="1350" b="1" i="0" u="none" strike="noStrike" cap="none">
                <a:solidFill>
                  <a:srgbClr val="F8FAFC"/>
                </a:solidFill>
                <a:latin typeface="Inter"/>
                <a:ea typeface="Inter"/>
                <a:cs typeface="Inter"/>
                <a:sym typeface="Inter"/>
              </a:rPr>
              <a:t>Parametre Verimliliği</a:t>
            </a:r>
            <a:r>
              <a:rPr lang="tr-TR" sz="1350" b="1">
                <a:solidFill>
                  <a:srgbClr val="F8FAFC"/>
                </a:solidFill>
                <a:latin typeface="Inter"/>
                <a:ea typeface="Inter"/>
                <a:cs typeface="Inter"/>
                <a:sym typeface="Inter"/>
              </a:rPr>
              <a:t>: </a:t>
            </a:r>
            <a:r>
              <a:rPr lang="tr-TR" sz="1400">
                <a:solidFill>
                  <a:srgbClr val="94A3B8"/>
                </a:solidFill>
                <a:latin typeface="Inter"/>
                <a:ea typeface="Inter"/>
                <a:cs typeface="Inter"/>
                <a:sym typeface="Inter"/>
              </a:rPr>
              <a:t>Daha az parametre ile ResNet—18 i geçti. Overfitting riski daha düşük</a:t>
            </a:r>
            <a:endParaRPr/>
          </a:p>
        </p:txBody>
      </p:sp>
      <p:pic>
        <p:nvPicPr>
          <p:cNvPr id="6" name="Google Shape;606;p31" descr="image.png">
            <a:extLst>
              <a:ext uri="{FF2B5EF4-FFF2-40B4-BE49-F238E27FC236}">
                <a16:creationId xmlns:a16="http://schemas.microsoft.com/office/drawing/2014/main" id="{65F1FD39-D79C-9BA1-77E6-A1F0EAD743FC}"/>
              </a:ext>
            </a:extLst>
          </p:cNvPr>
          <p:cNvPicPr preferRelativeResize="0"/>
          <p:nvPr/>
        </p:nvPicPr>
        <p:blipFill rotWithShape="1">
          <a:blip r:embed="rId6">
            <a:alphaModFix/>
          </a:blip>
          <a:srcRect/>
          <a:stretch/>
        </p:blipFill>
        <p:spPr>
          <a:xfrm>
            <a:off x="6461330" y="2726139"/>
            <a:ext cx="152400" cy="180975"/>
          </a:xfrm>
          <a:prstGeom prst="rect">
            <a:avLst/>
          </a:prstGeom>
          <a:noFill/>
          <a:ln>
            <a:noFill/>
          </a:ln>
        </p:spPr>
      </p:pic>
      <p:sp>
        <p:nvSpPr>
          <p:cNvPr id="7" name="Google Shape;603;p31">
            <a:extLst>
              <a:ext uri="{FF2B5EF4-FFF2-40B4-BE49-F238E27FC236}">
                <a16:creationId xmlns:a16="http://schemas.microsoft.com/office/drawing/2014/main" id="{C64B3E13-FBFA-5BA1-8CF9-D327E7B01F49}"/>
              </a:ext>
            </a:extLst>
          </p:cNvPr>
          <p:cNvSpPr txBox="1"/>
          <p:nvPr/>
        </p:nvSpPr>
        <p:spPr>
          <a:xfrm>
            <a:off x="1263814" y="4079055"/>
            <a:ext cx="9938507" cy="969496"/>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tr-TR" sz="1400" b="1" i="0" u="none" strike="noStrike" cap="none">
                <a:solidFill>
                  <a:srgbClr val="F8FAFC"/>
                </a:solidFill>
                <a:latin typeface="Inter"/>
                <a:ea typeface="Inter"/>
                <a:cs typeface="Inter"/>
                <a:sym typeface="Inter"/>
              </a:rPr>
              <a:t>Final Değerlendirme : </a:t>
            </a:r>
            <a:r>
              <a:rPr lang="tr-TR" sz="1400">
                <a:solidFill>
                  <a:srgbClr val="94A3B8"/>
                </a:solidFill>
                <a:latin typeface="Inter"/>
                <a:ea typeface="Inter"/>
                <a:cs typeface="Inter"/>
                <a:sym typeface="Inter"/>
              </a:rPr>
              <a:t>DenseNet-121 mimarisi, yoğun bağlantı yapısı sayesinde özellik tekrar kullanımını artırarak küçük ve benzer trafik levhaları arasındaki ayırt edici bilgileri daha iyi korumuştur. Bu durum, özellikle zor sınıflarda daha dengeli performans sağlayarak %98.58 test doğruluğu ile en iyi sonucu vermesine neden olmuştur.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51"/>
        <p:cNvGrpSpPr/>
        <p:nvPr/>
      </p:nvGrpSpPr>
      <p:grpSpPr>
        <a:xfrm>
          <a:off x="0" y="0"/>
          <a:ext cx="0" cy="0"/>
          <a:chOff x="0" y="0"/>
          <a:chExt cx="0" cy="0"/>
        </a:xfrm>
      </p:grpSpPr>
      <p:pic>
        <p:nvPicPr>
          <p:cNvPr id="952" name="Google Shape;952;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5" name="Google Shape;955;p31"/>
          <p:cNvSpPr txBox="1"/>
          <p:nvPr/>
        </p:nvSpPr>
        <p:spPr>
          <a:xfrm>
            <a:off x="571500" y="2185987"/>
            <a:ext cx="11049000" cy="266700"/>
          </a:xfrm>
          <a:prstGeom prst="rect">
            <a:avLst/>
          </a:prstGeom>
          <a:noFill/>
          <a:ln>
            <a:noFill/>
          </a:ln>
        </p:spPr>
        <p:txBody>
          <a:bodyPr spcFirstLastPara="1" wrap="square" lIns="3619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Veri Seti: benchmark.ini.rub.de/gtsrb_news.html</a:t>
            </a:r>
            <a:endParaRPr/>
          </a:p>
        </p:txBody>
      </p:sp>
      <p:sp>
        <p:nvSpPr>
          <p:cNvPr id="956" name="Google Shape;956;p31"/>
          <p:cNvSpPr txBox="1"/>
          <p:nvPr/>
        </p:nvSpPr>
        <p:spPr>
          <a:xfrm>
            <a:off x="571500" y="2643187"/>
            <a:ext cx="11049000" cy="266700"/>
          </a:xfrm>
          <a:prstGeom prst="rect">
            <a:avLst/>
          </a:prstGeom>
          <a:noFill/>
          <a:ln>
            <a:noFill/>
          </a:ln>
        </p:spPr>
        <p:txBody>
          <a:bodyPr spcFirstLastPara="1" wrap="square" lIns="3619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Yayın Arşivi: sid.erda.dk/public/archives/...</a:t>
            </a:r>
            <a:endParaRPr/>
          </a:p>
        </p:txBody>
      </p:sp>
      <p:sp>
        <p:nvSpPr>
          <p:cNvPr id="957" name="Google Shape;957;p31"/>
          <p:cNvSpPr txBox="1"/>
          <p:nvPr/>
        </p:nvSpPr>
        <p:spPr>
          <a:xfrm>
            <a:off x="571500" y="3100387"/>
            <a:ext cx="11049000" cy="266700"/>
          </a:xfrm>
          <a:prstGeom prst="rect">
            <a:avLst/>
          </a:prstGeom>
          <a:noFill/>
          <a:ln>
            <a:noFill/>
          </a:ln>
        </p:spPr>
        <p:txBody>
          <a:bodyPr spcFirstLastPara="1" wrap="square" lIns="3619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Inter"/>
                <a:ea typeface="Inter"/>
                <a:cs typeface="Inter"/>
                <a:sym typeface="Inter"/>
              </a:rPr>
              <a:t>ImageNet Modelleri: pytorch.org/vision/stable/models.html</a:t>
            </a:r>
            <a:endParaRPr/>
          </a:p>
        </p:txBody>
      </p:sp>
      <p:pic>
        <p:nvPicPr>
          <p:cNvPr id="960" name="Google Shape;960;p31" descr="image.png"/>
          <p:cNvPicPr preferRelativeResize="0"/>
          <p:nvPr/>
        </p:nvPicPr>
        <p:blipFill rotWithShape="1">
          <a:blip r:embed="rId4">
            <a:alphaModFix/>
          </a:blip>
          <a:srcRect/>
          <a:stretch/>
        </p:blipFill>
        <p:spPr>
          <a:xfrm>
            <a:off x="571500" y="2228850"/>
            <a:ext cx="219075" cy="180975"/>
          </a:xfrm>
          <a:prstGeom prst="rect">
            <a:avLst/>
          </a:prstGeom>
          <a:noFill/>
          <a:ln>
            <a:noFill/>
          </a:ln>
        </p:spPr>
      </p:pic>
      <p:pic>
        <p:nvPicPr>
          <p:cNvPr id="961" name="Google Shape;961;p31" descr="image.png"/>
          <p:cNvPicPr preferRelativeResize="0"/>
          <p:nvPr/>
        </p:nvPicPr>
        <p:blipFill rotWithShape="1">
          <a:blip r:embed="rId4">
            <a:alphaModFix/>
          </a:blip>
          <a:srcRect/>
          <a:stretch/>
        </p:blipFill>
        <p:spPr>
          <a:xfrm>
            <a:off x="571500" y="2686050"/>
            <a:ext cx="219075" cy="180975"/>
          </a:xfrm>
          <a:prstGeom prst="rect">
            <a:avLst/>
          </a:prstGeom>
          <a:noFill/>
          <a:ln>
            <a:noFill/>
          </a:ln>
        </p:spPr>
      </p:pic>
      <p:pic>
        <p:nvPicPr>
          <p:cNvPr id="962" name="Google Shape;962;p31" descr="image.png"/>
          <p:cNvPicPr preferRelativeResize="0"/>
          <p:nvPr/>
        </p:nvPicPr>
        <p:blipFill rotWithShape="1">
          <a:blip r:embed="rId4">
            <a:alphaModFix/>
          </a:blip>
          <a:srcRect/>
          <a:stretch/>
        </p:blipFill>
        <p:spPr>
          <a:xfrm>
            <a:off x="571500" y="3143250"/>
            <a:ext cx="219075" cy="180975"/>
          </a:xfrm>
          <a:prstGeom prst="rect">
            <a:avLst/>
          </a:prstGeom>
          <a:noFill/>
          <a:ln>
            <a:noFill/>
          </a:ln>
        </p:spPr>
      </p:pic>
      <p:sp>
        <p:nvSpPr>
          <p:cNvPr id="963" name="Google Shape;963;p31"/>
          <p:cNvSpPr txBox="1"/>
          <p:nvPr/>
        </p:nvSpPr>
        <p:spPr>
          <a:xfrm>
            <a:off x="571500" y="476250"/>
            <a:ext cx="8171021"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KULLANILAN KAYNAKLAR VE VERI PORTALLARI</a:t>
            </a:r>
            <a:endParaRPr/>
          </a:p>
        </p:txBody>
      </p:sp>
      <p:sp>
        <p:nvSpPr>
          <p:cNvPr id="2" name="Google Shape;957;p31">
            <a:extLst>
              <a:ext uri="{FF2B5EF4-FFF2-40B4-BE49-F238E27FC236}">
                <a16:creationId xmlns:a16="http://schemas.microsoft.com/office/drawing/2014/main" id="{D591D764-1CE5-B6D2-2E59-F535736FC491}"/>
              </a:ext>
            </a:extLst>
          </p:cNvPr>
          <p:cNvSpPr txBox="1"/>
          <p:nvPr/>
        </p:nvSpPr>
        <p:spPr>
          <a:xfrm>
            <a:off x="571500" y="3565729"/>
            <a:ext cx="11049000" cy="311624"/>
          </a:xfrm>
          <a:prstGeom prst="rect">
            <a:avLst/>
          </a:prstGeom>
          <a:noFill/>
          <a:ln>
            <a:noFill/>
          </a:ln>
        </p:spPr>
        <p:txBody>
          <a:bodyPr spcFirstLastPara="1" wrap="square" lIns="361950" tIns="0" rIns="0" bIns="0" anchor="t" anchorCtr="0">
            <a:spAutoFit/>
          </a:bodyPr>
          <a:lstStyle/>
          <a:p>
            <a:pPr marL="0" marR="0" lvl="0" indent="0" algn="l" rtl="0">
              <a:lnSpc>
                <a:spcPct val="150000"/>
              </a:lnSpc>
              <a:spcBef>
                <a:spcPts val="0"/>
              </a:spcBef>
              <a:spcAft>
                <a:spcPts val="0"/>
              </a:spcAft>
              <a:buNone/>
            </a:pPr>
            <a:r>
              <a:rPr lang="tr-TR" sz="1350" b="0" i="0" u="none" strike="noStrike" cap="none">
                <a:solidFill>
                  <a:srgbClr val="94A3B8"/>
                </a:solidFill>
                <a:latin typeface="Inter"/>
                <a:ea typeface="Inter"/>
                <a:cs typeface="Inter"/>
                <a:sym typeface="Inter"/>
              </a:rPr>
              <a:t>DenseNet Makalesi</a:t>
            </a:r>
            <a:r>
              <a:rPr lang="en-US" sz="1350" b="0" i="0" u="none" strike="noStrike" cap="none">
                <a:solidFill>
                  <a:srgbClr val="94A3B8"/>
                </a:solidFill>
                <a:latin typeface="Inter"/>
                <a:ea typeface="Inter"/>
                <a:cs typeface="Inter"/>
                <a:sym typeface="Inter"/>
              </a:rPr>
              <a:t>: https://arxiv.org/abs/1608.06993</a:t>
            </a:r>
            <a:endParaRPr/>
          </a:p>
        </p:txBody>
      </p:sp>
      <p:pic>
        <p:nvPicPr>
          <p:cNvPr id="3" name="Google Shape;962;p31" descr="image.png">
            <a:extLst>
              <a:ext uri="{FF2B5EF4-FFF2-40B4-BE49-F238E27FC236}">
                <a16:creationId xmlns:a16="http://schemas.microsoft.com/office/drawing/2014/main" id="{4F541D51-3B1C-0D17-46CB-A4A8847ABCC4}"/>
              </a:ext>
            </a:extLst>
          </p:cNvPr>
          <p:cNvPicPr preferRelativeResize="0"/>
          <p:nvPr/>
        </p:nvPicPr>
        <p:blipFill rotWithShape="1">
          <a:blip r:embed="rId4">
            <a:alphaModFix/>
          </a:blip>
          <a:srcRect/>
          <a:stretch/>
        </p:blipFill>
        <p:spPr>
          <a:xfrm>
            <a:off x="571500" y="3608592"/>
            <a:ext cx="219075" cy="180975"/>
          </a:xfrm>
          <a:prstGeom prst="rect">
            <a:avLst/>
          </a:prstGeom>
          <a:noFill/>
          <a:ln>
            <a:noFill/>
          </a:ln>
        </p:spPr>
      </p:pic>
      <p:sp>
        <p:nvSpPr>
          <p:cNvPr id="4" name="Google Shape;957;p31">
            <a:extLst>
              <a:ext uri="{FF2B5EF4-FFF2-40B4-BE49-F238E27FC236}">
                <a16:creationId xmlns:a16="http://schemas.microsoft.com/office/drawing/2014/main" id="{64B2F577-E403-BFF7-EC3E-90C8A4275293}"/>
              </a:ext>
            </a:extLst>
          </p:cNvPr>
          <p:cNvSpPr txBox="1"/>
          <p:nvPr/>
        </p:nvSpPr>
        <p:spPr>
          <a:xfrm>
            <a:off x="571500" y="4031071"/>
            <a:ext cx="11049000" cy="311624"/>
          </a:xfrm>
          <a:prstGeom prst="rect">
            <a:avLst/>
          </a:prstGeom>
          <a:noFill/>
          <a:ln>
            <a:noFill/>
          </a:ln>
        </p:spPr>
        <p:txBody>
          <a:bodyPr spcFirstLastPara="1" wrap="square" lIns="361950" tIns="0" rIns="0" bIns="0" anchor="t" anchorCtr="0">
            <a:spAutoFit/>
          </a:bodyPr>
          <a:lstStyle/>
          <a:p>
            <a:pPr marL="0" marR="0" lvl="0" indent="0" algn="l" rtl="0">
              <a:lnSpc>
                <a:spcPct val="150000"/>
              </a:lnSpc>
              <a:spcBef>
                <a:spcPts val="0"/>
              </a:spcBef>
              <a:spcAft>
                <a:spcPts val="0"/>
              </a:spcAft>
              <a:buNone/>
            </a:pPr>
            <a:r>
              <a:rPr lang="tr-TR" sz="1350" b="0" i="0" u="none" strike="noStrike" cap="none">
                <a:solidFill>
                  <a:srgbClr val="94A3B8"/>
                </a:solidFill>
                <a:latin typeface="Inter"/>
                <a:ea typeface="Inter"/>
                <a:cs typeface="Inter"/>
                <a:sym typeface="Inter"/>
              </a:rPr>
              <a:t>GoogleNet Makalesi</a:t>
            </a:r>
            <a:r>
              <a:rPr lang="en-US" sz="1350" b="0" i="0" u="none" strike="noStrike" cap="none">
                <a:solidFill>
                  <a:srgbClr val="94A3B8"/>
                </a:solidFill>
                <a:latin typeface="Inter"/>
                <a:ea typeface="Inter"/>
                <a:cs typeface="Inter"/>
                <a:sym typeface="Inter"/>
              </a:rPr>
              <a:t>: https://arxiv.org/abs/1409.4842</a:t>
            </a:r>
            <a:endParaRPr/>
          </a:p>
        </p:txBody>
      </p:sp>
      <p:pic>
        <p:nvPicPr>
          <p:cNvPr id="5" name="Google Shape;962;p31" descr="image.png">
            <a:extLst>
              <a:ext uri="{FF2B5EF4-FFF2-40B4-BE49-F238E27FC236}">
                <a16:creationId xmlns:a16="http://schemas.microsoft.com/office/drawing/2014/main" id="{4ACD937E-D303-5225-D932-E556959E4A7B}"/>
              </a:ext>
            </a:extLst>
          </p:cNvPr>
          <p:cNvPicPr preferRelativeResize="0"/>
          <p:nvPr/>
        </p:nvPicPr>
        <p:blipFill rotWithShape="1">
          <a:blip r:embed="rId4">
            <a:alphaModFix/>
          </a:blip>
          <a:srcRect/>
          <a:stretch/>
        </p:blipFill>
        <p:spPr>
          <a:xfrm>
            <a:off x="571500" y="4073934"/>
            <a:ext cx="219075" cy="18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67"/>
        <p:cNvGrpSpPr/>
        <p:nvPr/>
      </p:nvGrpSpPr>
      <p:grpSpPr>
        <a:xfrm>
          <a:off x="0" y="0"/>
          <a:ext cx="0" cy="0"/>
          <a:chOff x="0" y="0"/>
          <a:chExt cx="0" cy="0"/>
        </a:xfrm>
      </p:grpSpPr>
      <p:pic>
        <p:nvPicPr>
          <p:cNvPr id="968" name="Google Shape;968;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69" name="Google Shape;969;p32"/>
          <p:cNvSpPr/>
          <p:nvPr/>
        </p:nvSpPr>
        <p:spPr>
          <a:xfrm>
            <a:off x="571500" y="2152650"/>
            <a:ext cx="11049000" cy="7715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0" name="Google Shape;970;p32"/>
          <p:cNvSpPr/>
          <p:nvPr/>
        </p:nvSpPr>
        <p:spPr>
          <a:xfrm>
            <a:off x="571500" y="2924175"/>
            <a:ext cx="11049000" cy="7715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1" name="Google Shape;971;p32"/>
          <p:cNvSpPr/>
          <p:nvPr/>
        </p:nvSpPr>
        <p:spPr>
          <a:xfrm>
            <a:off x="571500" y="3695700"/>
            <a:ext cx="11049000" cy="9429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2" name="Google Shape;972;p32"/>
          <p:cNvSpPr/>
          <p:nvPr/>
        </p:nvSpPr>
        <p:spPr>
          <a:xfrm>
            <a:off x="571500" y="291465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3" name="Google Shape;973;p32"/>
          <p:cNvSpPr/>
          <p:nvPr/>
        </p:nvSpPr>
        <p:spPr>
          <a:xfrm>
            <a:off x="571500" y="291465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4" name="Google Shape;974;p32"/>
          <p:cNvSpPr/>
          <p:nvPr/>
        </p:nvSpPr>
        <p:spPr>
          <a:xfrm>
            <a:off x="571500" y="368617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5" name="Google Shape;975;p32"/>
          <p:cNvSpPr/>
          <p:nvPr/>
        </p:nvSpPr>
        <p:spPr>
          <a:xfrm>
            <a:off x="571500" y="3686175"/>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6" name="Google Shape;976;p32"/>
          <p:cNvSpPr/>
          <p:nvPr/>
        </p:nvSpPr>
        <p:spPr>
          <a:xfrm>
            <a:off x="571500" y="462915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7" name="Google Shape;977;p32"/>
          <p:cNvSpPr/>
          <p:nvPr/>
        </p:nvSpPr>
        <p:spPr>
          <a:xfrm>
            <a:off x="571500" y="4629150"/>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78" name="Google Shape;978;p32" descr="image.png"/>
          <p:cNvPicPr preferRelativeResize="0"/>
          <p:nvPr/>
        </p:nvPicPr>
        <p:blipFill rotWithShape="1">
          <a:blip r:embed="rId4">
            <a:alphaModFix/>
          </a:blip>
          <a:srcRect/>
          <a:stretch/>
        </p:blipFill>
        <p:spPr>
          <a:xfrm>
            <a:off x="571500" y="2295525"/>
            <a:ext cx="857250" cy="476250"/>
          </a:xfrm>
          <a:prstGeom prst="rect">
            <a:avLst/>
          </a:prstGeom>
          <a:noFill/>
          <a:ln>
            <a:noFill/>
          </a:ln>
        </p:spPr>
      </p:pic>
      <p:sp>
        <p:nvSpPr>
          <p:cNvPr id="979" name="Google Shape;979;p32"/>
          <p:cNvSpPr txBox="1"/>
          <p:nvPr/>
        </p:nvSpPr>
        <p:spPr>
          <a:xfrm>
            <a:off x="1666875" y="2302668"/>
            <a:ext cx="995362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4A3B8"/>
                </a:solidFill>
                <a:latin typeface="Inter"/>
                <a:ea typeface="Inter"/>
                <a:cs typeface="Inter"/>
                <a:sym typeface="Inter"/>
              </a:rPr>
              <a:t>https://miro.medium.com/0*bFEWUG9VCRqep9SZ</a:t>
            </a:r>
            <a:endParaRPr/>
          </a:p>
        </p:txBody>
      </p:sp>
      <p:sp>
        <p:nvSpPr>
          <p:cNvPr id="980" name="Google Shape;980;p32"/>
          <p:cNvSpPr txBox="1"/>
          <p:nvPr/>
        </p:nvSpPr>
        <p:spPr>
          <a:xfrm>
            <a:off x="1666875" y="2536031"/>
            <a:ext cx="9953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94A3B8"/>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medium.com</a:t>
            </a:r>
            <a:endParaRPr/>
          </a:p>
        </p:txBody>
      </p:sp>
      <p:pic>
        <p:nvPicPr>
          <p:cNvPr id="981" name="Google Shape;981;p32" descr="image.png"/>
          <p:cNvPicPr preferRelativeResize="0"/>
          <p:nvPr/>
        </p:nvPicPr>
        <p:blipFill rotWithShape="1">
          <a:blip r:embed="rId5">
            <a:alphaModFix/>
          </a:blip>
          <a:srcRect/>
          <a:stretch/>
        </p:blipFill>
        <p:spPr>
          <a:xfrm>
            <a:off x="571500" y="3067050"/>
            <a:ext cx="857250" cy="476250"/>
          </a:xfrm>
          <a:prstGeom prst="rect">
            <a:avLst/>
          </a:prstGeom>
          <a:noFill/>
          <a:ln>
            <a:noFill/>
          </a:ln>
        </p:spPr>
      </p:pic>
      <p:sp>
        <p:nvSpPr>
          <p:cNvPr id="982" name="Google Shape;982;p32"/>
          <p:cNvSpPr txBox="1"/>
          <p:nvPr/>
        </p:nvSpPr>
        <p:spPr>
          <a:xfrm>
            <a:off x="1666875" y="3074193"/>
            <a:ext cx="995362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4A3B8"/>
                </a:solidFill>
                <a:latin typeface="Inter"/>
                <a:ea typeface="Inter"/>
                <a:cs typeface="Inter"/>
                <a:sym typeface="Inter"/>
              </a:rPr>
              <a:t>https://www.mdpi.com/information/information-15-00621/article_deploy/html/images/information-15-00621-g001.png</a:t>
            </a:r>
            <a:endParaRPr/>
          </a:p>
        </p:txBody>
      </p:sp>
      <p:sp>
        <p:nvSpPr>
          <p:cNvPr id="983" name="Google Shape;983;p32"/>
          <p:cNvSpPr txBox="1"/>
          <p:nvPr/>
        </p:nvSpPr>
        <p:spPr>
          <a:xfrm>
            <a:off x="1666875" y="3307556"/>
            <a:ext cx="9953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94A3B8"/>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www.mdpi.com</a:t>
            </a:r>
            <a:endParaRPr/>
          </a:p>
        </p:txBody>
      </p:sp>
      <p:pic>
        <p:nvPicPr>
          <p:cNvPr id="984" name="Google Shape;984;p32" descr="image.png"/>
          <p:cNvPicPr preferRelativeResize="0"/>
          <p:nvPr/>
        </p:nvPicPr>
        <p:blipFill rotWithShape="1">
          <a:blip r:embed="rId6">
            <a:alphaModFix/>
          </a:blip>
          <a:srcRect/>
          <a:stretch/>
        </p:blipFill>
        <p:spPr>
          <a:xfrm>
            <a:off x="571500" y="3924300"/>
            <a:ext cx="857250" cy="476250"/>
          </a:xfrm>
          <a:prstGeom prst="rect">
            <a:avLst/>
          </a:prstGeom>
          <a:noFill/>
          <a:ln>
            <a:noFill/>
          </a:ln>
        </p:spPr>
      </p:pic>
      <p:sp>
        <p:nvSpPr>
          <p:cNvPr id="985" name="Google Shape;985;p32"/>
          <p:cNvSpPr txBox="1"/>
          <p:nvPr/>
        </p:nvSpPr>
        <p:spPr>
          <a:xfrm>
            <a:off x="1666875" y="3838575"/>
            <a:ext cx="9953625" cy="371475"/>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4A3B8"/>
                </a:solidFill>
                <a:latin typeface="Inter"/>
                <a:ea typeface="Inter"/>
                <a:cs typeface="Inter"/>
                <a:sym typeface="Inter"/>
              </a:rPr>
              <a:t>https://thegradient.pub/content/images/2024/11/DALL-E-2024-11-15-15.40.52---Create-an-abstract-image-that-illustrates-how-ReLU-based-neural-networks-shatter-input-space-into-numerous-polygonal-regions--each-behaving-like-a-lin.webp</a:t>
            </a:r>
            <a:endParaRPr/>
          </a:p>
        </p:txBody>
      </p:sp>
      <p:sp>
        <p:nvSpPr>
          <p:cNvPr id="986" name="Google Shape;986;p32"/>
          <p:cNvSpPr txBox="1"/>
          <p:nvPr/>
        </p:nvSpPr>
        <p:spPr>
          <a:xfrm>
            <a:off x="1666875" y="4257675"/>
            <a:ext cx="9953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94A3B8"/>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thegradient.pub</a:t>
            </a:r>
            <a:endParaRPr/>
          </a:p>
        </p:txBody>
      </p:sp>
      <p:pic>
        <p:nvPicPr>
          <p:cNvPr id="987" name="Google Shape;987;p32" descr="image.png"/>
          <p:cNvPicPr preferRelativeResize="0"/>
          <p:nvPr/>
        </p:nvPicPr>
        <p:blipFill rotWithShape="1">
          <a:blip r:embed="rId7">
            <a:alphaModFix/>
          </a:blip>
          <a:srcRect/>
          <a:stretch/>
        </p:blipFill>
        <p:spPr>
          <a:xfrm>
            <a:off x="571500" y="4781550"/>
            <a:ext cx="857250" cy="476250"/>
          </a:xfrm>
          <a:prstGeom prst="rect">
            <a:avLst/>
          </a:prstGeom>
          <a:noFill/>
          <a:ln>
            <a:noFill/>
          </a:ln>
        </p:spPr>
      </p:pic>
      <p:sp>
        <p:nvSpPr>
          <p:cNvPr id="988" name="Google Shape;988;p32"/>
          <p:cNvSpPr txBox="1"/>
          <p:nvPr/>
        </p:nvSpPr>
        <p:spPr>
          <a:xfrm>
            <a:off x="1666875" y="4788693"/>
            <a:ext cx="995362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4A3B8"/>
                </a:solidFill>
                <a:latin typeface="Inter"/>
                <a:ea typeface="Inter"/>
                <a:cs typeface="Inter"/>
                <a:sym typeface="Inter"/>
              </a:rPr>
              <a:t>https://blog.roboflow.com/content/images/2024/04/image-1081.webp</a:t>
            </a:r>
            <a:endParaRPr/>
          </a:p>
        </p:txBody>
      </p:sp>
      <p:sp>
        <p:nvSpPr>
          <p:cNvPr id="989" name="Google Shape;989;p32"/>
          <p:cNvSpPr txBox="1"/>
          <p:nvPr/>
        </p:nvSpPr>
        <p:spPr>
          <a:xfrm>
            <a:off x="1666875" y="5022056"/>
            <a:ext cx="99536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94A3B8"/>
                </a:solidFill>
                <a:latin typeface="Inter"/>
                <a:ea typeface="Inter"/>
                <a:cs typeface="Inter"/>
                <a:sym typeface="Inter"/>
              </a:rPr>
              <a:t>Source: </a:t>
            </a:r>
            <a:r>
              <a:rPr lang="en-US" sz="1200" b="0" i="0" u="none" strike="noStrike" cap="none">
                <a:solidFill>
                  <a:srgbClr val="4F46E5"/>
                </a:solidFill>
                <a:latin typeface="Inter"/>
                <a:ea typeface="Inter"/>
                <a:cs typeface="Inter"/>
                <a:sym typeface="Inter"/>
              </a:rPr>
              <a:t>blog.roboflow.com</a:t>
            </a:r>
            <a:endParaRPr/>
          </a:p>
        </p:txBody>
      </p:sp>
      <p:sp>
        <p:nvSpPr>
          <p:cNvPr id="990" name="Google Shape;990;p32"/>
          <p:cNvSpPr txBox="1"/>
          <p:nvPr/>
        </p:nvSpPr>
        <p:spPr>
          <a:xfrm>
            <a:off x="571500" y="476250"/>
            <a:ext cx="2980372"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38BDF8"/>
                </a:solidFill>
                <a:latin typeface="Urbanist"/>
                <a:ea typeface="Urbanist"/>
                <a:cs typeface="Urbanist"/>
                <a:sym typeface="Urbanist"/>
              </a:rPr>
              <a:t>IMAGE SOURCES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1984</Words>
  <Application>Microsoft Office PowerPoint</Application>
  <PresentationFormat>Geniş ekran</PresentationFormat>
  <Paragraphs>1053</Paragraphs>
  <Slides>20</Slides>
  <Notes>20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20</vt:i4>
      </vt:variant>
    </vt:vector>
  </HeadingPairs>
  <TitlesOfParts>
    <vt:vector size="26" baseType="lpstr">
      <vt:lpstr>Arial</vt:lpstr>
      <vt:lpstr>Inter</vt:lpstr>
      <vt:lpstr>Calibri</vt:lpstr>
      <vt:lpstr>Urbanist</vt:lpstr>
      <vt:lpstr>Inter SemiBold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Lenovo</cp:lastModifiedBy>
  <cp:revision>7</cp:revision>
  <dcterms:modified xsi:type="dcterms:W3CDTF">2025-12-30T02:58:12Z</dcterms:modified>
</cp:coreProperties>
</file>